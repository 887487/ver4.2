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 id="2147483865" r:id="rId2"/>
  </p:sldMasterIdLst>
  <p:notesMasterIdLst>
    <p:notesMasterId r:id="rId15"/>
  </p:notesMasterIdLst>
  <p:handoutMasterIdLst>
    <p:handoutMasterId r:id="rId16"/>
  </p:handoutMasterIdLst>
  <p:sldIdLst>
    <p:sldId id="258" r:id="rId3"/>
    <p:sldId id="270" r:id="rId4"/>
    <p:sldId id="2147483273" r:id="rId5"/>
    <p:sldId id="273" r:id="rId6"/>
    <p:sldId id="274" r:id="rId7"/>
    <p:sldId id="267" r:id="rId8"/>
    <p:sldId id="275" r:id="rId9"/>
    <p:sldId id="2147483274" r:id="rId10"/>
    <p:sldId id="2147483275" r:id="rId11"/>
    <p:sldId id="2147483278" r:id="rId12"/>
    <p:sldId id="2147483277" r:id="rId13"/>
    <p:sldId id="26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3333FF"/>
    <a:srgbClr val="FF6699"/>
    <a:srgbClr val="FFFFDD"/>
    <a:srgbClr val="FFFFEB"/>
    <a:srgbClr val="FFFF99"/>
    <a:srgbClr val="FFFFCC"/>
    <a:srgbClr val="D4E5F7"/>
    <a:srgbClr val="D4F9F7"/>
    <a:srgbClr val="CCEC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799" autoAdjust="0"/>
    <p:restoredTop sz="84686" autoAdjust="0"/>
  </p:normalViewPr>
  <p:slideViewPr>
    <p:cSldViewPr snapToGrid="0">
      <p:cViewPr varScale="1">
        <p:scale>
          <a:sx n="81" d="100"/>
          <a:sy n="81" d="100"/>
        </p:scale>
        <p:origin x="365" y="62"/>
      </p:cViewPr>
      <p:guideLst/>
    </p:cSldViewPr>
  </p:slideViewPr>
  <p:notesTextViewPr>
    <p:cViewPr>
      <p:scale>
        <a:sx n="1" d="1"/>
        <a:sy n="1" d="1"/>
      </p:scale>
      <p:origin x="0" y="0"/>
    </p:cViewPr>
  </p:notesTextViewPr>
  <p:notesViewPr>
    <p:cSldViewPr snapToGrid="0">
      <p:cViewPr varScale="1">
        <p:scale>
          <a:sx n="64" d="100"/>
          <a:sy n="64" d="100"/>
        </p:scale>
        <p:origin x="2237"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8D1FA58D-2EED-4CCD-91D5-FFE8F09360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E8134E06-C7E8-4319-BE70-1F41B4B504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8B2579-4E4B-4157-950E-EB835B2FA8BB}" type="datetimeFigureOut">
              <a:rPr kumimoji="1" lang="ja-JP" altLang="en-US" smtClean="0"/>
              <a:t>2026/9/30</a:t>
            </a:fld>
            <a:endParaRPr kumimoji="1" lang="ja-JP" altLang="en-US"/>
          </a:p>
        </p:txBody>
      </p:sp>
      <p:sp>
        <p:nvSpPr>
          <p:cNvPr id="4" name="フッター プレースホルダー 3">
            <a:extLst>
              <a:ext uri="{FF2B5EF4-FFF2-40B4-BE49-F238E27FC236}">
                <a16:creationId xmlns:a16="http://schemas.microsoft.com/office/drawing/2014/main" id="{654BC9C7-6ECD-4A1F-9CAB-7D4F92C2B9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F10D715B-66C2-4F38-82D8-C772A6BBA6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528502-95EB-443A-9B59-2B7F6AF6450A}" type="slidenum">
              <a:rPr kumimoji="1" lang="ja-JP" altLang="en-US" smtClean="0"/>
              <a:t>‹#›</a:t>
            </a:fld>
            <a:endParaRPr kumimoji="1" lang="ja-JP" altLang="en-US"/>
          </a:p>
        </p:txBody>
      </p:sp>
    </p:spTree>
    <p:extLst>
      <p:ext uri="{BB962C8B-B14F-4D97-AF65-F5344CB8AC3E}">
        <p14:creationId xmlns:p14="http://schemas.microsoft.com/office/powerpoint/2010/main" val="5033194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51CC1D-23D1-4B7A-801A-B17717340DD5}" type="datetimeFigureOut">
              <a:rPr kumimoji="1" lang="ja-JP" altLang="en-US" smtClean="0"/>
              <a:t>2026/9/30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7A3B97-DCC4-4862-BC5A-E8347EC6968E}" type="slidenum">
              <a:rPr kumimoji="1" lang="ja-JP" altLang="en-US" smtClean="0"/>
              <a:t>‹#›</a:t>
            </a:fld>
            <a:endParaRPr kumimoji="1" lang="ja-JP" altLang="en-US"/>
          </a:p>
        </p:txBody>
      </p:sp>
    </p:spTree>
    <p:extLst>
      <p:ext uri="{BB962C8B-B14F-4D97-AF65-F5344CB8AC3E}">
        <p14:creationId xmlns:p14="http://schemas.microsoft.com/office/powerpoint/2010/main" val="35384287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97A3B97-DCC4-4862-BC5A-E8347EC6968E}" type="slidenum">
              <a:rPr kumimoji="1" lang="ja-JP" altLang="en-US" smtClean="0"/>
              <a:t>2</a:t>
            </a:fld>
            <a:endParaRPr kumimoji="1" lang="ja-JP" altLang="en-US"/>
          </a:p>
        </p:txBody>
      </p:sp>
    </p:spTree>
    <p:extLst>
      <p:ext uri="{BB962C8B-B14F-4D97-AF65-F5344CB8AC3E}">
        <p14:creationId xmlns:p14="http://schemas.microsoft.com/office/powerpoint/2010/main" val="2293283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222C8-74BF-BED6-75E0-A7EF21E24AD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2C924E-FC11-B0AA-D786-A6D7BE6271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3710C1-33ED-1F8E-6957-C57AE76A5143}"/>
              </a:ext>
            </a:extLst>
          </p:cNvPr>
          <p:cNvSpPr>
            <a:spLocks noGrp="1"/>
          </p:cNvSpPr>
          <p:nvPr>
            <p:ph type="body" idx="1"/>
          </p:nvPr>
        </p:nvSpPr>
        <p:spPr/>
        <p:txBody>
          <a:bodyPr/>
          <a:lstStyle/>
          <a:p>
            <a:r>
              <a:rPr kumimoji="1" lang="ja-JP" altLang="en-US" b="1" dirty="0"/>
              <a:t>パターン</a:t>
            </a:r>
            <a:r>
              <a:rPr kumimoji="1" lang="en-US" altLang="ja-JP" b="1" dirty="0"/>
              <a:t>E</a:t>
            </a:r>
            <a:r>
              <a:rPr kumimoji="1" lang="ja-JP" altLang="en-US" b="1" dirty="0"/>
              <a:t>はあくまで、受信料アカウントのメールアドレスを確認するためのもの</a:t>
            </a:r>
            <a:endParaRPr kumimoji="1" lang="en-US" altLang="ja-JP" b="1" dirty="0"/>
          </a:p>
          <a:p>
            <a:r>
              <a:rPr kumimoji="1" lang="ja-JP" altLang="en-US" b="1" dirty="0"/>
              <a:t>「ご利用の</a:t>
            </a:r>
            <a:r>
              <a:rPr kumimoji="1" lang="en-US" altLang="ja-JP" b="1" dirty="0"/>
              <a:t>NHK ONE</a:t>
            </a:r>
            <a:r>
              <a:rPr kumimoji="1" lang="ja-JP" altLang="en-US" b="1" dirty="0"/>
              <a:t>アカウントのメールアドレスと受信料アカウントのメールアドレスが同一である可能性があるなら受信料アカウントの窓口の方で照会することができます（＝あくまで受信料アカウントのメールアドレスを照会しますという形にしないといけない）」→トークスクリプトに落とし込む必要あり</a:t>
            </a:r>
            <a:endParaRPr kumimoji="1" lang="en-US" altLang="ja-JP" b="1" dirty="0"/>
          </a:p>
          <a:p>
            <a:endParaRPr kumimoji="1" lang="en-US" altLang="ja-JP" b="1" dirty="0"/>
          </a:p>
          <a:p>
            <a:r>
              <a:rPr kumimoji="1" lang="ja-JP" altLang="en-US" b="1" dirty="0"/>
              <a:t>あくまで聞きたいのは</a:t>
            </a:r>
            <a:r>
              <a:rPr kumimoji="1" lang="en-US" altLang="ja-JP" b="1" dirty="0"/>
              <a:t>J</a:t>
            </a:r>
            <a:r>
              <a:rPr kumimoji="1" lang="ja-JP" altLang="en-US" b="1" dirty="0"/>
              <a:t>アカのメアドなので</a:t>
            </a:r>
            <a:r>
              <a:rPr kumimoji="1" lang="en-US" altLang="ja-JP" b="1" dirty="0"/>
              <a:t>S</a:t>
            </a:r>
            <a:r>
              <a:rPr kumimoji="1" lang="ja-JP" altLang="en-US" b="1" dirty="0"/>
              <a:t>アカの作成者本人かどうかは問わない。</a:t>
            </a:r>
            <a:endParaRPr kumimoji="1" lang="en-US" altLang="ja-JP" b="1" dirty="0"/>
          </a:p>
          <a:p>
            <a:endParaRPr kumimoji="1" lang="en-US" altLang="ja-JP" b="1" dirty="0"/>
          </a:p>
          <a:p>
            <a:r>
              <a:rPr kumimoji="1" lang="en-US" altLang="ja-JP" b="1" dirty="0"/>
              <a:t>J</a:t>
            </a:r>
            <a:r>
              <a:rPr kumimoji="1" lang="ja-JP" altLang="en-US" b="1" dirty="0"/>
              <a:t>→</a:t>
            </a:r>
            <a:r>
              <a:rPr kumimoji="1" lang="en-US" altLang="ja-JP" b="1" dirty="0"/>
              <a:t>S</a:t>
            </a:r>
            <a:r>
              <a:rPr kumimoji="1" lang="ja-JP" altLang="en-US" b="1" dirty="0"/>
              <a:t>転送の準備は大丈夫。</a:t>
            </a:r>
            <a:r>
              <a:rPr kumimoji="1" lang="en-US" altLang="ja-JP" b="1" dirty="0"/>
              <a:t>S</a:t>
            </a:r>
            <a:r>
              <a:rPr kumimoji="1" lang="ja-JP" altLang="en-US" b="1" dirty="0"/>
              <a:t>→</a:t>
            </a:r>
            <a:r>
              <a:rPr kumimoji="1" lang="en-US" altLang="ja-JP" b="1" dirty="0"/>
              <a:t>J</a:t>
            </a:r>
            <a:r>
              <a:rPr kumimoji="1" lang="ja-JP" altLang="en-US" b="1" dirty="0"/>
              <a:t>も準備ができるので</a:t>
            </a:r>
            <a:r>
              <a:rPr kumimoji="1" lang="en-US" altLang="ja-JP" b="1" dirty="0"/>
              <a:t>5</a:t>
            </a:r>
            <a:r>
              <a:rPr kumimoji="1" lang="ja-JP" altLang="en-US" b="1" dirty="0"/>
              <a:t>日（月）スタート</a:t>
            </a:r>
            <a:endParaRPr kumimoji="1" lang="en-US" altLang="ja-JP" b="1" dirty="0"/>
          </a:p>
        </p:txBody>
      </p:sp>
      <p:sp>
        <p:nvSpPr>
          <p:cNvPr id="4" name="スライド番号プレースホルダー 3">
            <a:extLst>
              <a:ext uri="{FF2B5EF4-FFF2-40B4-BE49-F238E27FC236}">
                <a16:creationId xmlns:a16="http://schemas.microsoft.com/office/drawing/2014/main" id="{C9A79CA3-2AAC-FDF9-F047-1451744E5848}"/>
              </a:ext>
            </a:extLst>
          </p:cNvPr>
          <p:cNvSpPr>
            <a:spLocks noGrp="1"/>
          </p:cNvSpPr>
          <p:nvPr>
            <p:ph type="sldNum" sz="quarter" idx="5"/>
          </p:nvPr>
        </p:nvSpPr>
        <p:spPr/>
        <p:txBody>
          <a:bodyPr/>
          <a:lstStyle/>
          <a:p>
            <a:fld id="{397A3B97-DCC4-4862-BC5A-E8347EC6968E}" type="slidenum">
              <a:rPr kumimoji="1" lang="ja-JP" altLang="en-US" smtClean="0"/>
              <a:t>3</a:t>
            </a:fld>
            <a:endParaRPr kumimoji="1" lang="ja-JP" altLang="en-US"/>
          </a:p>
        </p:txBody>
      </p:sp>
    </p:spTree>
    <p:extLst>
      <p:ext uri="{BB962C8B-B14F-4D97-AF65-F5344CB8AC3E}">
        <p14:creationId xmlns:p14="http://schemas.microsoft.com/office/powerpoint/2010/main" val="628677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97A3B97-DCC4-4862-BC5A-E8347EC6968E}" type="slidenum">
              <a:rPr kumimoji="1" lang="ja-JP" altLang="en-US" smtClean="0"/>
              <a:t>6</a:t>
            </a:fld>
            <a:endParaRPr kumimoji="1" lang="ja-JP" altLang="en-US"/>
          </a:p>
        </p:txBody>
      </p:sp>
    </p:spTree>
    <p:extLst>
      <p:ext uri="{BB962C8B-B14F-4D97-AF65-F5344CB8AC3E}">
        <p14:creationId xmlns:p14="http://schemas.microsoft.com/office/powerpoint/2010/main" val="2344504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05DAD-C7F1-98F8-ECD1-3769B03059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BAD1D2-8D50-562F-FE76-FFF8A81B81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FDF8CC6-74C7-F62B-35C8-A0CD12ACEB35}"/>
              </a:ext>
            </a:extLst>
          </p:cNvPr>
          <p:cNvSpPr>
            <a:spLocks noGrp="1"/>
          </p:cNvSpPr>
          <p:nvPr>
            <p:ph type="body" idx="1"/>
          </p:nvPr>
        </p:nvSpPr>
        <p:spPr/>
        <p:txBody>
          <a:bodyPr/>
          <a:lstStyle/>
          <a:p>
            <a:r>
              <a:rPr kumimoji="1" lang="ja-JP" altLang="en-US" dirty="0"/>
              <a:t>③が</a:t>
            </a:r>
            <a:r>
              <a:rPr kumimoji="1" lang="en-US" altLang="ja-JP" dirty="0"/>
              <a:t>No(</a:t>
            </a:r>
            <a:r>
              <a:rPr kumimoji="1" lang="ja-JP" altLang="en-US" dirty="0"/>
              <a:t>違う可能性がある</a:t>
            </a:r>
            <a:r>
              <a:rPr kumimoji="1" lang="en-US" altLang="ja-JP" dirty="0"/>
              <a:t>)</a:t>
            </a:r>
            <a:r>
              <a:rPr kumimoji="1" lang="ja-JP" altLang="en-US" dirty="0"/>
              <a:t>の場合、</a:t>
            </a:r>
            <a:r>
              <a:rPr kumimoji="1" lang="en-US" altLang="ja-JP" dirty="0"/>
              <a:t>J</a:t>
            </a:r>
            <a:r>
              <a:rPr kumimoji="1" lang="ja-JP" altLang="en-US" dirty="0"/>
              <a:t>アカ</a:t>
            </a:r>
            <a:r>
              <a:rPr kumimoji="1" lang="en-US" altLang="ja-JP" dirty="0"/>
              <a:t>CC</a:t>
            </a:r>
            <a:r>
              <a:rPr kumimoji="1" lang="ja-JP" altLang="en-US" dirty="0"/>
              <a:t>で</a:t>
            </a:r>
            <a:r>
              <a:rPr kumimoji="1" lang="en-US" altLang="ja-JP" dirty="0"/>
              <a:t>J</a:t>
            </a:r>
            <a:r>
              <a:rPr kumimoji="1" lang="ja-JP" altLang="en-US" dirty="0"/>
              <a:t>アカのメールアドレスを聞いたところでメールアドレスが異なっているため</a:t>
            </a:r>
            <a:r>
              <a:rPr kumimoji="1" lang="en-US" altLang="ja-JP" dirty="0"/>
              <a:t>S</a:t>
            </a:r>
            <a:r>
              <a:rPr kumimoji="1" lang="ja-JP" altLang="en-US" dirty="0"/>
              <a:t>アカにログイン出来ないので、</a:t>
            </a:r>
            <a:endParaRPr kumimoji="1" lang="en-US" altLang="ja-JP" dirty="0"/>
          </a:p>
          <a:p>
            <a:r>
              <a:rPr kumimoji="1" lang="ja-JP" altLang="en-US" dirty="0"/>
              <a:t>心当たりのあるメールアドレスで片っ端から</a:t>
            </a:r>
            <a:r>
              <a:rPr kumimoji="1" lang="en-US" altLang="ja-JP" dirty="0"/>
              <a:t>PW</a:t>
            </a:r>
            <a:r>
              <a:rPr kumimoji="1" lang="ja-JP" altLang="en-US" dirty="0"/>
              <a:t>リセットをかけていただくしか方法が無い。</a:t>
            </a:r>
            <a:r>
              <a:rPr kumimoji="1" lang="en-US" altLang="ja-JP" dirty="0"/>
              <a:t>(</a:t>
            </a:r>
            <a:r>
              <a:rPr kumimoji="1" lang="ja-JP" altLang="en-US" dirty="0"/>
              <a:t>新規登録済みである事は①で確認済みのため新規登録操作は不要</a:t>
            </a:r>
            <a:r>
              <a:rPr kumimoji="1" lang="en-US" altLang="ja-JP" dirty="0"/>
              <a:t>)</a:t>
            </a:r>
          </a:p>
          <a:p>
            <a:r>
              <a:rPr kumimoji="1" lang="ja-JP" altLang="en-US" dirty="0"/>
              <a:t>最終的にログインできないとなった場合はアカウントを改めて新規作成→</a:t>
            </a:r>
            <a:r>
              <a:rPr kumimoji="1" lang="en-US" altLang="ja-JP" dirty="0"/>
              <a:t>SJ</a:t>
            </a:r>
            <a:r>
              <a:rPr kumimoji="1" lang="ja-JP" altLang="en-US" dirty="0"/>
              <a:t>連携を行っていただくしか方法が無い。</a:t>
            </a:r>
          </a:p>
        </p:txBody>
      </p:sp>
      <p:sp>
        <p:nvSpPr>
          <p:cNvPr id="4" name="スライド番号プレースホルダー 3">
            <a:extLst>
              <a:ext uri="{FF2B5EF4-FFF2-40B4-BE49-F238E27FC236}">
                <a16:creationId xmlns:a16="http://schemas.microsoft.com/office/drawing/2014/main" id="{6287BD4F-44E2-F2A4-07AA-574A395C1649}"/>
              </a:ext>
            </a:extLst>
          </p:cNvPr>
          <p:cNvSpPr>
            <a:spLocks noGrp="1"/>
          </p:cNvSpPr>
          <p:nvPr>
            <p:ph type="sldNum" sz="quarter" idx="5"/>
          </p:nvPr>
        </p:nvSpPr>
        <p:spPr/>
        <p:txBody>
          <a:bodyPr/>
          <a:lstStyle/>
          <a:p>
            <a:fld id="{397A3B97-DCC4-4862-BC5A-E8347EC6968E}" type="slidenum">
              <a:rPr kumimoji="1" lang="ja-JP" altLang="en-US" smtClean="0"/>
              <a:t>8</a:t>
            </a:fld>
            <a:endParaRPr kumimoji="1" lang="ja-JP" altLang="en-US"/>
          </a:p>
        </p:txBody>
      </p:sp>
    </p:spTree>
    <p:extLst>
      <p:ext uri="{BB962C8B-B14F-4D97-AF65-F5344CB8AC3E}">
        <p14:creationId xmlns:p14="http://schemas.microsoft.com/office/powerpoint/2010/main" val="1844289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87BF3-4B81-5C32-9D89-2CCC4474354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F376B30-57BF-040E-2081-9A81F2B366B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0FEE94E-1B90-5108-A75E-86A80425FDF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643B2C3-E8CF-5EDD-3F66-C2256CFE339C}"/>
              </a:ext>
            </a:extLst>
          </p:cNvPr>
          <p:cNvSpPr>
            <a:spLocks noGrp="1"/>
          </p:cNvSpPr>
          <p:nvPr>
            <p:ph type="sldNum" sz="quarter" idx="5"/>
          </p:nvPr>
        </p:nvSpPr>
        <p:spPr/>
        <p:txBody>
          <a:bodyPr/>
          <a:lstStyle/>
          <a:p>
            <a:fld id="{397A3B97-DCC4-4862-BC5A-E8347EC6968E}" type="slidenum">
              <a:rPr kumimoji="1" lang="ja-JP" altLang="en-US" smtClean="0"/>
              <a:t>10</a:t>
            </a:fld>
            <a:endParaRPr kumimoji="1" lang="ja-JP" altLang="en-US"/>
          </a:p>
        </p:txBody>
      </p:sp>
    </p:spTree>
    <p:extLst>
      <p:ext uri="{BB962C8B-B14F-4D97-AF65-F5344CB8AC3E}">
        <p14:creationId xmlns:p14="http://schemas.microsoft.com/office/powerpoint/2010/main" val="3728596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8" name="Rectangle 7"/>
          <p:cNvSpPr/>
          <p:nvPr/>
        </p:nvSpPr>
        <p:spPr>
          <a:xfrm>
            <a:off x="9270263" y="761999"/>
            <a:ext cx="2925318" cy="5334001"/>
          </a:xfrm>
          <a:prstGeom prst="rect">
            <a:avLst/>
          </a:prstGeom>
          <a:solidFill>
            <a:srgbClr val="FCE53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1"/>
          <p:cNvSpPr>
            <a:spLocks noGrp="1"/>
          </p:cNvSpPr>
          <p:nvPr>
            <p:ph type="ctrTitle"/>
          </p:nvPr>
        </p:nvSpPr>
        <p:spPr>
          <a:xfrm>
            <a:off x="900000" y="1980000"/>
            <a:ext cx="7200000" cy="2520000"/>
          </a:xfrm>
        </p:spPr>
        <p:txBody>
          <a:bodyPr anchor="ctr" anchorCtr="0">
            <a:normAutofit/>
          </a:bodyPr>
          <a:lstStyle>
            <a:lvl1pPr algn="l">
              <a:defRPr sz="4000" b="1" spc="-100" baseline="0">
                <a:solidFill>
                  <a:srgbClr val="FFFFFF"/>
                </a:solidFill>
                <a:latin typeface="メイリオ" panose="020B0604030504040204" pitchFamily="50" charset="-128"/>
                <a:ea typeface="メイリオ" panose="020B0604030504040204" pitchFamily="50" charset="-128"/>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r">
              <a:buNone/>
              <a:defRPr sz="1500" cap="none" spc="0" baseline="0">
                <a:solidFill>
                  <a:schemeClr val="accent1">
                    <a:lumMod val="20000"/>
                    <a:lumOff val="80000"/>
                  </a:schemeClr>
                </a:solidFill>
                <a:latin typeface="メイリオ" panose="020B0604030504040204" pitchFamily="50" charset="-128"/>
                <a:ea typeface="メイリオ" panose="020B0604030504040204" pitchFamily="50" charset="-128"/>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
        <p:nvSpPr>
          <p:cNvPr id="16" name="Rectangle 6">
            <a:extLst>
              <a:ext uri="{FF2B5EF4-FFF2-40B4-BE49-F238E27FC236}">
                <a16:creationId xmlns:a16="http://schemas.microsoft.com/office/drawing/2014/main" id="{5CBF1875-48F9-492E-8667-E78BC09AADA1}"/>
              </a:ext>
            </a:extLst>
          </p:cNvPr>
          <p:cNvSpPr/>
          <p:nvPr userDrawn="1"/>
        </p:nvSpPr>
        <p:spPr>
          <a:xfrm>
            <a:off x="0" y="0"/>
            <a:ext cx="12168000" cy="763200"/>
          </a:xfrm>
          <a:prstGeom prst="rect">
            <a:avLst/>
          </a:pr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9" name="テキスト プレースホルダー 2">
            <a:extLst>
              <a:ext uri="{FF2B5EF4-FFF2-40B4-BE49-F238E27FC236}">
                <a16:creationId xmlns:a16="http://schemas.microsoft.com/office/drawing/2014/main" id="{06D45B86-DC7D-41C9-8286-E43AA8D27FE0}"/>
              </a:ext>
            </a:extLst>
          </p:cNvPr>
          <p:cNvSpPr>
            <a:spLocks noGrp="1"/>
          </p:cNvSpPr>
          <p:nvPr>
            <p:ph idx="1"/>
          </p:nvPr>
        </p:nvSpPr>
        <p:spPr>
          <a:xfrm>
            <a:off x="540000" y="1165140"/>
            <a:ext cx="10620000" cy="4824000"/>
          </a:xfrm>
          <a:prstGeom prst="rect">
            <a:avLst/>
          </a:prstGeom>
        </p:spPr>
        <p:txBody>
          <a:bodyPr vert="horz" lIns="91440" tIns="45720" rIns="91440" bIns="45720" rtlCol="0">
            <a:normAutofit/>
          </a:bodyPr>
          <a:lstStyle>
            <a:lvl1pPr>
              <a:defRPr>
                <a:latin typeface="Meiryo UI" panose="020B0604030504040204" pitchFamily="50" charset="-128"/>
                <a:ea typeface="Meiryo UI" panose="020B0604030504040204" pitchFamily="50" charset="-128"/>
              </a:defRPr>
            </a:lvl1pPr>
            <a:lvl2pPr>
              <a:defRPr>
                <a:latin typeface="Meiryo UI" panose="020B0604030504040204" pitchFamily="50" charset="-128"/>
                <a:ea typeface="Meiryo UI" panose="020B0604030504040204" pitchFamily="50" charset="-128"/>
              </a:defRPr>
            </a:lvl2pPr>
            <a:lvl3pPr>
              <a:defRPr>
                <a:latin typeface="Meiryo UI" panose="020B0604030504040204" pitchFamily="50" charset="-128"/>
                <a:ea typeface="Meiryo UI" panose="020B0604030504040204" pitchFamily="50" charset="-128"/>
              </a:defRPr>
            </a:lvl3pPr>
            <a:lvl4pPr>
              <a:defRPr>
                <a:latin typeface="Meiryo UI" panose="020B0604030504040204" pitchFamily="50" charset="-128"/>
                <a:ea typeface="Meiryo UI" panose="020B0604030504040204" pitchFamily="50" charset="-128"/>
              </a:defRPr>
            </a:lvl4pPr>
            <a:lvl5pPr>
              <a:defRPr>
                <a:latin typeface="Meiryo UI" panose="020B0604030504040204" pitchFamily="50" charset="-128"/>
                <a:ea typeface="Meiryo UI" panose="020B0604030504040204"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2" name="Rectangle 6">
            <a:extLst>
              <a:ext uri="{FF2B5EF4-FFF2-40B4-BE49-F238E27FC236}">
                <a16:creationId xmlns:a16="http://schemas.microsoft.com/office/drawing/2014/main" id="{0A98660B-6C1F-4C40-B53A-F70A05F4A6E2}"/>
              </a:ext>
            </a:extLst>
          </p:cNvPr>
          <p:cNvSpPr/>
          <p:nvPr userDrawn="1"/>
        </p:nvSpPr>
        <p:spPr>
          <a:xfrm>
            <a:off x="1" y="0"/>
            <a:ext cx="180000" cy="76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15" name="Rectangle 6">
            <a:extLst>
              <a:ext uri="{FF2B5EF4-FFF2-40B4-BE49-F238E27FC236}">
                <a16:creationId xmlns:a16="http://schemas.microsoft.com/office/drawing/2014/main" id="{28EBD3F6-C559-4768-ABD2-B2106C81BCCC}"/>
              </a:ext>
            </a:extLst>
          </p:cNvPr>
          <p:cNvSpPr/>
          <p:nvPr userDrawn="1"/>
        </p:nvSpPr>
        <p:spPr>
          <a:xfrm>
            <a:off x="11185729" y="0"/>
            <a:ext cx="360000" cy="7632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13" name="Rectangle 6">
            <a:extLst>
              <a:ext uri="{FF2B5EF4-FFF2-40B4-BE49-F238E27FC236}">
                <a16:creationId xmlns:a16="http://schemas.microsoft.com/office/drawing/2014/main" id="{8F056F04-8DB0-4C6A-A455-81B137775078}"/>
              </a:ext>
            </a:extLst>
          </p:cNvPr>
          <p:cNvSpPr/>
          <p:nvPr userDrawn="1"/>
        </p:nvSpPr>
        <p:spPr>
          <a:xfrm>
            <a:off x="11649075" y="0"/>
            <a:ext cx="540000" cy="76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17" name="Rectangle 6">
            <a:extLst>
              <a:ext uri="{FF2B5EF4-FFF2-40B4-BE49-F238E27FC236}">
                <a16:creationId xmlns:a16="http://schemas.microsoft.com/office/drawing/2014/main" id="{4A7F56CB-FA1C-4299-9A9F-EB46F52441F4}"/>
              </a:ext>
            </a:extLst>
          </p:cNvPr>
          <p:cNvSpPr/>
          <p:nvPr userDrawn="1"/>
        </p:nvSpPr>
        <p:spPr>
          <a:xfrm>
            <a:off x="246480" y="0"/>
            <a:ext cx="180000" cy="7632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10" name="Rectangle 7">
            <a:extLst>
              <a:ext uri="{FF2B5EF4-FFF2-40B4-BE49-F238E27FC236}">
                <a16:creationId xmlns:a16="http://schemas.microsoft.com/office/drawing/2014/main" id="{EFBAEF36-9E59-46B4-8C8D-988F983ABF48}"/>
              </a:ext>
            </a:extLst>
          </p:cNvPr>
          <p:cNvSpPr/>
          <p:nvPr userDrawn="1"/>
        </p:nvSpPr>
        <p:spPr>
          <a:xfrm>
            <a:off x="11545695" y="0"/>
            <a:ext cx="108000" cy="763200"/>
          </a:xfrm>
          <a:prstGeom prst="rect">
            <a:avLst/>
          </a:prstGeom>
          <a:solidFill>
            <a:srgbClr val="FCE53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8" name="タイトル プレースホルダー 1">
            <a:extLst>
              <a:ext uri="{FF2B5EF4-FFF2-40B4-BE49-F238E27FC236}">
                <a16:creationId xmlns:a16="http://schemas.microsoft.com/office/drawing/2014/main" id="{5F704A2F-9911-475A-96DF-910DD0BB3C01}"/>
              </a:ext>
            </a:extLst>
          </p:cNvPr>
          <p:cNvSpPr>
            <a:spLocks noGrp="1"/>
          </p:cNvSpPr>
          <p:nvPr>
            <p:ph type="title"/>
          </p:nvPr>
        </p:nvSpPr>
        <p:spPr>
          <a:xfrm>
            <a:off x="540000" y="180000"/>
            <a:ext cx="10080000" cy="468000"/>
          </a:xfrm>
          <a:prstGeom prst="rect">
            <a:avLst/>
          </a:prstGeom>
        </p:spPr>
        <p:txBody>
          <a:bodyPr vert="horz" lIns="91440" tIns="45720" rIns="91440" bIns="45720" rtlCol="0" anchor="b" anchorCtr="0">
            <a:normAutofit/>
          </a:bodyPr>
          <a:lstStyle>
            <a:lvl1pPr>
              <a:defRPr sz="2400" b="1">
                <a:solidFill>
                  <a:schemeClr val="tx1"/>
                </a:solidFill>
                <a:latin typeface="メイリオ" panose="020B0604030504040204" pitchFamily="50" charset="-128"/>
                <a:ea typeface="メイリオ" panose="020B0604030504040204" pitchFamily="50" charset="-128"/>
              </a:defRPr>
            </a:lvl1pPr>
          </a:lstStyle>
          <a:p>
            <a:r>
              <a:rPr kumimoji="1" lang="ja-JP" altLang="en-US" dirty="0"/>
              <a:t>マスター タイトルの書式設定</a:t>
            </a:r>
          </a:p>
        </p:txBody>
      </p:sp>
      <p:sp>
        <p:nvSpPr>
          <p:cNvPr id="11" name="Rectangle 7">
            <a:extLst>
              <a:ext uri="{FF2B5EF4-FFF2-40B4-BE49-F238E27FC236}">
                <a16:creationId xmlns:a16="http://schemas.microsoft.com/office/drawing/2014/main" id="{881347E6-6512-47F6-BD56-01EEDBAC6D1D}"/>
              </a:ext>
            </a:extLst>
          </p:cNvPr>
          <p:cNvSpPr/>
          <p:nvPr userDrawn="1"/>
        </p:nvSpPr>
        <p:spPr>
          <a:xfrm>
            <a:off x="180000" y="0"/>
            <a:ext cx="72000" cy="763200"/>
          </a:xfrm>
          <a:prstGeom prst="rect">
            <a:avLst/>
          </a:prstGeom>
          <a:solidFill>
            <a:srgbClr val="FCE53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5586B75A-687E-405C-8A0B-8D00578BA2C3}" type="datetimeFigureOut">
              <a:rPr lang="en-US" dirty="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9/30/2026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9/30/2026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ja-JP" altLang="en-US"/>
              <a:t>マスター タイトルの書式設定</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9/30/2026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CE710-3607-4CB3-81AE-B90209DC701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380BD32-CF51-4B63-9503-C7B622B779F9}"/>
              </a:ext>
            </a:extLst>
          </p:cNvPr>
          <p:cNvSpPr>
            <a:spLocks noGrp="1"/>
          </p:cNvSpPr>
          <p:nvPr>
            <p:ph type="dt" sz="half" idx="10"/>
          </p:nvPr>
        </p:nvSpPr>
        <p:spPr/>
        <p:txBody>
          <a:bodyPr/>
          <a:lstStyle/>
          <a:p>
            <a:fld id="{5586B75A-687E-405C-8A0B-8D00578BA2C3}" type="datetimeFigureOut">
              <a:rPr lang="en-US" smtClean="0"/>
              <a:pPr/>
              <a:t>9/30/2026</a:t>
            </a:fld>
            <a:endParaRPr lang="en-US" dirty="0"/>
          </a:p>
        </p:txBody>
      </p:sp>
      <p:sp>
        <p:nvSpPr>
          <p:cNvPr id="4" name="フッター プレースホルダー 3">
            <a:extLst>
              <a:ext uri="{FF2B5EF4-FFF2-40B4-BE49-F238E27FC236}">
                <a16:creationId xmlns:a16="http://schemas.microsoft.com/office/drawing/2014/main" id="{68255983-EB1B-4D72-A8C2-9E7BDAB019E3}"/>
              </a:ext>
            </a:extLst>
          </p:cNvPr>
          <p:cNvSpPr>
            <a:spLocks noGrp="1"/>
          </p:cNvSpPr>
          <p:nvPr>
            <p:ph type="ftr" sz="quarter" idx="11"/>
          </p:nvPr>
        </p:nvSpPr>
        <p:spPr/>
        <p:txBody>
          <a:bodyPr/>
          <a:lstStyle/>
          <a:p>
            <a:endParaRPr lang="en-US" dirty="0"/>
          </a:p>
        </p:txBody>
      </p:sp>
      <p:sp>
        <p:nvSpPr>
          <p:cNvPr id="5" name="スライド番号プレースホルダー 4">
            <a:extLst>
              <a:ext uri="{FF2B5EF4-FFF2-40B4-BE49-F238E27FC236}">
                <a16:creationId xmlns:a16="http://schemas.microsoft.com/office/drawing/2014/main" id="{C76CA7EE-0EE2-48F7-81AC-DBF257A6A2FC}"/>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32173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ja-JP" altLang="en-US"/>
              <a:t>マスター タイトルの書式設定</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8" name="Date Placeholder 7"/>
          <p:cNvSpPr>
            <a:spLocks noGrp="1"/>
          </p:cNvSpPr>
          <p:nvPr>
            <p:ph type="dt" sz="half" idx="10"/>
          </p:nvPr>
        </p:nvSpPr>
        <p:spPr/>
        <p:txBody>
          <a:bodyPr/>
          <a:lstStyle/>
          <a:p>
            <a:fld id="{5586B75A-687E-405C-8A0B-8D00578BA2C3}" type="datetimeFigureOut">
              <a:rPr lang="en-US" dirty="0"/>
              <a:pPr/>
              <a:t>9/30/2026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8" name="Date Placeholder 7"/>
          <p:cNvSpPr>
            <a:spLocks noGrp="1"/>
          </p:cNvSpPr>
          <p:nvPr>
            <p:ph type="dt" sz="half" idx="10"/>
          </p:nvPr>
        </p:nvSpPr>
        <p:spPr/>
        <p:txBody>
          <a:bodyPr/>
          <a:lstStyle/>
          <a:p>
            <a:fld id="{5586B75A-687E-405C-8A0B-8D00578BA2C3}" type="datetimeFigureOut">
              <a:rPr lang="en-US" dirty="0"/>
              <a:pPr/>
              <a:t>9/30/2026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9/30/2026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9/30/2026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6782E5-B30B-4356-829E-E863586C909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FF3CB9E-DEED-452E-B741-1B76522B69F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44E396-7BFC-4387-B4C0-ED5C066A17C4}"/>
              </a:ext>
            </a:extLst>
          </p:cNvPr>
          <p:cNvSpPr>
            <a:spLocks noGrp="1"/>
          </p:cNvSpPr>
          <p:nvPr>
            <p:ph type="dt" sz="half" idx="10"/>
          </p:nvPr>
        </p:nvSpPr>
        <p:spPr/>
        <p:txBody>
          <a:bodyPr/>
          <a:lstStyle/>
          <a:p>
            <a:fld id="{AD4193B7-A3F8-4ACD-8644-571559AEA45B}" type="datetimeFigureOut">
              <a:rPr kumimoji="1" lang="ja-JP" altLang="en-US" smtClean="0"/>
              <a:t>2026/9/30</a:t>
            </a:fld>
            <a:endParaRPr kumimoji="1" lang="ja-JP" altLang="en-US"/>
          </a:p>
        </p:txBody>
      </p:sp>
      <p:sp>
        <p:nvSpPr>
          <p:cNvPr id="5" name="フッター プレースホルダー 4">
            <a:extLst>
              <a:ext uri="{FF2B5EF4-FFF2-40B4-BE49-F238E27FC236}">
                <a16:creationId xmlns:a16="http://schemas.microsoft.com/office/drawing/2014/main" id="{13BBEE71-4A9C-4032-88DA-66730A70F69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F62CE1-1159-474F-9587-504B557A56B5}"/>
              </a:ext>
            </a:extLst>
          </p:cNvPr>
          <p:cNvSpPr>
            <a:spLocks noGrp="1"/>
          </p:cNvSpPr>
          <p:nvPr>
            <p:ph type="sldNum" sz="quarter" idx="12"/>
          </p:nvPr>
        </p:nvSpPr>
        <p:spPr/>
        <p:txBody>
          <a:bodyPr/>
          <a:lstStyle/>
          <a:p>
            <a:fld id="{324C6A3E-F3AC-4741-B894-136CF57FB017}" type="slidenum">
              <a:rPr kumimoji="1" lang="ja-JP" altLang="en-US" smtClean="0"/>
              <a:t>‹#›</a:t>
            </a:fld>
            <a:endParaRPr kumimoji="1" lang="ja-JP" altLang="en-US"/>
          </a:p>
        </p:txBody>
      </p:sp>
    </p:spTree>
    <p:extLst>
      <p:ext uri="{BB962C8B-B14F-4D97-AF65-F5344CB8AC3E}">
        <p14:creationId xmlns:p14="http://schemas.microsoft.com/office/powerpoint/2010/main" val="1397882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1A4C39-A437-402D-8012-78989A8C708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DAA38F5-A638-49BC-AC8D-41D56D0D6B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75D249F-320D-4E4B-8783-C7C77BC49CB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0199FD3-09FB-4912-8FD0-99FE3F03F4F7}"/>
              </a:ext>
            </a:extLst>
          </p:cNvPr>
          <p:cNvSpPr>
            <a:spLocks noGrp="1"/>
          </p:cNvSpPr>
          <p:nvPr>
            <p:ph type="dt" sz="half" idx="10"/>
          </p:nvPr>
        </p:nvSpPr>
        <p:spPr/>
        <p:txBody>
          <a:bodyPr/>
          <a:lstStyle/>
          <a:p>
            <a:fld id="{AD4193B7-A3F8-4ACD-8644-571559AEA45B}" type="datetimeFigureOut">
              <a:rPr kumimoji="1" lang="ja-JP" altLang="en-US" smtClean="0"/>
              <a:t>2026/9/30</a:t>
            </a:fld>
            <a:endParaRPr kumimoji="1" lang="ja-JP" altLang="en-US"/>
          </a:p>
        </p:txBody>
      </p:sp>
      <p:sp>
        <p:nvSpPr>
          <p:cNvPr id="6" name="フッター プレースホルダー 5">
            <a:extLst>
              <a:ext uri="{FF2B5EF4-FFF2-40B4-BE49-F238E27FC236}">
                <a16:creationId xmlns:a16="http://schemas.microsoft.com/office/drawing/2014/main" id="{EFF7457E-9E7D-4145-BC0A-C74167FFB29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9471CDA-F28D-4C39-802F-C75BCDEE5D42}"/>
              </a:ext>
            </a:extLst>
          </p:cNvPr>
          <p:cNvSpPr>
            <a:spLocks noGrp="1"/>
          </p:cNvSpPr>
          <p:nvPr>
            <p:ph type="sldNum" sz="quarter" idx="12"/>
          </p:nvPr>
        </p:nvSpPr>
        <p:spPr/>
        <p:txBody>
          <a:bodyPr/>
          <a:lstStyle/>
          <a:p>
            <a:fld id="{324C6A3E-F3AC-4741-B894-136CF57FB017}" type="slidenum">
              <a:rPr kumimoji="1" lang="ja-JP" altLang="en-US" smtClean="0"/>
              <a:t>‹#›</a:t>
            </a:fld>
            <a:endParaRPr kumimoji="1" lang="ja-JP" altLang="en-US"/>
          </a:p>
        </p:txBody>
      </p:sp>
    </p:spTree>
    <p:extLst>
      <p:ext uri="{BB962C8B-B14F-4D97-AF65-F5344CB8AC3E}">
        <p14:creationId xmlns:p14="http://schemas.microsoft.com/office/powerpoint/2010/main" val="39371345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528852-78BC-4D06-B57B-717C76BF3A4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C4A1567-46BF-45CC-8234-DEA479119A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B59C45D-6849-43C4-BBEC-634454F631B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806F1FB-5D61-4D90-AADA-F291AFDD74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A767CEA-9AC3-4321-A38B-97E86740BDD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FC0C8B1-2F5D-42B5-B75F-18DB2247FDBC}"/>
              </a:ext>
            </a:extLst>
          </p:cNvPr>
          <p:cNvSpPr>
            <a:spLocks noGrp="1"/>
          </p:cNvSpPr>
          <p:nvPr>
            <p:ph type="dt" sz="half" idx="10"/>
          </p:nvPr>
        </p:nvSpPr>
        <p:spPr/>
        <p:txBody>
          <a:bodyPr/>
          <a:lstStyle/>
          <a:p>
            <a:fld id="{AD4193B7-A3F8-4ACD-8644-571559AEA45B}" type="datetimeFigureOut">
              <a:rPr kumimoji="1" lang="ja-JP" altLang="en-US" smtClean="0"/>
              <a:t>2026/9/30</a:t>
            </a:fld>
            <a:endParaRPr kumimoji="1" lang="ja-JP" altLang="en-US"/>
          </a:p>
        </p:txBody>
      </p:sp>
      <p:sp>
        <p:nvSpPr>
          <p:cNvPr id="8" name="フッター プレースホルダー 7">
            <a:extLst>
              <a:ext uri="{FF2B5EF4-FFF2-40B4-BE49-F238E27FC236}">
                <a16:creationId xmlns:a16="http://schemas.microsoft.com/office/drawing/2014/main" id="{65A25C58-529B-4B7E-9E8C-13C6AB23609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6AE9A28-081C-4E99-8318-8E74D6794F61}"/>
              </a:ext>
            </a:extLst>
          </p:cNvPr>
          <p:cNvSpPr>
            <a:spLocks noGrp="1"/>
          </p:cNvSpPr>
          <p:nvPr>
            <p:ph type="sldNum" sz="quarter" idx="12"/>
          </p:nvPr>
        </p:nvSpPr>
        <p:spPr/>
        <p:txBody>
          <a:bodyPr/>
          <a:lstStyle/>
          <a:p>
            <a:fld id="{324C6A3E-F3AC-4741-B894-136CF57FB017}" type="slidenum">
              <a:rPr kumimoji="1" lang="ja-JP" altLang="en-US" smtClean="0"/>
              <a:t>‹#›</a:t>
            </a:fld>
            <a:endParaRPr kumimoji="1" lang="ja-JP" altLang="en-US"/>
          </a:p>
        </p:txBody>
      </p:sp>
    </p:spTree>
    <p:extLst>
      <p:ext uri="{BB962C8B-B14F-4D97-AF65-F5344CB8AC3E}">
        <p14:creationId xmlns:p14="http://schemas.microsoft.com/office/powerpoint/2010/main" val="26243342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78DF46-E3E3-4B02-A8A8-03F65BFB0C31}"/>
              </a:ext>
            </a:extLst>
          </p:cNvPr>
          <p:cNvSpPr>
            <a:spLocks noGrp="1"/>
          </p:cNvSpPr>
          <p:nvPr>
            <p:ph type="title"/>
          </p:nvPr>
        </p:nvSpPr>
        <p:spPr>
          <a:xfrm>
            <a:off x="838200" y="1108075"/>
            <a:ext cx="10515600" cy="1325563"/>
          </a:xfrm>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FA047CA-E034-4ACD-92D9-5557A35DCDCF}"/>
              </a:ext>
            </a:extLst>
          </p:cNvPr>
          <p:cNvSpPr>
            <a:spLocks noGrp="1"/>
          </p:cNvSpPr>
          <p:nvPr>
            <p:ph type="dt" sz="half" idx="10"/>
          </p:nvPr>
        </p:nvSpPr>
        <p:spPr/>
        <p:txBody>
          <a:bodyPr/>
          <a:lstStyle/>
          <a:p>
            <a:fld id="{AD4193B7-A3F8-4ACD-8644-571559AEA45B}" type="datetimeFigureOut">
              <a:rPr kumimoji="1" lang="ja-JP" altLang="en-US" smtClean="0"/>
              <a:t>2026/9/30</a:t>
            </a:fld>
            <a:endParaRPr kumimoji="1" lang="ja-JP" altLang="en-US"/>
          </a:p>
        </p:txBody>
      </p:sp>
      <p:sp>
        <p:nvSpPr>
          <p:cNvPr id="4" name="フッター プレースホルダー 3">
            <a:extLst>
              <a:ext uri="{FF2B5EF4-FFF2-40B4-BE49-F238E27FC236}">
                <a16:creationId xmlns:a16="http://schemas.microsoft.com/office/drawing/2014/main" id="{1B52B014-071B-48C5-BB52-BC2B0114F53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8AE9B70-0891-40B6-A5C3-8E0F89DB5EAF}"/>
              </a:ext>
            </a:extLst>
          </p:cNvPr>
          <p:cNvSpPr>
            <a:spLocks noGrp="1"/>
          </p:cNvSpPr>
          <p:nvPr>
            <p:ph type="sldNum" sz="quarter" idx="12"/>
          </p:nvPr>
        </p:nvSpPr>
        <p:spPr/>
        <p:txBody>
          <a:bodyPr/>
          <a:lstStyle/>
          <a:p>
            <a:fld id="{324C6A3E-F3AC-4741-B894-136CF57FB017}" type="slidenum">
              <a:rPr kumimoji="1" lang="ja-JP" altLang="en-US" smtClean="0"/>
              <a:t>‹#›</a:t>
            </a:fld>
            <a:endParaRPr kumimoji="1" lang="ja-JP" altLang="en-US"/>
          </a:p>
        </p:txBody>
      </p:sp>
    </p:spTree>
    <p:extLst>
      <p:ext uri="{BB962C8B-B14F-4D97-AF65-F5344CB8AC3E}">
        <p14:creationId xmlns:p14="http://schemas.microsoft.com/office/powerpoint/2010/main" val="82567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9/30/2026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7" r:id="rId2"/>
    <p:sldLayoutId id="2147483842" r:id="rId3"/>
    <p:sldLayoutId id="2147483843" r:id="rId4"/>
    <p:sldLayoutId id="2147483844" r:id="rId5"/>
    <p:sldLayoutId id="2147483845" r:id="rId6"/>
    <p:sldLayoutId id="2147483846" r:id="rId7"/>
    <p:sldLayoutId id="2147483864" r:id="rId8"/>
    <p:sldLayoutId id="2147483848" r:id="rId9"/>
    <p:sldLayoutId id="2147483849" r:id="rId10"/>
    <p:sldLayoutId id="2147483850" r:id="rId11"/>
    <p:sldLayoutId id="2147483851" r:id="rId12"/>
  </p:sldLayoutIdLst>
  <p:hf sldNum="0" hdr="0" ftr="0" dt="0"/>
  <p:txStyles>
    <p:titleStyle>
      <a:lvl1pPr algn="l" defTabSz="914400" rtl="0" eaLnBrk="1" latinLnBrk="0" hangingPunct="1">
        <a:lnSpc>
          <a:spcPct val="90000"/>
        </a:lnSpc>
        <a:spcBef>
          <a:spcPct val="0"/>
        </a:spcBef>
        <a:buNone/>
        <a:defRPr kumimoji="1"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kumimoji="1"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kumimoji="1"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kumimoji="1"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kumimoji="1"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kumimoji="1"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kumimoji="1"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kumimoji="1"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kumimoji="1"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kumimoji="1"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8CEC80F-41EC-4A16-BCEC-71802C6830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E6677E-9950-4667-B9BF-EA3E713B3B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D16E29D-7CBF-41F5-B9DA-D6D71023F2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193B7-A3F8-4ACD-8644-571559AEA45B}" type="datetimeFigureOut">
              <a:rPr kumimoji="1" lang="ja-JP" altLang="en-US" smtClean="0"/>
              <a:t>2026/9/30</a:t>
            </a:fld>
            <a:endParaRPr kumimoji="1" lang="ja-JP" altLang="en-US"/>
          </a:p>
        </p:txBody>
      </p:sp>
      <p:sp>
        <p:nvSpPr>
          <p:cNvPr id="5" name="フッター プレースホルダー 4">
            <a:extLst>
              <a:ext uri="{FF2B5EF4-FFF2-40B4-BE49-F238E27FC236}">
                <a16:creationId xmlns:a16="http://schemas.microsoft.com/office/drawing/2014/main" id="{DFADD51D-9523-4440-B41D-A211A65E77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C047EC8-21AA-4104-B526-002B74460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4C6A3E-F3AC-4741-B894-136CF57FB017}" type="slidenum">
              <a:rPr kumimoji="1" lang="ja-JP" altLang="en-US" smtClean="0"/>
              <a:t>‹#›</a:t>
            </a:fld>
            <a:endParaRPr kumimoji="1" lang="ja-JP" altLang="en-US"/>
          </a:p>
        </p:txBody>
      </p:sp>
    </p:spTree>
    <p:extLst>
      <p:ext uri="{BB962C8B-B14F-4D97-AF65-F5344CB8AC3E}">
        <p14:creationId xmlns:p14="http://schemas.microsoft.com/office/powerpoint/2010/main" val="155982789"/>
      </p:ext>
    </p:extLst>
  </p:cSld>
  <p:clrMap bg1="lt1" tx1="dk1" bg2="lt2" tx2="dk2" accent1="accent1" accent2="accent2" accent3="accent3" accent4="accent4" accent5="accent5" accent6="accent6" hlink="hlink" folHlink="folHlink"/>
  <p:sldLayoutIdLst>
    <p:sldLayoutId id="2147483867" r:id="rId1"/>
    <p:sldLayoutId id="2147483869" r:id="rId2"/>
    <p:sldLayoutId id="2147483870" r:id="rId3"/>
    <p:sldLayoutId id="2147483871" r:id="rId4"/>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1.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1.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9E6C75E4-A8C6-4182-97CE-CDFD461030BC}"/>
              </a:ext>
            </a:extLst>
          </p:cNvPr>
          <p:cNvSpPr>
            <a:spLocks noGrp="1"/>
          </p:cNvSpPr>
          <p:nvPr>
            <p:ph type="subTitle" idx="1"/>
          </p:nvPr>
        </p:nvSpPr>
        <p:spPr/>
        <p:txBody>
          <a:bodyPr>
            <a:normAutofit/>
          </a:bodyPr>
          <a:lstStyle/>
          <a:p>
            <a:pPr algn="r"/>
            <a:r>
              <a:rPr kumimoji="1" lang="ja-JP" altLang="en-US" dirty="0">
                <a:latin typeface="メイリオ" panose="020B0604030504040204" pitchFamily="50" charset="-128"/>
                <a:ea typeface="メイリオ" panose="020B0604030504040204" pitchFamily="50" charset="-128"/>
              </a:rPr>
              <a:t>初版</a:t>
            </a:r>
            <a:r>
              <a:rPr kumimoji="1" lang="en-US" altLang="ja-JP" dirty="0">
                <a:latin typeface="メイリオ" panose="020B0604030504040204" pitchFamily="50" charset="-128"/>
                <a:ea typeface="メイリオ" panose="020B0604030504040204" pitchFamily="50" charset="-128"/>
              </a:rPr>
              <a:t>2026.04.08</a:t>
            </a:r>
          </a:p>
          <a:p>
            <a:pPr algn="r"/>
            <a:r>
              <a:rPr lang="ja-JP" altLang="en-US" dirty="0"/>
              <a:t>ト</a:t>
            </a:r>
            <a:r>
              <a:rPr kumimoji="1" lang="ja-JP" altLang="en-US" dirty="0">
                <a:latin typeface="メイリオ" panose="020B0604030504040204" pitchFamily="50" charset="-128"/>
                <a:ea typeface="メイリオ" panose="020B0604030504040204" pitchFamily="50" charset="-128"/>
              </a:rPr>
              <a:t>ランスコスモス株式会社</a:t>
            </a:r>
          </a:p>
          <a:p>
            <a:pPr algn="r"/>
            <a:endParaRPr kumimoji="1" lang="ja-JP" altLang="en-US" dirty="0">
              <a:latin typeface="メイリオ" panose="020B0604030504040204" pitchFamily="50" charset="-128"/>
              <a:ea typeface="メイリオ" panose="020B0604030504040204" pitchFamily="50" charset="-128"/>
            </a:endParaRPr>
          </a:p>
        </p:txBody>
      </p:sp>
      <p:sp>
        <p:nvSpPr>
          <p:cNvPr id="4" name="タイトル 1">
            <a:extLst>
              <a:ext uri="{FF2B5EF4-FFF2-40B4-BE49-F238E27FC236}">
                <a16:creationId xmlns:a16="http://schemas.microsoft.com/office/drawing/2014/main" id="{63E8A3B1-B30B-42B9-A1F1-3C1205367F47}"/>
              </a:ext>
            </a:extLst>
          </p:cNvPr>
          <p:cNvSpPr txBox="1">
            <a:spLocks/>
          </p:cNvSpPr>
          <p:nvPr/>
        </p:nvSpPr>
        <p:spPr>
          <a:xfrm>
            <a:off x="900000" y="1980000"/>
            <a:ext cx="7200000" cy="2520000"/>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kumimoji="1" sz="5900" kern="1200" spc="-100" baseline="0">
                <a:solidFill>
                  <a:srgbClr val="FFFFFF"/>
                </a:solidFill>
                <a:latin typeface="+mj-lt"/>
                <a:ea typeface="+mj-ea"/>
                <a:cs typeface="+mj-cs"/>
              </a:defRPr>
            </a:lvl1pPr>
          </a:lstStyle>
          <a:p>
            <a:r>
              <a:rPr lang="en-US" altLang="ja-JP" sz="4000" b="1" dirty="0">
                <a:latin typeface="メイリオ" panose="020B0604030504040204" pitchFamily="50" charset="-128"/>
                <a:ea typeface="メイリオ" panose="020B0604030504040204" pitchFamily="50" charset="-128"/>
              </a:rPr>
              <a:t>【S</a:t>
            </a:r>
            <a:r>
              <a:rPr lang="ja-JP" altLang="en-US" sz="4000" b="1" dirty="0">
                <a:latin typeface="メイリオ" panose="020B0604030504040204" pitchFamily="50" charset="-128"/>
                <a:ea typeface="メイリオ" panose="020B0604030504040204" pitchFamily="50" charset="-128"/>
              </a:rPr>
              <a:t>アカ</a:t>
            </a:r>
            <a:r>
              <a:rPr lang="en-US" altLang="ja-JP" sz="4000" b="1" dirty="0">
                <a:latin typeface="メイリオ" panose="020B0604030504040204" pitchFamily="50" charset="-128"/>
                <a:ea typeface="メイリオ" panose="020B0604030504040204" pitchFamily="50" charset="-128"/>
              </a:rPr>
              <a:t>CC </a:t>
            </a:r>
            <a:r>
              <a:rPr lang="ja-JP" altLang="en-US" sz="4000" b="1" dirty="0">
                <a:latin typeface="メイリオ" panose="020B0604030504040204" pitchFamily="50" charset="-128"/>
                <a:ea typeface="メイリオ" panose="020B0604030504040204" pitchFamily="50" charset="-128"/>
              </a:rPr>
              <a:t>→ </a:t>
            </a:r>
            <a:r>
              <a:rPr lang="en-US" altLang="ja-JP" sz="4000" b="1" dirty="0">
                <a:latin typeface="メイリオ" panose="020B0604030504040204" pitchFamily="50" charset="-128"/>
                <a:ea typeface="メイリオ" panose="020B0604030504040204" pitchFamily="50" charset="-128"/>
              </a:rPr>
              <a:t>J</a:t>
            </a:r>
            <a:r>
              <a:rPr lang="ja-JP" altLang="en-US" sz="4000" b="1" dirty="0">
                <a:latin typeface="メイリオ" panose="020B0604030504040204" pitchFamily="50" charset="-128"/>
                <a:ea typeface="メイリオ" panose="020B0604030504040204" pitchFamily="50" charset="-128"/>
              </a:rPr>
              <a:t>アカ</a:t>
            </a:r>
            <a:r>
              <a:rPr lang="en-US" altLang="ja-JP" sz="4000" b="1" dirty="0">
                <a:latin typeface="メイリオ" panose="020B0604030504040204" pitchFamily="50" charset="-128"/>
                <a:ea typeface="メイリオ" panose="020B0604030504040204" pitchFamily="50" charset="-128"/>
              </a:rPr>
              <a:t>CC】</a:t>
            </a:r>
          </a:p>
          <a:p>
            <a:r>
              <a:rPr lang="en-US" altLang="ja-JP" sz="4000" b="1" dirty="0">
                <a:latin typeface="メイリオ" panose="020B0604030504040204" pitchFamily="50" charset="-128"/>
                <a:ea typeface="メイリオ" panose="020B0604030504040204" pitchFamily="50" charset="-128"/>
              </a:rPr>
              <a:t>  </a:t>
            </a:r>
            <a:r>
              <a:rPr lang="ja-JP" altLang="en-US" sz="4000" b="1" dirty="0">
                <a:latin typeface="メイリオ" panose="020B0604030504040204" pitchFamily="50" charset="-128"/>
                <a:ea typeface="メイリオ" panose="020B0604030504040204" pitchFamily="50" charset="-128"/>
              </a:rPr>
              <a:t>転送対応フロー</a:t>
            </a:r>
            <a:endParaRPr lang="en-US" altLang="ja-JP" sz="40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53038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B3A6EA-D186-474C-BCE1-4954D22A6464}"/>
              </a:ext>
            </a:extLst>
          </p:cNvPr>
          <p:cNvSpPr>
            <a:spLocks noGrp="1"/>
          </p:cNvSpPr>
          <p:nvPr>
            <p:ph type="title"/>
          </p:nvPr>
        </p:nvSpPr>
        <p:spPr>
          <a:xfrm>
            <a:off x="540000" y="180000"/>
            <a:ext cx="10080000" cy="468000"/>
          </a:xfrm>
        </p:spPr>
        <p:txBody>
          <a:bodyPr anchor="b" anchorCtr="0"/>
          <a:lstStyle/>
          <a:p>
            <a:r>
              <a:rPr kumimoji="1" lang="ja-JP" altLang="en-US" b="1" dirty="0"/>
              <a:t>入電者の確認</a:t>
            </a:r>
          </a:p>
        </p:txBody>
      </p:sp>
      <p:sp>
        <p:nvSpPr>
          <p:cNvPr id="4" name="正方形/長方形 3">
            <a:extLst>
              <a:ext uri="{FF2B5EF4-FFF2-40B4-BE49-F238E27FC236}">
                <a16:creationId xmlns:a16="http://schemas.microsoft.com/office/drawing/2014/main" id="{E2183061-7C1B-4B59-A252-C8A9328F4627}"/>
              </a:ext>
            </a:extLst>
          </p:cNvPr>
          <p:cNvSpPr/>
          <p:nvPr/>
        </p:nvSpPr>
        <p:spPr>
          <a:xfrm>
            <a:off x="274320" y="1024328"/>
            <a:ext cx="11688810" cy="10584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en-US" altLang="ja-JP" sz="2000" b="1" dirty="0">
                <a:solidFill>
                  <a:schemeClr val="tx1"/>
                </a:solidFill>
                <a:latin typeface="メイリオ" panose="020B0604030504040204" pitchFamily="50" charset="-128"/>
                <a:ea typeface="メイリオ" panose="020B0604030504040204" pitchFamily="50" charset="-128"/>
              </a:rPr>
              <a:t>J</a:t>
            </a:r>
            <a:r>
              <a:rPr lang="ja-JP" altLang="en-US" sz="2000" b="1" dirty="0">
                <a:solidFill>
                  <a:schemeClr val="tx1"/>
                </a:solidFill>
                <a:latin typeface="メイリオ" panose="020B0604030504040204" pitchFamily="50" charset="-128"/>
                <a:ea typeface="メイリオ" panose="020B0604030504040204" pitchFamily="50" charset="-128"/>
              </a:rPr>
              <a:t>アカ</a:t>
            </a:r>
            <a:r>
              <a:rPr lang="en-US" altLang="ja-JP" sz="2000" b="1" dirty="0">
                <a:solidFill>
                  <a:schemeClr val="tx1"/>
                </a:solidFill>
                <a:latin typeface="メイリオ" panose="020B0604030504040204" pitchFamily="50" charset="-128"/>
                <a:ea typeface="メイリオ" panose="020B0604030504040204" pitchFamily="50" charset="-128"/>
              </a:rPr>
              <a:t>CC</a:t>
            </a:r>
            <a:r>
              <a:rPr lang="ja-JP" altLang="en-US" sz="2000" b="1" dirty="0">
                <a:solidFill>
                  <a:schemeClr val="tx1"/>
                </a:solidFill>
                <a:latin typeface="メイリオ" panose="020B0604030504040204" pitchFamily="50" charset="-128"/>
                <a:ea typeface="メイリオ" panose="020B0604030504040204" pitchFamily="50" charset="-128"/>
              </a:rPr>
              <a:t>では本人確認を行い、受信契約者本人または配偶者以外へは登録内容を開示しない</a:t>
            </a:r>
            <a:endParaRPr lang="en-US" altLang="ja-JP" sz="2000" b="1" dirty="0">
              <a:solidFill>
                <a:schemeClr val="tx1"/>
              </a:solidFill>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l"/>
            </a:pPr>
            <a:r>
              <a:rPr lang="ja-JP" altLang="en-US" sz="2000" b="1" dirty="0">
                <a:solidFill>
                  <a:schemeClr val="tx1"/>
                </a:solidFill>
                <a:latin typeface="メイリオ" panose="020B0604030504040204" pitchFamily="50" charset="-128"/>
                <a:ea typeface="メイリオ" panose="020B0604030504040204" pitchFamily="50" charset="-128"/>
              </a:rPr>
              <a:t>入電者が受信契約者本人または配偶者ではない場合、本人または配偶者からのお掛け直しを依頼</a:t>
            </a:r>
            <a:endParaRPr lang="en-US" altLang="ja-JP" sz="2000" b="1" dirty="0">
              <a:solidFill>
                <a:schemeClr val="tx1"/>
              </a:solidFill>
              <a:latin typeface="メイリオ" panose="020B0604030504040204" pitchFamily="50" charset="-128"/>
              <a:ea typeface="メイリオ" panose="020B0604030504040204" pitchFamily="50" charset="-128"/>
            </a:endParaRPr>
          </a:p>
          <a:p>
            <a:pPr marL="285750" indent="-285750">
              <a:buFont typeface="Wingdings" panose="05000000000000000000" pitchFamily="2" charset="2"/>
              <a:buChar char="l"/>
            </a:pPr>
            <a:r>
              <a:rPr lang="ja-JP" altLang="en-US" sz="2000" b="1" dirty="0">
                <a:solidFill>
                  <a:schemeClr val="tx1"/>
                </a:solidFill>
                <a:latin typeface="メイリオ" panose="020B0604030504040204" pitchFamily="50" charset="-128"/>
                <a:ea typeface="メイリオ" panose="020B0604030504040204" pitchFamily="50" charset="-128"/>
              </a:rPr>
              <a:t>入電者が第三者の場合は、受信契約者本人または配偶者の同席が必要</a:t>
            </a:r>
            <a:endParaRPr lang="en-US" altLang="ja-JP" sz="2000" b="1" dirty="0">
              <a:solidFill>
                <a:schemeClr val="tx1"/>
              </a:solidFill>
              <a:latin typeface="メイリオ" panose="020B0604030504040204" pitchFamily="50" charset="-128"/>
              <a:ea typeface="メイリオ" panose="020B0604030504040204" pitchFamily="50" charset="-128"/>
            </a:endParaRPr>
          </a:p>
        </p:txBody>
      </p:sp>
      <p:sp>
        <p:nvSpPr>
          <p:cNvPr id="5" name="四角形: 角を丸くする 4">
            <a:extLst>
              <a:ext uri="{FF2B5EF4-FFF2-40B4-BE49-F238E27FC236}">
                <a16:creationId xmlns:a16="http://schemas.microsoft.com/office/drawing/2014/main" id="{9BBD3E66-6465-4249-9FB7-18C5196398F2}"/>
              </a:ext>
            </a:extLst>
          </p:cNvPr>
          <p:cNvSpPr/>
          <p:nvPr/>
        </p:nvSpPr>
        <p:spPr>
          <a:xfrm>
            <a:off x="1266825" y="2482774"/>
            <a:ext cx="9505950" cy="1689176"/>
          </a:xfrm>
          <a:prstGeom prst="roundRect">
            <a:avLst>
              <a:gd name="adj" fmla="val 17046"/>
            </a:avLst>
          </a:prstGeom>
          <a:solidFill>
            <a:srgbClr val="3333FF"/>
          </a:solidFill>
          <a:ln/>
        </p:spPr>
        <p:style>
          <a:lnRef idx="3">
            <a:schemeClr val="lt1"/>
          </a:lnRef>
          <a:fillRef idx="1">
            <a:schemeClr val="accent4"/>
          </a:fillRef>
          <a:effectRef idx="1">
            <a:schemeClr val="accent4"/>
          </a:effectRef>
          <a:fontRef idx="minor">
            <a:schemeClr val="lt1"/>
          </a:fontRef>
        </p:style>
        <p:txBody>
          <a:bodyPr lIns="90000" rtlCol="0" anchor="ctr" anchorCtr="1">
            <a:normAutofit/>
          </a:bodyPr>
          <a:lstStyle/>
          <a:p>
            <a:pPr marL="0" lvl="2"/>
            <a:r>
              <a:rPr kumimoji="1" lang="ja-JP" altLang="en-US" sz="2000" b="1" dirty="0">
                <a:latin typeface="メイリオ" panose="020B0604030504040204" pitchFamily="50" charset="-128"/>
                <a:ea typeface="メイリオ" panose="020B0604030504040204" pitchFamily="50" charset="-128"/>
              </a:rPr>
              <a:t>転送可能な入電者</a:t>
            </a:r>
            <a:endParaRPr kumimoji="1" lang="en-US" altLang="ja-JP" sz="2000" b="1" dirty="0">
              <a:latin typeface="メイリオ" panose="020B0604030504040204" pitchFamily="50" charset="-128"/>
              <a:ea typeface="メイリオ" panose="020B0604030504040204" pitchFamily="50" charset="-128"/>
            </a:endParaRPr>
          </a:p>
          <a:p>
            <a:pPr lvl="2">
              <a:lnSpc>
                <a:spcPts val="1000"/>
              </a:lnSpc>
            </a:pPr>
            <a:endParaRPr lang="en-US" altLang="ja-JP" sz="2000" b="1" dirty="0">
              <a:latin typeface="メイリオ" panose="020B0604030504040204" pitchFamily="50" charset="-128"/>
              <a:ea typeface="メイリオ" panose="020B0604030504040204" pitchFamily="50" charset="-128"/>
            </a:endParaRPr>
          </a:p>
          <a:p>
            <a:r>
              <a:rPr lang="ja-JP" altLang="en-US" sz="2000" b="1" dirty="0">
                <a:latin typeface="メイリオ" panose="020B0604030504040204" pitchFamily="50" charset="-128"/>
                <a:ea typeface="メイリオ" panose="020B0604030504040204" pitchFamily="50" charset="-128"/>
              </a:rPr>
              <a:t>● 受信契約者本人 または 受信契約者の配偶者</a:t>
            </a:r>
            <a:endParaRPr lang="en-US" altLang="ja-JP" sz="2000" b="1" dirty="0">
              <a:latin typeface="メイリオ" panose="020B0604030504040204" pitchFamily="50" charset="-128"/>
              <a:ea typeface="メイリオ" panose="020B0604030504040204" pitchFamily="50" charset="-128"/>
            </a:endParaRPr>
          </a:p>
          <a:p>
            <a:r>
              <a:rPr kumimoji="1" lang="ja-JP" altLang="en-US" sz="2000" b="1" dirty="0">
                <a:latin typeface="メイリオ" panose="020B0604030504040204" pitchFamily="50" charset="-128"/>
                <a:ea typeface="メイリオ" panose="020B0604030504040204" pitchFamily="50" charset="-128"/>
              </a:rPr>
              <a:t>● 本人・配偶者ではないが、本人または配偶者が同席している</a:t>
            </a:r>
          </a:p>
        </p:txBody>
      </p:sp>
      <p:pic>
        <p:nvPicPr>
          <p:cNvPr id="6" name="グラフィックス 5" descr="コメント: いいね! 単色塗りつぶし">
            <a:extLst>
              <a:ext uri="{FF2B5EF4-FFF2-40B4-BE49-F238E27FC236}">
                <a16:creationId xmlns:a16="http://schemas.microsoft.com/office/drawing/2014/main" id="{9CDC470E-384E-4056-95FC-442D07741C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1327" y="2482774"/>
            <a:ext cx="824106" cy="824106"/>
          </a:xfrm>
          <a:prstGeom prst="rect">
            <a:avLst/>
          </a:prstGeom>
        </p:spPr>
      </p:pic>
      <p:sp>
        <p:nvSpPr>
          <p:cNvPr id="10" name="四角形: 角を丸くする 9">
            <a:extLst>
              <a:ext uri="{FF2B5EF4-FFF2-40B4-BE49-F238E27FC236}">
                <a16:creationId xmlns:a16="http://schemas.microsoft.com/office/drawing/2014/main" id="{70CB378B-C4AD-4EEB-9306-D62D4C45EADB}"/>
              </a:ext>
            </a:extLst>
          </p:cNvPr>
          <p:cNvSpPr/>
          <p:nvPr/>
        </p:nvSpPr>
        <p:spPr>
          <a:xfrm>
            <a:off x="2327204" y="4772025"/>
            <a:ext cx="8160963" cy="1337872"/>
          </a:xfrm>
          <a:prstGeom prst="roundRect">
            <a:avLst>
              <a:gd name="adj" fmla="val 17046"/>
            </a:avLst>
          </a:prstGeom>
          <a:ln w="57150">
            <a:solidFill>
              <a:schemeClr val="accent6"/>
            </a:solidFill>
          </a:ln>
        </p:spPr>
        <p:style>
          <a:lnRef idx="2">
            <a:schemeClr val="accent4"/>
          </a:lnRef>
          <a:fillRef idx="1">
            <a:schemeClr val="lt1"/>
          </a:fillRef>
          <a:effectRef idx="0">
            <a:schemeClr val="accent4"/>
          </a:effectRef>
          <a:fontRef idx="minor">
            <a:schemeClr val="dk1"/>
          </a:fontRef>
        </p:style>
        <p:txBody>
          <a:bodyPr lIns="180000" rtlCol="0" anchor="ctr" anchorCtr="0"/>
          <a:lstStyle/>
          <a:p>
            <a:r>
              <a:rPr lang="ja-JP" altLang="en-US" b="1" dirty="0">
                <a:latin typeface="メイリオ" panose="020B0604030504040204" pitchFamily="50" charset="-128"/>
                <a:ea typeface="メイリオ" panose="020B0604030504040204" pitchFamily="50" charset="-128"/>
              </a:rPr>
              <a:t>入電者が上記以外の場合は、転送不可</a:t>
            </a:r>
            <a:endParaRPr lang="en-US" altLang="ja-JP" b="1" dirty="0">
              <a:latin typeface="メイリオ" panose="020B0604030504040204" pitchFamily="50" charset="-128"/>
              <a:ea typeface="メイリオ" panose="020B0604030504040204" pitchFamily="50" charset="-128"/>
            </a:endParaRPr>
          </a:p>
          <a:p>
            <a:pPr>
              <a:lnSpc>
                <a:spcPts val="1000"/>
              </a:lnSpc>
            </a:pP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受信契約者本人または配偶者（第三者の場合は本人または配偶者同席）</a:t>
            </a: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から</a:t>
            </a:r>
            <a:r>
              <a:rPr lang="en-US" altLang="ja-JP" b="1" dirty="0">
                <a:latin typeface="メイリオ" panose="020B0604030504040204" pitchFamily="50" charset="-128"/>
                <a:ea typeface="メイリオ" panose="020B0604030504040204" pitchFamily="50" charset="-128"/>
              </a:rPr>
              <a:t>J</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a:t>
            </a:r>
            <a:r>
              <a:rPr lang="ja-JP" altLang="en-US" b="1" dirty="0">
                <a:latin typeface="メイリオ" panose="020B0604030504040204" pitchFamily="50" charset="-128"/>
                <a:ea typeface="メイリオ" panose="020B0604030504040204" pitchFamily="50" charset="-128"/>
              </a:rPr>
              <a:t>（ガイダンス</a:t>
            </a:r>
            <a:r>
              <a:rPr lang="en-US" altLang="ja-JP" b="1" dirty="0">
                <a:latin typeface="メイリオ" panose="020B0604030504040204" pitchFamily="50" charset="-128"/>
                <a:ea typeface="メイリオ" panose="020B0604030504040204" pitchFamily="50" charset="-128"/>
              </a:rPr>
              <a:t>[2]</a:t>
            </a:r>
            <a:r>
              <a:rPr lang="ja-JP" altLang="en-US" b="1" dirty="0">
                <a:latin typeface="メイリオ" panose="020B0604030504040204" pitchFamily="50" charset="-128"/>
                <a:ea typeface="メイリオ" panose="020B0604030504040204" pitchFamily="50" charset="-128"/>
              </a:rPr>
              <a:t>） にお掛け直しを依頼する</a:t>
            </a:r>
            <a:endParaRPr kumimoji="1" lang="ja-JP" altLang="en-US" b="1" dirty="0">
              <a:highlight>
                <a:srgbClr val="FFFF00"/>
              </a:highlight>
              <a:latin typeface="メイリオ" panose="020B0604030504040204" pitchFamily="50" charset="-128"/>
              <a:ea typeface="メイリオ" panose="020B0604030504040204" pitchFamily="50" charset="-128"/>
            </a:endParaRPr>
          </a:p>
        </p:txBody>
      </p:sp>
      <p:cxnSp>
        <p:nvCxnSpPr>
          <p:cNvPr id="11" name="コネクタ: カギ線 10">
            <a:extLst>
              <a:ext uri="{FF2B5EF4-FFF2-40B4-BE49-F238E27FC236}">
                <a16:creationId xmlns:a16="http://schemas.microsoft.com/office/drawing/2014/main" id="{4876FB01-9E2D-4EAE-BD34-B43003BF9C74}"/>
              </a:ext>
            </a:extLst>
          </p:cNvPr>
          <p:cNvCxnSpPr>
            <a:cxnSpLocks/>
          </p:cNvCxnSpPr>
          <p:nvPr/>
        </p:nvCxnSpPr>
        <p:spPr>
          <a:xfrm rot="16200000" flipH="1">
            <a:off x="1273680" y="4395498"/>
            <a:ext cx="1548000" cy="540000"/>
          </a:xfrm>
          <a:prstGeom prst="bentConnector2">
            <a:avLst/>
          </a:prstGeom>
          <a:ln w="38100">
            <a:solidFill>
              <a:srgbClr val="3333FF"/>
            </a:solidFill>
            <a:tailEnd type="stealth" w="lg" len="lg"/>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207854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7423C-83D6-DB1F-9B7E-E77683CFC5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274C7F-07FE-1C14-D404-BC7A00B3AE07}"/>
              </a:ext>
            </a:extLst>
          </p:cNvPr>
          <p:cNvSpPr>
            <a:spLocks noGrp="1"/>
          </p:cNvSpPr>
          <p:nvPr>
            <p:ph type="title"/>
          </p:nvPr>
        </p:nvSpPr>
        <p:spPr>
          <a:xfrm>
            <a:off x="540000" y="180000"/>
            <a:ext cx="10080000" cy="468000"/>
          </a:xfrm>
        </p:spPr>
        <p:txBody>
          <a:bodyPr anchor="b" anchorCtr="0">
            <a:normAutofit/>
          </a:bodyPr>
          <a:lstStyle/>
          <a:p>
            <a:r>
              <a:rPr kumimoji="1" lang="en-US" altLang="ja-JP" b="0">
                <a:latin typeface="BIZ UDPゴシック" panose="020B0400000000000000" pitchFamily="50" charset="-128"/>
                <a:ea typeface="BIZ UDPゴシック" panose="020B0400000000000000" pitchFamily="50" charset="-128"/>
              </a:rPr>
              <a:t>【10</a:t>
            </a:r>
            <a:r>
              <a:rPr kumimoji="1" lang="ja-JP" altLang="en-US" b="0">
                <a:latin typeface="BIZ UDPゴシック" panose="020B0400000000000000" pitchFamily="50" charset="-128"/>
                <a:ea typeface="BIZ UDPゴシック" panose="020B0400000000000000" pitchFamily="50" charset="-128"/>
              </a:rPr>
              <a:t>月以降</a:t>
            </a:r>
            <a:r>
              <a:rPr kumimoji="1" lang="en-US" altLang="ja-JP" b="0">
                <a:latin typeface="BIZ UDPゴシック" panose="020B0400000000000000" pitchFamily="50" charset="-128"/>
                <a:ea typeface="BIZ UDPゴシック" panose="020B0400000000000000" pitchFamily="50" charset="-128"/>
              </a:rPr>
              <a:t>】S</a:t>
            </a:r>
            <a:r>
              <a:rPr kumimoji="1" lang="ja-JP" altLang="en-US" b="0">
                <a:latin typeface="BIZ UDPゴシック" panose="020B0400000000000000" pitchFamily="50" charset="-128"/>
                <a:ea typeface="BIZ UDPゴシック" panose="020B0400000000000000" pitchFamily="50" charset="-128"/>
              </a:rPr>
              <a:t>アカ</a:t>
            </a:r>
            <a:r>
              <a:rPr kumimoji="1" lang="en-US" altLang="ja-JP" b="0">
                <a:latin typeface="BIZ UDPゴシック" panose="020B0400000000000000" pitchFamily="50" charset="-128"/>
                <a:ea typeface="BIZ UDPゴシック" panose="020B0400000000000000" pitchFamily="50" charset="-128"/>
              </a:rPr>
              <a:t>CC→J</a:t>
            </a:r>
            <a:r>
              <a:rPr kumimoji="1" lang="ja-JP" altLang="en-US" b="0">
                <a:latin typeface="BIZ UDPゴシック" panose="020B0400000000000000" pitchFamily="50" charset="-128"/>
                <a:ea typeface="BIZ UDPゴシック" panose="020B0400000000000000" pitchFamily="50" charset="-128"/>
              </a:rPr>
              <a:t>アカ</a:t>
            </a:r>
            <a:r>
              <a:rPr kumimoji="1" lang="en-US" altLang="ja-JP" b="0">
                <a:latin typeface="BIZ UDPゴシック" panose="020B0400000000000000" pitchFamily="50" charset="-128"/>
                <a:ea typeface="BIZ UDPゴシック" panose="020B0400000000000000" pitchFamily="50" charset="-128"/>
              </a:rPr>
              <a:t>CC</a:t>
            </a:r>
            <a:r>
              <a:rPr kumimoji="1" lang="ja-JP" altLang="en-US" b="0">
                <a:latin typeface="BIZ UDPゴシック" panose="020B0400000000000000" pitchFamily="50" charset="-128"/>
                <a:ea typeface="BIZ UDPゴシック" panose="020B0400000000000000" pitchFamily="50" charset="-128"/>
              </a:rPr>
              <a:t>へのオペレーター転送パターン　修正版</a:t>
            </a:r>
          </a:p>
        </p:txBody>
      </p:sp>
      <p:graphicFrame>
        <p:nvGraphicFramePr>
          <p:cNvPr id="5" name="表 4">
            <a:extLst>
              <a:ext uri="{FF2B5EF4-FFF2-40B4-BE49-F238E27FC236}">
                <a16:creationId xmlns:a16="http://schemas.microsoft.com/office/drawing/2014/main" id="{B48C8D6C-F304-CAF0-D067-7D8ED6DA9DBF}"/>
              </a:ext>
            </a:extLst>
          </p:cNvPr>
          <p:cNvGraphicFramePr>
            <a:graphicFrameLocks noGrp="1"/>
          </p:cNvGraphicFramePr>
          <p:nvPr>
            <p:extLst>
              <p:ext uri="{D42A27DB-BD31-4B8C-83A1-F6EECF244321}">
                <p14:modId xmlns:p14="http://schemas.microsoft.com/office/powerpoint/2010/main" val="2332771696"/>
              </p:ext>
            </p:extLst>
          </p:nvPr>
        </p:nvGraphicFramePr>
        <p:xfrm>
          <a:off x="94268" y="861742"/>
          <a:ext cx="11999004" cy="5627549"/>
        </p:xfrm>
        <a:graphic>
          <a:graphicData uri="http://schemas.openxmlformats.org/drawingml/2006/table">
            <a:tbl>
              <a:tblPr firstRow="1" bandRow="1">
                <a:tableStyleId>{5940675A-B579-460E-94D1-54222C63F5DA}</a:tableStyleId>
              </a:tblPr>
              <a:tblGrid>
                <a:gridCol w="2531602">
                  <a:extLst>
                    <a:ext uri="{9D8B030D-6E8A-4147-A177-3AD203B41FA5}">
                      <a16:colId xmlns:a16="http://schemas.microsoft.com/office/drawing/2014/main" val="1109046508"/>
                    </a:ext>
                  </a:extLst>
                </a:gridCol>
                <a:gridCol w="5736182">
                  <a:extLst>
                    <a:ext uri="{9D8B030D-6E8A-4147-A177-3AD203B41FA5}">
                      <a16:colId xmlns:a16="http://schemas.microsoft.com/office/drawing/2014/main" val="1921487567"/>
                    </a:ext>
                  </a:extLst>
                </a:gridCol>
                <a:gridCol w="3731220">
                  <a:extLst>
                    <a:ext uri="{9D8B030D-6E8A-4147-A177-3AD203B41FA5}">
                      <a16:colId xmlns:a16="http://schemas.microsoft.com/office/drawing/2014/main" val="1616230584"/>
                    </a:ext>
                  </a:extLst>
                </a:gridCol>
              </a:tblGrid>
              <a:tr h="562733">
                <a:tc>
                  <a:txBody>
                    <a:bodyPr/>
                    <a:lstStyle/>
                    <a:p>
                      <a:pPr algn="ctr"/>
                      <a:r>
                        <a:rPr kumimoji="1" lang="ja-JP" altLang="en-US" sz="1200">
                          <a:latin typeface="BIZ UDPゴシック" panose="020B0400000000000000" pitchFamily="50" charset="-128"/>
                          <a:ea typeface="BIZ UDPゴシック" panose="020B0400000000000000" pitchFamily="50" charset="-128"/>
                        </a:rPr>
                        <a:t>転送が想定される</a:t>
                      </a:r>
                      <a:endParaRPr kumimoji="1" lang="en-US" altLang="ja-JP" sz="1200">
                        <a:latin typeface="BIZ UDPゴシック" panose="020B0400000000000000" pitchFamily="50" charset="-128"/>
                        <a:ea typeface="BIZ UDPゴシック" panose="020B0400000000000000" pitchFamily="50" charset="-128"/>
                      </a:endParaRPr>
                    </a:p>
                    <a:p>
                      <a:pPr algn="ctr"/>
                      <a:r>
                        <a:rPr kumimoji="1" lang="ja-JP" altLang="en-US" sz="1200">
                          <a:latin typeface="BIZ UDPゴシック" panose="020B0400000000000000" pitchFamily="50" charset="-128"/>
                          <a:ea typeface="BIZ UDPゴシック" panose="020B0400000000000000" pitchFamily="50" charset="-128"/>
                        </a:rPr>
                        <a:t>問合せ内容</a:t>
                      </a:r>
                      <a:endParaRPr kumimoji="1" lang="en-US" altLang="ja-JP" sz="1200">
                        <a:latin typeface="BIZ UDPゴシック" panose="020B0400000000000000" pitchFamily="50" charset="-128"/>
                        <a:ea typeface="BIZ UDPゴシック" panose="020B0400000000000000" pitchFamily="50" charset="-128"/>
                      </a:endParaRPr>
                    </a:p>
                  </a:txBody>
                  <a:tcPr anchor="ctr">
                    <a:solidFill>
                      <a:schemeClr val="tx2">
                        <a:lumMod val="20000"/>
                        <a:lumOff val="80000"/>
                      </a:schemeClr>
                    </a:solidFill>
                  </a:tcPr>
                </a:tc>
                <a:tc>
                  <a:txBody>
                    <a:bodyPr/>
                    <a:lstStyle/>
                    <a:p>
                      <a:pPr algn="ctr"/>
                      <a:r>
                        <a:rPr kumimoji="1" lang="en-US" altLang="ja-JP" sz="1200">
                          <a:latin typeface="BIZ UDPゴシック" panose="020B0400000000000000" pitchFamily="50" charset="-128"/>
                          <a:ea typeface="BIZ UDPゴシック" panose="020B0400000000000000" pitchFamily="50" charset="-128"/>
                        </a:rPr>
                        <a:t>S</a:t>
                      </a:r>
                      <a:r>
                        <a:rPr kumimoji="1" lang="ja-JP" altLang="en-US" sz="1200">
                          <a:latin typeface="BIZ UDPゴシック" panose="020B0400000000000000" pitchFamily="50" charset="-128"/>
                          <a:ea typeface="BIZ UDPゴシック" panose="020B0400000000000000" pitchFamily="50" charset="-128"/>
                        </a:rPr>
                        <a:t>アカ</a:t>
                      </a:r>
                      <a:r>
                        <a:rPr kumimoji="1" lang="en-US" altLang="ja-JP" sz="1200">
                          <a:latin typeface="BIZ UDPゴシック" panose="020B0400000000000000" pitchFamily="50" charset="-128"/>
                          <a:ea typeface="BIZ UDPゴシック" panose="020B0400000000000000" pitchFamily="50" charset="-128"/>
                        </a:rPr>
                        <a:t>CC</a:t>
                      </a:r>
                      <a:r>
                        <a:rPr kumimoji="1" lang="ja-JP" altLang="en-US" sz="1200">
                          <a:latin typeface="BIZ UDPゴシック" panose="020B0400000000000000" pitchFamily="50" charset="-128"/>
                          <a:ea typeface="BIZ UDPゴシック" panose="020B0400000000000000" pitchFamily="50" charset="-128"/>
                        </a:rPr>
                        <a:t>側での確認事項</a:t>
                      </a:r>
                    </a:p>
                  </a:txBody>
                  <a:tcPr anchor="ctr">
                    <a:solidFill>
                      <a:schemeClr val="tx2">
                        <a:lumMod val="20000"/>
                        <a:lumOff val="80000"/>
                      </a:schemeClr>
                    </a:solidFill>
                  </a:tcPr>
                </a:tc>
                <a:tc>
                  <a:txBody>
                    <a:bodyPr/>
                    <a:lstStyle/>
                    <a:p>
                      <a:pPr algn="ctr"/>
                      <a:r>
                        <a:rPr kumimoji="1" lang="en-US" altLang="ja-JP" sz="1200">
                          <a:latin typeface="BIZ UDPゴシック" panose="020B0400000000000000" pitchFamily="50" charset="-128"/>
                          <a:ea typeface="BIZ UDPゴシック" panose="020B0400000000000000" pitchFamily="50" charset="-128"/>
                        </a:rPr>
                        <a:t>J</a:t>
                      </a:r>
                      <a:r>
                        <a:rPr kumimoji="1" lang="ja-JP" altLang="en-US" sz="1200">
                          <a:latin typeface="BIZ UDPゴシック" panose="020B0400000000000000" pitchFamily="50" charset="-128"/>
                          <a:ea typeface="BIZ UDPゴシック" panose="020B0400000000000000" pitchFamily="50" charset="-128"/>
                        </a:rPr>
                        <a:t>アカ</a:t>
                      </a:r>
                      <a:r>
                        <a:rPr kumimoji="1" lang="en-US" altLang="ja-JP" sz="1200">
                          <a:latin typeface="BIZ UDPゴシック" panose="020B0400000000000000" pitchFamily="50" charset="-128"/>
                          <a:ea typeface="BIZ UDPゴシック" panose="020B0400000000000000" pitchFamily="50" charset="-128"/>
                        </a:rPr>
                        <a:t>CC</a:t>
                      </a:r>
                      <a:r>
                        <a:rPr kumimoji="1" lang="ja-JP" altLang="en-US" sz="1200">
                          <a:latin typeface="BIZ UDPゴシック" panose="020B0400000000000000" pitchFamily="50" charset="-128"/>
                          <a:ea typeface="BIZ UDPゴシック" panose="020B0400000000000000" pitchFamily="50" charset="-128"/>
                        </a:rPr>
                        <a:t>側の対応内容</a:t>
                      </a:r>
                      <a:endParaRPr kumimoji="1" lang="en-US" altLang="ja-JP" sz="1200">
                        <a:latin typeface="BIZ UDPゴシック" panose="020B0400000000000000" pitchFamily="50" charset="-128"/>
                        <a:ea typeface="BIZ UDPゴシック" panose="020B0400000000000000" pitchFamily="50" charset="-128"/>
                      </a:endParaRPr>
                    </a:p>
                  </a:txBody>
                  <a:tcPr anchor="ctr">
                    <a:solidFill>
                      <a:schemeClr val="tx2">
                        <a:lumMod val="20000"/>
                        <a:lumOff val="80000"/>
                      </a:schemeClr>
                    </a:solidFill>
                  </a:tcPr>
                </a:tc>
                <a:extLst>
                  <a:ext uri="{0D108BD9-81ED-4DB2-BD59-A6C34878D82A}">
                    <a16:rowId xmlns:a16="http://schemas.microsoft.com/office/drawing/2014/main" val="778804213"/>
                  </a:ext>
                </a:extLst>
              </a:tr>
              <a:tr h="1114863">
                <a:tc>
                  <a:txBody>
                    <a:bodyPr/>
                    <a:lstStyle/>
                    <a:p>
                      <a:r>
                        <a:rPr kumimoji="1" lang="ja-JP" altLang="en-US" sz="1200">
                          <a:latin typeface="BIZ UDPゴシック" panose="020B0400000000000000" pitchFamily="50" charset="-128"/>
                          <a:ea typeface="BIZ UDPゴシック" panose="020B0400000000000000" pitchFamily="50" charset="-128"/>
                        </a:rPr>
                        <a:t>パスワードを忘れてしまい、</a:t>
                      </a:r>
                      <a:endParaRPr kumimoji="1" lang="en-US" altLang="ja-JP" sz="1200">
                        <a:latin typeface="BIZ UDPゴシック" panose="020B0400000000000000" pitchFamily="50" charset="-128"/>
                        <a:ea typeface="BIZ UDPゴシック" panose="020B0400000000000000" pitchFamily="50" charset="-128"/>
                      </a:endParaRPr>
                    </a:p>
                    <a:p>
                      <a:r>
                        <a:rPr kumimoji="1" lang="ja-JP" altLang="en-US" sz="1200">
                          <a:latin typeface="BIZ UDPゴシック" panose="020B0400000000000000" pitchFamily="50" charset="-128"/>
                          <a:ea typeface="BIZ UDPゴシック" panose="020B0400000000000000" pitchFamily="50" charset="-128"/>
                        </a:rPr>
                        <a:t>受信料アカウントにログインできない</a:t>
                      </a:r>
                      <a:endParaRPr kumimoji="1" lang="en-US" altLang="ja-JP" sz="1200">
                        <a:latin typeface="BIZ UDPゴシック" panose="020B0400000000000000" pitchFamily="50" charset="-128"/>
                        <a:ea typeface="BIZ UDPゴシック" panose="020B0400000000000000" pitchFamily="50" charset="-128"/>
                      </a:endParaRPr>
                    </a:p>
                  </a:txBody>
                  <a:tcPr anchor="ctr">
                    <a:noFill/>
                  </a:tcPr>
                </a:tc>
                <a:tc>
                  <a:txBody>
                    <a:bodyPr/>
                    <a:lstStyle/>
                    <a:p>
                      <a:pPr marL="0" indent="0">
                        <a:buFont typeface="Arial" panose="020B0604020202020204" pitchFamily="34" charset="0"/>
                        <a:buNone/>
                      </a:pPr>
                      <a:r>
                        <a:rPr kumimoji="1" lang="ja-JP" altLang="en-US" sz="1200" b="0">
                          <a:solidFill>
                            <a:schemeClr val="tx1"/>
                          </a:solidFill>
                          <a:latin typeface="BIZ UDPゴシック" panose="020B0400000000000000" pitchFamily="50" charset="-128"/>
                          <a:ea typeface="BIZ UDPゴシック" panose="020B0400000000000000" pitchFamily="50" charset="-128"/>
                        </a:rPr>
                        <a:t>① 受信料アカウントの</a:t>
                      </a:r>
                      <a:r>
                        <a:rPr kumimoji="1" lang="en-US" altLang="ja-JP" sz="1200" b="0">
                          <a:solidFill>
                            <a:schemeClr val="tx1"/>
                          </a:solidFill>
                          <a:latin typeface="BIZ UDPゴシック" panose="020B0400000000000000" pitchFamily="50" charset="-128"/>
                          <a:ea typeface="BIZ UDPゴシック" panose="020B0400000000000000" pitchFamily="50" charset="-128"/>
                        </a:rPr>
                        <a:t>PW</a:t>
                      </a:r>
                      <a:r>
                        <a:rPr kumimoji="1" lang="ja-JP" altLang="en-US" sz="1200" b="0">
                          <a:solidFill>
                            <a:schemeClr val="tx1"/>
                          </a:solidFill>
                          <a:latin typeface="BIZ UDPゴシック" panose="020B0400000000000000" pitchFamily="50" charset="-128"/>
                          <a:ea typeface="BIZ UDPゴシック" panose="020B0400000000000000" pitchFamily="50" charset="-128"/>
                        </a:rPr>
                        <a:t>を忘れてしまい、メール等でも確認できないこと</a:t>
                      </a:r>
                      <a:endParaRPr kumimoji="1" lang="en-US" altLang="ja-JP" sz="1200" b="0">
                        <a:solidFill>
                          <a:schemeClr val="tx1"/>
                        </a:solidFill>
                        <a:latin typeface="BIZ UDPゴシック" panose="020B0400000000000000" pitchFamily="50" charset="-128"/>
                        <a:ea typeface="BIZ UDPゴシック" panose="020B0400000000000000" pitchFamily="50" charset="-128"/>
                      </a:endParaRPr>
                    </a:p>
                    <a:p>
                      <a:pPr marL="0" indent="0">
                        <a:buFont typeface="Arial" panose="020B0604020202020204" pitchFamily="34" charset="0"/>
                        <a:buNone/>
                      </a:pPr>
                      <a:endParaRPr kumimoji="1" lang="en-US" altLang="ja-JP" sz="500" b="0">
                        <a:solidFill>
                          <a:schemeClr val="tx1"/>
                        </a:solidFill>
                        <a:latin typeface="BIZ UDPゴシック" panose="020B0400000000000000" pitchFamily="50" charset="-128"/>
                        <a:ea typeface="BIZ UDPゴシック" panose="020B0400000000000000" pitchFamily="50" charset="-128"/>
                      </a:endParaRPr>
                    </a:p>
                    <a:p>
                      <a:pPr marL="0" indent="0">
                        <a:buFont typeface="Arial" panose="020B0604020202020204" pitchFamily="34" charset="0"/>
                        <a:buNone/>
                      </a:pPr>
                      <a:r>
                        <a:rPr kumimoji="1" lang="ja-JP" altLang="en-US" sz="1200" b="0">
                          <a:solidFill>
                            <a:schemeClr val="tx1"/>
                          </a:solidFill>
                          <a:latin typeface="BIZ UDPゴシック" panose="020B0400000000000000" pitchFamily="50" charset="-128"/>
                          <a:ea typeface="BIZ UDPゴシック" panose="020B0400000000000000" pitchFamily="50" charset="-128"/>
                        </a:rPr>
                        <a:t>② </a:t>
                      </a:r>
                      <a:r>
                        <a:rPr kumimoji="1" lang="en-US" altLang="ja-JP" sz="1200" b="0">
                          <a:solidFill>
                            <a:schemeClr val="tx1"/>
                          </a:solidFill>
                          <a:latin typeface="BIZ UDPゴシック" panose="020B0400000000000000" pitchFamily="50" charset="-128"/>
                          <a:ea typeface="BIZ UDPゴシック" panose="020B0400000000000000" pitchFamily="50" charset="-128"/>
                        </a:rPr>
                        <a:t>NHK ONE</a:t>
                      </a:r>
                      <a:r>
                        <a:rPr kumimoji="1" lang="ja-JP" altLang="en-US" sz="1200" b="0">
                          <a:solidFill>
                            <a:schemeClr val="tx1"/>
                          </a:solidFill>
                          <a:latin typeface="BIZ UDPゴシック" panose="020B0400000000000000" pitchFamily="50" charset="-128"/>
                          <a:ea typeface="BIZ UDPゴシック" panose="020B0400000000000000" pitchFamily="50" charset="-128"/>
                        </a:rPr>
                        <a:t>アカウントにはログインできていること</a:t>
                      </a:r>
                      <a:endParaRPr kumimoji="1" lang="en-US" altLang="ja-JP" sz="1200" b="0">
                        <a:solidFill>
                          <a:schemeClr val="tx1"/>
                        </a:solidFill>
                        <a:latin typeface="BIZ UDPゴシック" panose="020B0400000000000000" pitchFamily="50" charset="-128"/>
                        <a:ea typeface="BIZ UDPゴシック" panose="020B0400000000000000" pitchFamily="50" charset="-128"/>
                      </a:endParaRPr>
                    </a:p>
                  </a:txBody>
                  <a:tcPr anchor="ctr">
                    <a:noFill/>
                  </a:tcPr>
                </a:tc>
                <a:tc>
                  <a:txBody>
                    <a:bodyPr/>
                    <a:lstStyle/>
                    <a:p>
                      <a:pPr algn="ctr"/>
                      <a:r>
                        <a:rPr kumimoji="1" lang="ja-JP" altLang="en-US" sz="1400" b="1">
                          <a:latin typeface="BIZ UDPゴシック" panose="020B0400000000000000" pitchFamily="50" charset="-128"/>
                          <a:ea typeface="BIZ UDPゴシック" panose="020B0400000000000000" pitchFamily="50" charset="-128"/>
                        </a:rPr>
                        <a:t>パターンＣ</a:t>
                      </a:r>
                      <a:endParaRPr kumimoji="1" lang="en-US" altLang="ja-JP" sz="1400" b="1">
                        <a:latin typeface="BIZ UDPゴシック" panose="020B0400000000000000" pitchFamily="50" charset="-128"/>
                        <a:ea typeface="BIZ UDPゴシック" panose="020B0400000000000000" pitchFamily="50" charset="-128"/>
                      </a:endParaRPr>
                    </a:p>
                    <a:p>
                      <a:pPr algn="ctr"/>
                      <a:endParaRPr kumimoji="1" lang="en-US" altLang="ja-JP" sz="1000" b="1">
                        <a:latin typeface="BIZ UDPゴシック" panose="020B0400000000000000" pitchFamily="50" charset="-128"/>
                        <a:ea typeface="BIZ UDPゴシック" panose="020B0400000000000000" pitchFamily="50" charset="-128"/>
                      </a:endParaRPr>
                    </a:p>
                    <a:p>
                      <a:pPr algn="ctr"/>
                      <a:r>
                        <a:rPr kumimoji="1" lang="ja-JP" altLang="en-US" sz="1400" b="1">
                          <a:highlight>
                            <a:srgbClr val="FFFF00"/>
                          </a:highlight>
                          <a:latin typeface="BIZ UDPゴシック" panose="020B0400000000000000" pitchFamily="50" charset="-128"/>
                          <a:ea typeface="BIZ UDPゴシック" panose="020B0400000000000000" pitchFamily="50" charset="-128"/>
                        </a:rPr>
                        <a:t>受信料アカウントの初期パスワード再送</a:t>
                      </a:r>
                      <a:endParaRPr kumimoji="1" lang="ja-JP" altLang="en-US" sz="1200">
                        <a:highlight>
                          <a:srgbClr val="FFFF00"/>
                        </a:highlight>
                        <a:latin typeface="BIZ UDPゴシック" panose="020B0400000000000000" pitchFamily="50" charset="-128"/>
                        <a:ea typeface="BIZ UDPゴシック" panose="020B0400000000000000" pitchFamily="50" charset="-128"/>
                      </a:endParaRPr>
                    </a:p>
                  </a:txBody>
                  <a:tcPr anchor="ctr">
                    <a:noFill/>
                  </a:tcPr>
                </a:tc>
                <a:extLst>
                  <a:ext uri="{0D108BD9-81ED-4DB2-BD59-A6C34878D82A}">
                    <a16:rowId xmlns:a16="http://schemas.microsoft.com/office/drawing/2014/main" val="4194581914"/>
                  </a:ext>
                </a:extLst>
              </a:tr>
              <a:tr h="1316651">
                <a:tc>
                  <a:txBody>
                    <a:bodyPr/>
                    <a:lstStyle/>
                    <a:p>
                      <a:r>
                        <a:rPr kumimoji="1" lang="ja-JP" altLang="en-US" sz="1200">
                          <a:latin typeface="BIZ UDPゴシック" panose="020B0400000000000000" pitchFamily="50" charset="-128"/>
                          <a:ea typeface="BIZ UDPゴシック" panose="020B0400000000000000" pitchFamily="50" charset="-128"/>
                        </a:rPr>
                        <a:t>身に覚えのないハガキ</a:t>
                      </a:r>
                      <a:endParaRPr kumimoji="1" lang="en-US" altLang="ja-JP" sz="1200">
                        <a:latin typeface="BIZ UDPゴシック" panose="020B0400000000000000" pitchFamily="50" charset="-128"/>
                        <a:ea typeface="BIZ UDPゴシック" panose="020B0400000000000000" pitchFamily="50" charset="-128"/>
                      </a:endParaRPr>
                    </a:p>
                    <a:p>
                      <a:r>
                        <a:rPr kumimoji="1" lang="ja-JP" altLang="en-US" sz="1200">
                          <a:latin typeface="BIZ UDPゴシック" panose="020B0400000000000000" pitchFamily="50" charset="-128"/>
                          <a:ea typeface="BIZ UDPゴシック" panose="020B0400000000000000" pitchFamily="50" charset="-128"/>
                        </a:rPr>
                        <a:t>（受信料アカウント登録完了ハガキ）</a:t>
                      </a:r>
                      <a:endParaRPr kumimoji="1" lang="en-US" altLang="ja-JP" sz="1200">
                        <a:latin typeface="BIZ UDPゴシック" panose="020B0400000000000000" pitchFamily="50" charset="-128"/>
                        <a:ea typeface="BIZ UDPゴシック" panose="020B0400000000000000" pitchFamily="50" charset="-128"/>
                      </a:endParaRPr>
                    </a:p>
                    <a:p>
                      <a:r>
                        <a:rPr kumimoji="1" lang="ja-JP" altLang="en-US" sz="1200">
                          <a:latin typeface="BIZ UDPゴシック" panose="020B0400000000000000" pitchFamily="50" charset="-128"/>
                          <a:ea typeface="BIZ UDPゴシック" panose="020B0400000000000000" pitchFamily="50" charset="-128"/>
                        </a:rPr>
                        <a:t>が届いた</a:t>
                      </a:r>
                      <a:endParaRPr kumimoji="1" lang="ja-JP" altLang="en-US" sz="1400">
                        <a:solidFill>
                          <a:srgbClr val="FF0000"/>
                        </a:solidFill>
                        <a:latin typeface="BIZ UDPゴシック" panose="020B0400000000000000" pitchFamily="50" charset="-128"/>
                        <a:ea typeface="BIZ UDPゴシック" panose="020B0400000000000000" pitchFamily="50" charset="-128"/>
                      </a:endParaRPr>
                    </a:p>
                  </a:txBody>
                  <a:tcPr anchor="ctr">
                    <a:noFill/>
                  </a:tcPr>
                </a:tc>
                <a:tc>
                  <a:txBody>
                    <a:bodyPr/>
                    <a:lstStyle/>
                    <a:p>
                      <a:pPr marL="0" indent="0">
                        <a:buFont typeface="Arial" panose="020B0604020202020204" pitchFamily="34" charset="0"/>
                        <a:buNone/>
                      </a:pPr>
                      <a:r>
                        <a:rPr kumimoji="1" lang="ja-JP" altLang="en-US" sz="1200" b="0" dirty="0">
                          <a:solidFill>
                            <a:schemeClr val="tx1"/>
                          </a:solidFill>
                          <a:latin typeface="BIZ UDPゴシック" panose="020B0400000000000000" pitchFamily="50" charset="-128"/>
                          <a:ea typeface="BIZ UDPゴシック" panose="020B0400000000000000" pitchFamily="50" charset="-128"/>
                        </a:rPr>
                        <a:t>① ご家族にも受信料アカウントを登録した方がいないこと</a:t>
                      </a:r>
                      <a:endParaRPr kumimoji="1" lang="en-US" altLang="ja-JP" sz="1200" b="0" dirty="0">
                        <a:solidFill>
                          <a:schemeClr val="tx1"/>
                        </a:solidFill>
                        <a:latin typeface="BIZ UDPゴシック" panose="020B0400000000000000" pitchFamily="50" charset="-128"/>
                        <a:ea typeface="BIZ UDPゴシック" panose="020B0400000000000000" pitchFamily="50" charset="-128"/>
                      </a:endParaRPr>
                    </a:p>
                    <a:p>
                      <a:pPr marL="0" indent="0">
                        <a:buFont typeface="Arial" panose="020B0604020202020204" pitchFamily="34" charset="0"/>
                        <a:buNone/>
                      </a:pPr>
                      <a:endParaRPr kumimoji="1" lang="en-US" altLang="ja-JP" sz="500" b="0" dirty="0">
                        <a:solidFill>
                          <a:schemeClr val="tx1"/>
                        </a:solidFill>
                        <a:latin typeface="BIZ UDPゴシック" panose="020B0400000000000000" pitchFamily="50" charset="-128"/>
                        <a:ea typeface="BIZ UDPゴシック" panose="020B0400000000000000" pitchFamily="50" charset="-128"/>
                      </a:endParaRPr>
                    </a:p>
                    <a:p>
                      <a:pPr marL="0" indent="0">
                        <a:buFont typeface="Arial" panose="020B0604020202020204" pitchFamily="34" charset="0"/>
                        <a:buNone/>
                      </a:pPr>
                      <a:r>
                        <a:rPr kumimoji="1" lang="ja-JP" altLang="en-US" sz="1200" b="0" dirty="0">
                          <a:solidFill>
                            <a:schemeClr val="tx1"/>
                          </a:solidFill>
                          <a:latin typeface="BIZ UDPゴシック" panose="020B0400000000000000" pitchFamily="50" charset="-128"/>
                          <a:ea typeface="BIZ UDPゴシック" panose="020B0400000000000000" pitchFamily="50" charset="-128"/>
                        </a:rPr>
                        <a:t>② 受信料アカウントに関するメールが一切届いていないこと</a:t>
                      </a:r>
                      <a:endParaRPr kumimoji="1" lang="en-US" altLang="ja-JP" sz="1200" b="0" dirty="0">
                        <a:solidFill>
                          <a:schemeClr val="tx1"/>
                        </a:solidFill>
                        <a:latin typeface="BIZ UDPゴシック" panose="020B0400000000000000" pitchFamily="50" charset="-128"/>
                        <a:ea typeface="BIZ UDPゴシック" panose="020B0400000000000000" pitchFamily="50" charset="-128"/>
                      </a:endParaRPr>
                    </a:p>
                    <a:p>
                      <a:pPr marL="0" indent="0">
                        <a:buFont typeface="Arial" panose="020B0604020202020204" pitchFamily="34" charset="0"/>
                        <a:buNone/>
                      </a:pPr>
                      <a:endParaRPr kumimoji="1" lang="en-US" altLang="ja-JP" sz="500" b="0" dirty="0">
                        <a:solidFill>
                          <a:schemeClr val="tx1"/>
                        </a:solidFill>
                        <a:latin typeface="BIZ UDPゴシック" panose="020B0400000000000000" pitchFamily="50" charset="-128"/>
                        <a:ea typeface="BIZ UDPゴシック" panose="020B0400000000000000" pitchFamily="50" charset="-128"/>
                      </a:endParaRPr>
                    </a:p>
                    <a:p>
                      <a:pPr marL="0" indent="0">
                        <a:buFont typeface="Arial" panose="020B0604020202020204" pitchFamily="34" charset="0"/>
                        <a:buNone/>
                      </a:pPr>
                      <a:r>
                        <a:rPr kumimoji="1" lang="ja-JP" altLang="en-US" sz="1200" b="0" dirty="0">
                          <a:solidFill>
                            <a:schemeClr val="tx1"/>
                          </a:solidFill>
                          <a:latin typeface="BIZ UDPゴシック" panose="020B0400000000000000" pitchFamily="50" charset="-128"/>
                          <a:ea typeface="BIZ UDPゴシック" panose="020B0400000000000000" pitchFamily="50" charset="-128"/>
                        </a:rPr>
                        <a:t>③ ハガキの宛名面に「受信料アカウント登録完了のお知らせです」と</a:t>
                      </a:r>
                      <a:endParaRPr kumimoji="1" lang="en-US" altLang="ja-JP" sz="1200" b="0" dirty="0">
                        <a:solidFill>
                          <a:schemeClr val="tx1"/>
                        </a:solidFill>
                        <a:latin typeface="BIZ UDPゴシック" panose="020B0400000000000000" pitchFamily="50" charset="-128"/>
                        <a:ea typeface="BIZ UDPゴシック" panose="020B0400000000000000" pitchFamily="50" charset="-128"/>
                      </a:endParaRPr>
                    </a:p>
                    <a:p>
                      <a:pPr marL="0" indent="0">
                        <a:buFont typeface="Arial" panose="020B0604020202020204" pitchFamily="34" charset="0"/>
                        <a:buNone/>
                      </a:pPr>
                      <a:r>
                        <a:rPr kumimoji="1" lang="en-US" altLang="ja-JP" sz="1200" b="0" dirty="0">
                          <a:solidFill>
                            <a:schemeClr val="tx1"/>
                          </a:solidFill>
                          <a:latin typeface="BIZ UDPゴシック" panose="020B0400000000000000" pitchFamily="50" charset="-128"/>
                          <a:ea typeface="BIZ UDPゴシック" panose="020B0400000000000000" pitchFamily="50" charset="-128"/>
                        </a:rPr>
                        <a:t>    </a:t>
                      </a:r>
                      <a:r>
                        <a:rPr kumimoji="1" lang="ja-JP" altLang="en-US" sz="1200" b="0" dirty="0">
                          <a:solidFill>
                            <a:schemeClr val="tx1"/>
                          </a:solidFill>
                          <a:latin typeface="BIZ UDPゴシック" panose="020B0400000000000000" pitchFamily="50" charset="-128"/>
                          <a:ea typeface="BIZ UDPゴシック" panose="020B0400000000000000" pitchFamily="50" charset="-128"/>
                        </a:rPr>
                        <a:t>記載されていること</a:t>
                      </a:r>
                    </a:p>
                  </a:txBody>
                  <a:tcPr anchor="ctr">
                    <a:noFill/>
                  </a:tcPr>
                </a:tc>
                <a:tc>
                  <a:txBody>
                    <a:bodyPr/>
                    <a:lstStyle/>
                    <a:p>
                      <a:pPr algn="ctr"/>
                      <a:r>
                        <a:rPr kumimoji="1" lang="ja-JP" altLang="en-US" sz="1400" b="1" dirty="0">
                          <a:latin typeface="BIZ UDPゴシック" panose="020B0400000000000000" pitchFamily="50" charset="-128"/>
                          <a:ea typeface="BIZ UDPゴシック" panose="020B0400000000000000" pitchFamily="50" charset="-128"/>
                        </a:rPr>
                        <a:t>パターンＤ</a:t>
                      </a:r>
                      <a:endParaRPr kumimoji="1" lang="en-US" altLang="ja-JP" sz="1400" b="1" dirty="0">
                        <a:latin typeface="BIZ UDPゴシック" panose="020B0400000000000000" pitchFamily="50" charset="-128"/>
                        <a:ea typeface="BIZ UDPゴシック" panose="020B0400000000000000" pitchFamily="50" charset="-128"/>
                      </a:endParaRPr>
                    </a:p>
                    <a:p>
                      <a:pPr algn="ctr"/>
                      <a:endParaRPr kumimoji="1" lang="en-US" altLang="ja-JP" sz="1000" b="1" dirty="0">
                        <a:latin typeface="BIZ UDPゴシック" panose="020B0400000000000000" pitchFamily="50" charset="-128"/>
                        <a:ea typeface="BIZ UDPゴシック" panose="020B0400000000000000" pitchFamily="50" charset="-128"/>
                      </a:endParaRPr>
                    </a:p>
                    <a:p>
                      <a:pPr algn="ctr"/>
                      <a:r>
                        <a:rPr kumimoji="1" lang="ja-JP" altLang="en-US" sz="1400" b="1" dirty="0">
                          <a:highlight>
                            <a:srgbClr val="FFFF00"/>
                          </a:highlight>
                          <a:latin typeface="BIZ UDPゴシック" panose="020B0400000000000000" pitchFamily="50" charset="-128"/>
                          <a:ea typeface="BIZ UDPゴシック" panose="020B0400000000000000" pitchFamily="50" charset="-128"/>
                        </a:rPr>
                        <a:t>受信料</a:t>
                      </a:r>
                      <a:r>
                        <a:rPr kumimoji="1" lang="ja-JP" altLang="en-US" sz="1400" b="1" dirty="0">
                          <a:solidFill>
                            <a:schemeClr val="tx1"/>
                          </a:solidFill>
                          <a:highlight>
                            <a:srgbClr val="FFFF00"/>
                          </a:highlight>
                          <a:latin typeface="BIZ UDPゴシック" panose="020B0400000000000000" pitchFamily="50" charset="-128"/>
                          <a:ea typeface="BIZ UDPゴシック" panose="020B0400000000000000" pitchFamily="50" charset="-128"/>
                        </a:rPr>
                        <a:t>アカウントの登録状況確認</a:t>
                      </a:r>
                      <a:endParaRPr kumimoji="1" lang="ja-JP" altLang="en-US" sz="1200" dirty="0">
                        <a:highlight>
                          <a:srgbClr val="FFFF00"/>
                        </a:highlight>
                        <a:latin typeface="BIZ UDPゴシック" panose="020B0400000000000000" pitchFamily="50" charset="-128"/>
                        <a:ea typeface="BIZ UDPゴシック" panose="020B0400000000000000" pitchFamily="50" charset="-128"/>
                      </a:endParaRPr>
                    </a:p>
                  </a:txBody>
                  <a:tcPr anchor="ctr">
                    <a:noFill/>
                  </a:tcPr>
                </a:tc>
                <a:extLst>
                  <a:ext uri="{0D108BD9-81ED-4DB2-BD59-A6C34878D82A}">
                    <a16:rowId xmlns:a16="http://schemas.microsoft.com/office/drawing/2014/main" val="3589116179"/>
                  </a:ext>
                </a:extLst>
              </a:tr>
              <a:tr h="1316651">
                <a:tc>
                  <a:txBody>
                    <a:bodyPr/>
                    <a:lstStyle/>
                    <a:p>
                      <a:r>
                        <a:rPr kumimoji="1" lang="en-US" altLang="ja-JP" sz="1100" dirty="0">
                          <a:solidFill>
                            <a:schemeClr val="tx1"/>
                          </a:solidFill>
                          <a:latin typeface="BIZ UDPゴシック" panose="020B0400000000000000" pitchFamily="50" charset="-128"/>
                          <a:ea typeface="BIZ UDPゴシック" panose="020B0400000000000000" pitchFamily="50" charset="-128"/>
                        </a:rPr>
                        <a:t>S</a:t>
                      </a:r>
                      <a:r>
                        <a:rPr kumimoji="1" lang="ja-JP" altLang="en-US" sz="1100" dirty="0">
                          <a:solidFill>
                            <a:schemeClr val="tx1"/>
                          </a:solidFill>
                          <a:latin typeface="BIZ UDPゴシック" panose="020B0400000000000000" pitchFamily="50" charset="-128"/>
                          <a:ea typeface="BIZ UDPゴシック" panose="020B0400000000000000" pitchFamily="50" charset="-128"/>
                        </a:rPr>
                        <a:t>アカで新規登録した（もしくは移行済みの）メールアドレスを覚えていない（＝受信料アカウントのメールアドレスを照会したい）</a:t>
                      </a:r>
                    </a:p>
                  </a:txBody>
                  <a:tcPr anchor="ctr">
                    <a:noFill/>
                  </a:tcPr>
                </a:tc>
                <a:tc>
                  <a:txBody>
                    <a:bodyPr/>
                    <a:lstStyle/>
                    <a:p>
                      <a:pPr marL="0" indent="0">
                        <a:lnSpc>
                          <a:spcPct val="120000"/>
                        </a:lnSpc>
                        <a:buFont typeface="Arial" panose="020B0604020202020204" pitchFamily="34" charset="0"/>
                        <a:buNone/>
                      </a:pPr>
                      <a:r>
                        <a:rPr kumimoji="1" lang="ja-JP" altLang="en-US" sz="1100" b="0" dirty="0">
                          <a:solidFill>
                            <a:schemeClr val="tx1"/>
                          </a:solidFill>
                          <a:latin typeface="BIZ UDPゴシック" panose="020B0400000000000000" pitchFamily="50" charset="-128"/>
                          <a:ea typeface="BIZ UDPゴシック" panose="020B0400000000000000" pitchFamily="50" charset="-128"/>
                        </a:rPr>
                        <a:t>① 新規で</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NHK ONE</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アカウントを登録済み（もしくは</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26</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年</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9</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月以前に移行済み）であること</a:t>
                      </a:r>
                      <a:endParaRPr kumimoji="1" lang="en-US" altLang="ja-JP" sz="1100" b="0" dirty="0">
                        <a:solidFill>
                          <a:schemeClr val="tx1"/>
                        </a:solidFill>
                        <a:latin typeface="BIZ UDPゴシック" panose="020B0400000000000000" pitchFamily="50" charset="-128"/>
                        <a:ea typeface="BIZ UDPゴシック" panose="020B0400000000000000" pitchFamily="50" charset="-128"/>
                      </a:endParaRPr>
                    </a:p>
                    <a:p>
                      <a:pPr marL="0" indent="0">
                        <a:lnSpc>
                          <a:spcPct val="120000"/>
                        </a:lnSpc>
                        <a:buFont typeface="Arial" panose="020B0604020202020204" pitchFamily="34" charset="0"/>
                        <a:buNone/>
                      </a:pPr>
                      <a:r>
                        <a:rPr kumimoji="1" lang="ja-JP" altLang="en-US" sz="1100" b="0" dirty="0">
                          <a:solidFill>
                            <a:schemeClr val="tx1"/>
                          </a:solidFill>
                          <a:latin typeface="BIZ UDPゴシック" panose="020B0400000000000000" pitchFamily="50" charset="-128"/>
                          <a:ea typeface="BIZ UDPゴシック" panose="020B0400000000000000" pitchFamily="50" charset="-128"/>
                        </a:rPr>
                        <a:t>② </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S-J</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連携済みであること</a:t>
                      </a:r>
                      <a:r>
                        <a:rPr kumimoji="1" lang="ja-JP" altLang="en-US" sz="1050" b="0" dirty="0">
                          <a:solidFill>
                            <a:schemeClr val="tx1"/>
                          </a:solidFill>
                          <a:latin typeface="BIZ UDPゴシック" panose="020B0400000000000000" pitchFamily="50" charset="-128"/>
                          <a:ea typeface="BIZ UDPゴシック" panose="020B0400000000000000" pitchFamily="50" charset="-128"/>
                        </a:rPr>
                        <a:t>（お客様から口頭での申し出ベース　可能性があれば可）</a:t>
                      </a:r>
                      <a:endParaRPr kumimoji="1" lang="en-US" altLang="ja-JP" sz="1100" b="0" dirty="0">
                        <a:solidFill>
                          <a:schemeClr val="tx1"/>
                        </a:solidFill>
                        <a:latin typeface="BIZ UDPゴシック" panose="020B0400000000000000" pitchFamily="50" charset="-128"/>
                        <a:ea typeface="BIZ UDPゴシック" panose="020B0400000000000000" pitchFamily="50" charset="-128"/>
                      </a:endParaRPr>
                    </a:p>
                    <a:p>
                      <a:pPr marL="0" indent="0">
                        <a:lnSpc>
                          <a:spcPct val="120000"/>
                        </a:lnSpc>
                        <a:buFont typeface="Arial" panose="020B0604020202020204" pitchFamily="34" charset="0"/>
                        <a:buNone/>
                      </a:pPr>
                      <a:r>
                        <a:rPr kumimoji="1" lang="ja-JP" altLang="en-US" sz="1100" b="0" dirty="0">
                          <a:solidFill>
                            <a:schemeClr val="tx1"/>
                          </a:solidFill>
                          <a:latin typeface="BIZ UDPゴシック" panose="020B0400000000000000" pitchFamily="50" charset="-128"/>
                          <a:ea typeface="BIZ UDPゴシック" panose="020B0400000000000000" pitchFamily="50" charset="-128"/>
                        </a:rPr>
                        <a:t>③ 利用している</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S</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アカと</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J</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アカのメアドが同一である可能性があるなら</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J</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アカ</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CC</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に照会を掛けられる旨を確認→お客様了承</a:t>
                      </a:r>
                      <a:endParaRPr kumimoji="1" lang="en-US" altLang="ja-JP" sz="1100" b="0" dirty="0">
                        <a:solidFill>
                          <a:schemeClr val="tx1"/>
                        </a:solidFill>
                        <a:latin typeface="BIZ UDPゴシック" panose="020B0400000000000000" pitchFamily="50" charset="-128"/>
                        <a:ea typeface="BIZ UDPゴシック" panose="020B0400000000000000" pitchFamily="50" charset="-128"/>
                      </a:endParaRP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dirty="0">
                          <a:latin typeface="BIZ UDPゴシック" panose="020B0400000000000000" pitchFamily="50" charset="-128"/>
                          <a:ea typeface="BIZ UDPゴシック" panose="020B0400000000000000" pitchFamily="50" charset="-128"/>
                        </a:rPr>
                        <a:t>パターン</a:t>
                      </a:r>
                      <a:r>
                        <a:rPr kumimoji="1" lang="en-US" altLang="ja-JP" sz="1400" b="1" dirty="0">
                          <a:latin typeface="BIZ UDPゴシック" panose="020B0400000000000000" pitchFamily="50" charset="-128"/>
                          <a:ea typeface="BIZ UDPゴシック" panose="020B0400000000000000" pitchFamily="50" charset="-128"/>
                        </a:rPr>
                        <a:t>E</a:t>
                      </a:r>
                      <a:br>
                        <a:rPr kumimoji="1" lang="en-US" altLang="ja-JP" sz="1400" b="1" dirty="0">
                          <a:highlight>
                            <a:srgbClr val="FFFF00"/>
                          </a:highlight>
                          <a:latin typeface="BIZ UDPゴシック" panose="020B0400000000000000" pitchFamily="50" charset="-128"/>
                          <a:ea typeface="BIZ UDPゴシック" panose="020B0400000000000000" pitchFamily="50" charset="-128"/>
                        </a:rPr>
                      </a:br>
                      <a:endParaRPr kumimoji="1" lang="en-US" altLang="ja-JP" sz="1400" b="1" dirty="0">
                        <a:highlight>
                          <a:srgbClr val="FFFF00"/>
                        </a:highlight>
                        <a:latin typeface="BIZ UDPゴシック" panose="020B0400000000000000" pitchFamily="50" charset="-128"/>
                        <a:ea typeface="BIZ UDPゴシック" panose="020B0400000000000000" pitchFamily="50" charset="-128"/>
                      </a:endParaRPr>
                    </a:p>
                    <a:p>
                      <a:pPr algn="ctr"/>
                      <a:r>
                        <a:rPr kumimoji="1" lang="ja-JP" altLang="en-US" sz="1400" b="1" dirty="0">
                          <a:highlight>
                            <a:srgbClr val="FFFF00"/>
                          </a:highlight>
                          <a:latin typeface="BIZ UDPゴシック" panose="020B0400000000000000" pitchFamily="50" charset="-128"/>
                          <a:ea typeface="BIZ UDPゴシック" panose="020B0400000000000000" pitchFamily="50" charset="-128"/>
                        </a:rPr>
                        <a:t>連携済みの受信料アカウント</a:t>
                      </a:r>
                      <a:endParaRPr kumimoji="1" lang="en-US" altLang="ja-JP" sz="1400" b="1" dirty="0">
                        <a:highlight>
                          <a:srgbClr val="FFFF00"/>
                        </a:highlight>
                        <a:latin typeface="BIZ UDPゴシック" panose="020B0400000000000000" pitchFamily="50" charset="-128"/>
                        <a:ea typeface="BIZ UDPゴシック" panose="020B0400000000000000" pitchFamily="50" charset="-128"/>
                      </a:endParaRPr>
                    </a:p>
                    <a:p>
                      <a:pPr algn="ctr"/>
                      <a:r>
                        <a:rPr kumimoji="1" lang="ja-JP" altLang="en-US" sz="1400" b="1" dirty="0">
                          <a:highlight>
                            <a:srgbClr val="FFFF00"/>
                          </a:highlight>
                          <a:latin typeface="BIZ UDPゴシック" panose="020B0400000000000000" pitchFamily="50" charset="-128"/>
                          <a:ea typeface="BIZ UDPゴシック" panose="020B0400000000000000" pitchFamily="50" charset="-128"/>
                        </a:rPr>
                        <a:t>（メールアドレス）確認</a:t>
                      </a:r>
                      <a:endParaRPr kumimoji="1" lang="en-US" altLang="ja-JP" sz="1400" b="1" dirty="0">
                        <a:highlight>
                          <a:srgbClr val="FFFF00"/>
                        </a:highlight>
                        <a:latin typeface="BIZ UDPゴシック" panose="020B0400000000000000" pitchFamily="50" charset="-128"/>
                        <a:ea typeface="BIZ UDPゴシック" panose="020B0400000000000000" pitchFamily="50" charset="-128"/>
                      </a:endParaRPr>
                    </a:p>
                  </a:txBody>
                  <a:tcPr anchor="ctr">
                    <a:noFill/>
                  </a:tcPr>
                </a:tc>
                <a:extLst>
                  <a:ext uri="{0D108BD9-81ED-4DB2-BD59-A6C34878D82A}">
                    <a16:rowId xmlns:a16="http://schemas.microsoft.com/office/drawing/2014/main" val="1714200202"/>
                  </a:ext>
                </a:extLst>
              </a:tr>
              <a:tr h="1316651">
                <a:tc>
                  <a:txBody>
                    <a:bodyPr/>
                    <a:lstStyle/>
                    <a:p>
                      <a:r>
                        <a:rPr kumimoji="1" lang="en-US" altLang="ja-JP" sz="1100" dirty="0">
                          <a:solidFill>
                            <a:schemeClr val="tx1"/>
                          </a:solidFill>
                          <a:latin typeface="BIZ UDPゴシック" panose="020B0400000000000000" pitchFamily="50" charset="-128"/>
                          <a:ea typeface="BIZ UDPゴシック" panose="020B0400000000000000" pitchFamily="50" charset="-128"/>
                        </a:rPr>
                        <a:t>S</a:t>
                      </a:r>
                      <a:r>
                        <a:rPr kumimoji="1" lang="ja-JP" altLang="en-US" sz="1100" dirty="0">
                          <a:solidFill>
                            <a:schemeClr val="tx1"/>
                          </a:solidFill>
                          <a:latin typeface="BIZ UDPゴシック" panose="020B0400000000000000" pitchFamily="50" charset="-128"/>
                          <a:ea typeface="BIZ UDPゴシック" panose="020B0400000000000000" pitchFamily="50" charset="-128"/>
                        </a:rPr>
                        <a:t>アカで新規登録した（もしくは移行済みの）メールアドレスが使用不可になった（＝受信料アカウントを削除したい）</a:t>
                      </a:r>
                      <a:endParaRPr kumimoji="1" lang="ja-JP" altLang="en-US" sz="1200" dirty="0">
                        <a:solidFill>
                          <a:schemeClr val="tx1"/>
                        </a:solidFill>
                        <a:latin typeface="BIZ UDPゴシック" panose="020B0400000000000000" pitchFamily="50" charset="-128"/>
                        <a:ea typeface="BIZ UDPゴシック" panose="020B0400000000000000" pitchFamily="50" charset="-128"/>
                      </a:endParaRPr>
                    </a:p>
                  </a:txBody>
                  <a:tcPr anchor="ctr">
                    <a:noFill/>
                  </a:tcPr>
                </a:tc>
                <a:tc>
                  <a:txBody>
                    <a:bodyPr/>
                    <a:lstStyle/>
                    <a:p>
                      <a:pPr marL="0" indent="0">
                        <a:lnSpc>
                          <a:spcPct val="120000"/>
                        </a:lnSpc>
                        <a:buFont typeface="+mj-lt"/>
                        <a:buNone/>
                      </a:pPr>
                      <a:r>
                        <a:rPr kumimoji="1" lang="ja-JP" altLang="en-US" sz="1100" b="0" dirty="0">
                          <a:solidFill>
                            <a:schemeClr val="tx1"/>
                          </a:solidFill>
                          <a:latin typeface="BIZ UDPゴシック" panose="020B0400000000000000" pitchFamily="50" charset="-128"/>
                          <a:ea typeface="BIZ UDPゴシック" panose="020B0400000000000000" pitchFamily="50" charset="-128"/>
                        </a:rPr>
                        <a:t>① 新規で</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NHK ONE</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アカウントを登録済み（もしくは</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26</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年</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9</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月以前に移行済み）であること</a:t>
                      </a:r>
                      <a:endParaRPr kumimoji="1" lang="en-US" altLang="ja-JP" sz="400" b="0" dirty="0">
                        <a:solidFill>
                          <a:schemeClr val="tx1"/>
                        </a:solidFill>
                        <a:latin typeface="BIZ UDPゴシック" panose="020B0400000000000000" pitchFamily="50" charset="-128"/>
                        <a:ea typeface="BIZ UDPゴシック" panose="020B0400000000000000" pitchFamily="50" charset="-128"/>
                      </a:endParaRPr>
                    </a:p>
                    <a:p>
                      <a:pPr marL="0" indent="0">
                        <a:lnSpc>
                          <a:spcPct val="120000"/>
                        </a:lnSpc>
                        <a:buFont typeface="+mj-lt"/>
                        <a:buNone/>
                      </a:pPr>
                      <a:r>
                        <a:rPr kumimoji="1" lang="ja-JP" altLang="en-US" sz="1100" b="0" dirty="0">
                          <a:solidFill>
                            <a:schemeClr val="tx1"/>
                          </a:solidFill>
                          <a:latin typeface="BIZ UDPゴシック" panose="020B0400000000000000" pitchFamily="50" charset="-128"/>
                          <a:ea typeface="BIZ UDPゴシック" panose="020B0400000000000000" pitchFamily="50" charset="-128"/>
                        </a:rPr>
                        <a:t>② </a:t>
                      </a:r>
                      <a:r>
                        <a:rPr kumimoji="1" lang="en-US" altLang="ja-JP" sz="1100" b="0" dirty="0">
                          <a:solidFill>
                            <a:schemeClr val="tx1"/>
                          </a:solidFill>
                          <a:latin typeface="BIZ UDPゴシック" panose="020B0400000000000000" pitchFamily="50" charset="-128"/>
                          <a:ea typeface="BIZ UDPゴシック" panose="020B0400000000000000" pitchFamily="50" charset="-128"/>
                        </a:rPr>
                        <a:t>S-J</a:t>
                      </a:r>
                      <a:r>
                        <a:rPr kumimoji="1" lang="ja-JP" altLang="en-US" sz="1100" b="0" dirty="0">
                          <a:solidFill>
                            <a:schemeClr val="tx1"/>
                          </a:solidFill>
                          <a:latin typeface="BIZ UDPゴシック" panose="020B0400000000000000" pitchFamily="50" charset="-128"/>
                          <a:ea typeface="BIZ UDPゴシック" panose="020B0400000000000000" pitchFamily="50" charset="-128"/>
                        </a:rPr>
                        <a:t>連携済みであること</a:t>
                      </a:r>
                      <a:endParaRPr kumimoji="1" lang="en-US" altLang="ja-JP" sz="1100" b="0" dirty="0">
                        <a:solidFill>
                          <a:schemeClr val="tx1"/>
                        </a:solidFill>
                        <a:latin typeface="BIZ UDPゴシック" panose="020B0400000000000000" pitchFamily="50" charset="-128"/>
                        <a:ea typeface="BIZ UDPゴシック" panose="020B0400000000000000" pitchFamily="50" charset="-128"/>
                      </a:endParaRPr>
                    </a:p>
                    <a:p>
                      <a:pPr marL="0" indent="0">
                        <a:lnSpc>
                          <a:spcPct val="120000"/>
                        </a:lnSpc>
                        <a:buFont typeface="+mj-lt"/>
                        <a:buNone/>
                      </a:pPr>
                      <a:r>
                        <a:rPr kumimoji="1" lang="ja-JP" altLang="en-US" sz="1100" b="0" dirty="0">
                          <a:solidFill>
                            <a:schemeClr val="tx1"/>
                          </a:solidFill>
                          <a:latin typeface="BIZ UDPゴシック" panose="020B0400000000000000" pitchFamily="50" charset="-128"/>
                          <a:ea typeface="BIZ UDPゴシック" panose="020B0400000000000000" pitchFamily="50" charset="-128"/>
                        </a:rPr>
                        <a:t>③ 登録メールアドレスが現在使用不可</a:t>
                      </a:r>
                      <a:br>
                        <a:rPr kumimoji="1" lang="en-US" altLang="ja-JP" sz="1100" b="0" dirty="0">
                          <a:solidFill>
                            <a:schemeClr val="tx1"/>
                          </a:solidFill>
                          <a:latin typeface="BIZ UDPゴシック" panose="020B0400000000000000" pitchFamily="50" charset="-128"/>
                          <a:ea typeface="BIZ UDPゴシック" panose="020B0400000000000000" pitchFamily="50" charset="-128"/>
                        </a:rPr>
                      </a:br>
                      <a:r>
                        <a:rPr kumimoji="1" lang="ja-JP" altLang="en-US" sz="1100" b="0" dirty="0">
                          <a:solidFill>
                            <a:schemeClr val="tx1"/>
                          </a:solidFill>
                          <a:latin typeface="BIZ UDPゴシック" panose="020B0400000000000000" pitchFamily="50" charset="-128"/>
                          <a:ea typeface="BIZ UDPゴシック" panose="020B0400000000000000" pitchFamily="50" charset="-128"/>
                        </a:rPr>
                        <a:t>④ 復旧用メールアドレス・電話番号による復旧導線も使用不可</a:t>
                      </a:r>
                      <a:endParaRPr kumimoji="1" lang="en-US" altLang="ja-JP" sz="1100" b="0" dirty="0">
                        <a:solidFill>
                          <a:schemeClr val="tx1"/>
                        </a:solidFill>
                        <a:latin typeface="BIZ UDPゴシック" panose="020B0400000000000000" pitchFamily="50" charset="-128"/>
                        <a:ea typeface="BIZ UDPゴシック" panose="020B0400000000000000" pitchFamily="50" charset="-128"/>
                      </a:endParaRPr>
                    </a:p>
                  </a:txBody>
                  <a:tcPr anchor="ctr">
                    <a:noFill/>
                  </a:tcPr>
                </a:tc>
                <a:tc>
                  <a:txBody>
                    <a:bodyPr/>
                    <a:lstStyle/>
                    <a:p>
                      <a:pPr algn="ctr"/>
                      <a:r>
                        <a:rPr kumimoji="1" lang="ja-JP" altLang="en-US" sz="1400" b="1" dirty="0">
                          <a:latin typeface="BIZ UDPゴシック" panose="020B0400000000000000" pitchFamily="50" charset="-128"/>
                          <a:ea typeface="BIZ UDPゴシック" panose="020B0400000000000000" pitchFamily="50" charset="-128"/>
                        </a:rPr>
                        <a:t>パターン</a:t>
                      </a:r>
                      <a:r>
                        <a:rPr kumimoji="1" lang="en-US" altLang="ja-JP" sz="1400" b="1" dirty="0">
                          <a:latin typeface="BIZ UDPゴシック" panose="020B0400000000000000" pitchFamily="50" charset="-128"/>
                          <a:ea typeface="BIZ UDPゴシック" panose="020B0400000000000000" pitchFamily="50" charset="-128"/>
                        </a:rPr>
                        <a:t>F</a:t>
                      </a:r>
                    </a:p>
                    <a:p>
                      <a:pPr algn="ctr"/>
                      <a:endParaRPr kumimoji="1" lang="en-US" altLang="ja-JP" sz="1000" b="1" dirty="0">
                        <a:latin typeface="BIZ UDPゴシック" panose="020B0400000000000000" pitchFamily="50" charset="-128"/>
                        <a:ea typeface="BIZ UDPゴシック" panose="020B0400000000000000" pitchFamily="50" charset="-128"/>
                      </a:endParaRPr>
                    </a:p>
                    <a:p>
                      <a:pPr algn="ctr"/>
                      <a:r>
                        <a:rPr kumimoji="1" lang="ja-JP" altLang="en-US" sz="1400" b="1" dirty="0">
                          <a:solidFill>
                            <a:schemeClr val="tx1"/>
                          </a:solidFill>
                          <a:highlight>
                            <a:srgbClr val="FFFF00"/>
                          </a:highlight>
                          <a:latin typeface="BIZ UDPゴシック" panose="020B0400000000000000" pitchFamily="50" charset="-128"/>
                          <a:ea typeface="BIZ UDPゴシック" panose="020B0400000000000000" pitchFamily="50" charset="-128"/>
                        </a:rPr>
                        <a:t>連携済みの受信料アカウント削除</a:t>
                      </a:r>
                      <a:endParaRPr kumimoji="1" lang="en-US" altLang="ja-JP" sz="1400" b="1" dirty="0">
                        <a:highlight>
                          <a:srgbClr val="FFFF00"/>
                        </a:highlight>
                        <a:latin typeface="BIZ UDPゴシック" panose="020B0400000000000000" pitchFamily="50" charset="-128"/>
                        <a:ea typeface="BIZ UDPゴシック" panose="020B0400000000000000" pitchFamily="50" charset="-128"/>
                      </a:endParaRPr>
                    </a:p>
                  </a:txBody>
                  <a:tcPr anchor="ctr">
                    <a:noFill/>
                  </a:tcPr>
                </a:tc>
                <a:extLst>
                  <a:ext uri="{0D108BD9-81ED-4DB2-BD59-A6C34878D82A}">
                    <a16:rowId xmlns:a16="http://schemas.microsoft.com/office/drawing/2014/main" val="2410258403"/>
                  </a:ext>
                </a:extLst>
              </a:tr>
            </a:tbl>
          </a:graphicData>
        </a:graphic>
      </p:graphicFrame>
      <p:sp>
        <p:nvSpPr>
          <p:cNvPr id="8" name="テキスト ボックス 7">
            <a:extLst>
              <a:ext uri="{FF2B5EF4-FFF2-40B4-BE49-F238E27FC236}">
                <a16:creationId xmlns:a16="http://schemas.microsoft.com/office/drawing/2014/main" id="{26882800-1A0E-4B02-B86C-161FECB81C1E}"/>
              </a:ext>
            </a:extLst>
          </p:cNvPr>
          <p:cNvSpPr txBox="1"/>
          <p:nvPr/>
        </p:nvSpPr>
        <p:spPr>
          <a:xfrm>
            <a:off x="71620" y="6598691"/>
            <a:ext cx="5097870" cy="276999"/>
          </a:xfrm>
          <a:prstGeom prst="rect">
            <a:avLst/>
          </a:prstGeom>
          <a:noFill/>
        </p:spPr>
        <p:txBody>
          <a:bodyPr wrap="none" rtlCol="0">
            <a:spAutoFit/>
          </a:bodyPr>
          <a:lstStyle/>
          <a:p>
            <a:r>
              <a:rPr kumimoji="1" lang="en-US" altLang="ja-JP" sz="1200">
                <a:latin typeface="BIZ UDPゴシック" panose="020B0400000000000000" pitchFamily="50" charset="-128"/>
                <a:ea typeface="BIZ UDPゴシック" panose="020B0400000000000000" pitchFamily="50" charset="-128"/>
              </a:rPr>
              <a:t>※</a:t>
            </a:r>
            <a:r>
              <a:rPr kumimoji="1" lang="ja-JP" altLang="en-US" sz="1200">
                <a:latin typeface="BIZ UDPゴシック" panose="020B0400000000000000" pitchFamily="50" charset="-128"/>
                <a:ea typeface="BIZ UDPゴシック" panose="020B0400000000000000" pitchFamily="50" charset="-128"/>
              </a:rPr>
              <a:t>パターン</a:t>
            </a:r>
            <a:r>
              <a:rPr kumimoji="1" lang="en-US" altLang="ja-JP" sz="1200">
                <a:latin typeface="BIZ UDPゴシック" panose="020B0400000000000000" pitchFamily="50" charset="-128"/>
                <a:ea typeface="BIZ UDPゴシック" panose="020B0400000000000000" pitchFamily="50" charset="-128"/>
              </a:rPr>
              <a:t>A</a:t>
            </a:r>
            <a:r>
              <a:rPr kumimoji="1" lang="ja-JP" altLang="en-US" sz="1200">
                <a:latin typeface="BIZ UDPゴシック" panose="020B0400000000000000" pitchFamily="50" charset="-128"/>
                <a:ea typeface="BIZ UDPゴシック" panose="020B0400000000000000" pitchFamily="50" charset="-128"/>
              </a:rPr>
              <a:t>、</a:t>
            </a:r>
            <a:r>
              <a:rPr kumimoji="1" lang="en-US" altLang="ja-JP" sz="1200">
                <a:latin typeface="BIZ UDPゴシック" panose="020B0400000000000000" pitchFamily="50" charset="-128"/>
                <a:ea typeface="BIZ UDPゴシック" panose="020B0400000000000000" pitchFamily="50" charset="-128"/>
              </a:rPr>
              <a:t>B</a:t>
            </a:r>
            <a:r>
              <a:rPr kumimoji="1" lang="ja-JP" altLang="en-US" sz="1200">
                <a:latin typeface="BIZ UDPゴシック" panose="020B0400000000000000" pitchFamily="50" charset="-128"/>
                <a:ea typeface="BIZ UDPゴシック" panose="020B0400000000000000" pitchFamily="50" charset="-128"/>
              </a:rPr>
              <a:t>は旧プラスからの移行手続きの終了に伴い</a:t>
            </a:r>
            <a:r>
              <a:rPr kumimoji="1" lang="en-US" altLang="ja-JP" sz="1200">
                <a:latin typeface="BIZ UDPゴシック" panose="020B0400000000000000" pitchFamily="50" charset="-128"/>
                <a:ea typeface="BIZ UDPゴシック" panose="020B0400000000000000" pitchFamily="50" charset="-128"/>
              </a:rPr>
              <a:t>10</a:t>
            </a:r>
            <a:r>
              <a:rPr kumimoji="1" lang="ja-JP" altLang="en-US" sz="1200">
                <a:latin typeface="BIZ UDPゴシック" panose="020B0400000000000000" pitchFamily="50" charset="-128"/>
                <a:ea typeface="BIZ UDPゴシック" panose="020B0400000000000000" pitchFamily="50" charset="-128"/>
              </a:rPr>
              <a:t>月以降廃止</a:t>
            </a:r>
          </a:p>
        </p:txBody>
      </p:sp>
    </p:spTree>
    <p:extLst>
      <p:ext uri="{BB962C8B-B14F-4D97-AF65-F5344CB8AC3E}">
        <p14:creationId xmlns:p14="http://schemas.microsoft.com/office/powerpoint/2010/main" val="3841582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591FB110-CD91-4B5E-B7F1-7DCF0551B532}"/>
              </a:ext>
            </a:extLst>
          </p:cNvPr>
          <p:cNvSpPr/>
          <p:nvPr/>
        </p:nvSpPr>
        <p:spPr>
          <a:xfrm>
            <a:off x="514234" y="3163199"/>
            <a:ext cx="5472000" cy="905027"/>
          </a:xfrm>
          <a:prstGeom prst="roundRect">
            <a:avLst>
              <a:gd name="adj" fmla="val 17046"/>
            </a:avLst>
          </a:prstGeom>
          <a:solidFill>
            <a:srgbClr val="3333FF"/>
          </a:solidFill>
          <a:ln/>
        </p:spPr>
        <p:style>
          <a:lnRef idx="3">
            <a:schemeClr val="lt1"/>
          </a:lnRef>
          <a:fillRef idx="1">
            <a:schemeClr val="accent4"/>
          </a:fillRef>
          <a:effectRef idx="1">
            <a:schemeClr val="accent4"/>
          </a:effectRef>
          <a:fontRef idx="minor">
            <a:schemeClr val="lt1"/>
          </a:fontRef>
        </p:style>
        <p:txBody>
          <a:bodyPr rtlCol="0" anchor="ctr" anchorCtr="0"/>
          <a:lstStyle/>
          <a:p>
            <a:pPr lvl="2"/>
            <a:r>
              <a:rPr kumimoji="1" lang="ja-JP" altLang="en-US" b="1">
                <a:latin typeface="メイリオ" panose="020B0604030504040204" pitchFamily="50" charset="-128"/>
                <a:ea typeface="メイリオ" panose="020B0604030504040204" pitchFamily="50" charset="-128"/>
              </a:rPr>
              <a:t>　　すべて「確認済」</a:t>
            </a:r>
            <a:endParaRPr kumimoji="1" lang="en-US" altLang="ja-JP" b="1" dirty="0">
              <a:latin typeface="メイリオ" panose="020B0604030504040204" pitchFamily="50" charset="-128"/>
              <a:ea typeface="メイリオ" panose="020B0604030504040204" pitchFamily="50" charset="-128"/>
            </a:endParaRPr>
          </a:p>
          <a:p>
            <a:pPr lvl="2">
              <a:lnSpc>
                <a:spcPts val="1000"/>
              </a:lnSpc>
            </a:pP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　　　　モニターで</a:t>
            </a:r>
            <a:r>
              <a:rPr lang="en-US" altLang="ja-JP" b="1" dirty="0">
                <a:latin typeface="メイリオ" panose="020B0604030504040204" pitchFamily="50" charset="-128"/>
                <a:ea typeface="メイリオ" panose="020B0604030504040204" pitchFamily="50" charset="-128"/>
              </a:rPr>
              <a:t>J</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a:t>
            </a:r>
            <a:r>
              <a:rPr lang="ja-JP" altLang="en-US" b="1" dirty="0">
                <a:latin typeface="メイリオ" panose="020B0604030504040204" pitchFamily="50" charset="-128"/>
                <a:ea typeface="メイリオ" panose="020B0604030504040204" pitchFamily="50" charset="-128"/>
              </a:rPr>
              <a:t>の状況確認</a:t>
            </a:r>
            <a:endParaRPr kumimoji="1" lang="ja-JP" altLang="en-US" b="1" dirty="0">
              <a:latin typeface="メイリオ" panose="020B0604030504040204" pitchFamily="50" charset="-128"/>
              <a:ea typeface="メイリオ" panose="020B0604030504040204" pitchFamily="50" charset="-128"/>
            </a:endParaRPr>
          </a:p>
        </p:txBody>
      </p:sp>
      <p:sp>
        <p:nvSpPr>
          <p:cNvPr id="2" name="タイトル 1">
            <a:extLst>
              <a:ext uri="{FF2B5EF4-FFF2-40B4-BE49-F238E27FC236}">
                <a16:creationId xmlns:a16="http://schemas.microsoft.com/office/drawing/2014/main" id="{6EB3A6EA-D186-474C-BCE1-4954D22A6464}"/>
              </a:ext>
            </a:extLst>
          </p:cNvPr>
          <p:cNvSpPr>
            <a:spLocks noGrp="1"/>
          </p:cNvSpPr>
          <p:nvPr>
            <p:ph type="title"/>
          </p:nvPr>
        </p:nvSpPr>
        <p:spPr>
          <a:xfrm>
            <a:off x="540000" y="180000"/>
            <a:ext cx="10080000" cy="468000"/>
          </a:xfrm>
        </p:spPr>
        <p:txBody>
          <a:bodyPr anchor="b" anchorCtr="0"/>
          <a:lstStyle/>
          <a:p>
            <a:r>
              <a:rPr kumimoji="1" lang="en-US" altLang="ja-JP" dirty="0"/>
              <a:t>S</a:t>
            </a:r>
            <a:r>
              <a:rPr kumimoji="1" lang="ja-JP" altLang="en-US" dirty="0"/>
              <a:t>→</a:t>
            </a:r>
            <a:r>
              <a:rPr kumimoji="1" lang="en-US" altLang="ja-JP" dirty="0"/>
              <a:t>J</a:t>
            </a:r>
            <a:r>
              <a:rPr kumimoji="1" lang="ja-JP" altLang="en-US" dirty="0"/>
              <a:t>転送　対象パターンＣ　</a:t>
            </a:r>
            <a:r>
              <a:rPr kumimoji="1" lang="en-US" altLang="ja-JP" dirty="0"/>
              <a:t>【</a:t>
            </a:r>
            <a:r>
              <a:rPr kumimoji="1" lang="ja-JP" altLang="en-US" dirty="0"/>
              <a:t>お客様対応</a:t>
            </a:r>
            <a:r>
              <a:rPr kumimoji="1" lang="en-US" altLang="ja-JP" dirty="0"/>
              <a:t>】</a:t>
            </a:r>
            <a:endParaRPr kumimoji="1" lang="ja-JP" altLang="en-US" b="1" dirty="0"/>
          </a:p>
        </p:txBody>
      </p:sp>
      <p:sp>
        <p:nvSpPr>
          <p:cNvPr id="6" name="四角形: 角を丸くする 5">
            <a:extLst>
              <a:ext uri="{FF2B5EF4-FFF2-40B4-BE49-F238E27FC236}">
                <a16:creationId xmlns:a16="http://schemas.microsoft.com/office/drawing/2014/main" id="{D5D9312C-DDEB-4D37-A1DA-DA830AC8B24A}"/>
              </a:ext>
            </a:extLst>
          </p:cNvPr>
          <p:cNvSpPr/>
          <p:nvPr/>
        </p:nvSpPr>
        <p:spPr>
          <a:xfrm>
            <a:off x="514234" y="1540305"/>
            <a:ext cx="11053766" cy="1536216"/>
          </a:xfrm>
          <a:prstGeom prst="roundRect">
            <a:avLst/>
          </a:prstGeom>
          <a:solidFill>
            <a:schemeClr val="bg1">
              <a:lumMod val="85000"/>
            </a:schemeClr>
          </a:solidFill>
          <a:ln/>
        </p:spPr>
        <p:style>
          <a:lnRef idx="3">
            <a:schemeClr val="lt1"/>
          </a:lnRef>
          <a:fillRef idx="1">
            <a:schemeClr val="accent2"/>
          </a:fillRef>
          <a:effectRef idx="1">
            <a:schemeClr val="accent2"/>
          </a:effectRef>
          <a:fontRef idx="minor">
            <a:schemeClr val="lt1"/>
          </a:fontRef>
        </p:style>
        <p:txBody>
          <a:bodyPr lIns="1080000" rtlCol="0" anchor="ctr"/>
          <a:lstStyle/>
          <a:p>
            <a:pPr marL="0" lvl="3"/>
            <a:r>
              <a:rPr kumimoji="1" lang="ja-JP" altLang="en-US" sz="2000" b="1" dirty="0">
                <a:solidFill>
                  <a:schemeClr val="tx1"/>
                </a:solidFill>
                <a:latin typeface="メイリオ" panose="020B0604030504040204" pitchFamily="50" charset="-128"/>
                <a:ea typeface="メイリオ" panose="020B0604030504040204" pitchFamily="50" charset="-128"/>
              </a:rPr>
              <a:t>入電時に確認する内容</a:t>
            </a:r>
            <a:endParaRPr lang="en-US" altLang="ja-JP" sz="2000" b="1" dirty="0">
              <a:solidFill>
                <a:schemeClr val="tx1"/>
              </a:solidFill>
              <a:latin typeface="メイリオ" panose="020B0604030504040204" pitchFamily="50" charset="-128"/>
              <a:ea typeface="メイリオ" panose="020B0604030504040204" pitchFamily="50" charset="-128"/>
            </a:endParaRPr>
          </a:p>
          <a:p>
            <a:pPr lvl="2">
              <a:lnSpc>
                <a:spcPts val="1000"/>
              </a:lnSpc>
            </a:pPr>
            <a:endParaRPr kumimoji="1" lang="en-US" altLang="ja-JP" sz="1000" b="1" dirty="0">
              <a:solidFill>
                <a:schemeClr val="tx1"/>
              </a:solidFill>
              <a:latin typeface="メイリオ" panose="020B0604030504040204" pitchFamily="50" charset="-128"/>
              <a:ea typeface="メイリオ" panose="020B0604030504040204" pitchFamily="50" charset="-128"/>
            </a:endParaRPr>
          </a:p>
          <a:p>
            <a:pPr marL="0" lvl="3"/>
            <a:r>
              <a:rPr kumimoji="1" lang="ja-JP" altLang="en-US" sz="2000" b="1" dirty="0">
                <a:solidFill>
                  <a:schemeClr val="tx1"/>
                </a:solidFill>
                <a:latin typeface="メイリオ" panose="020B0604030504040204" pitchFamily="50" charset="-128"/>
                <a:ea typeface="メイリオ" panose="020B0604030504040204" pitchFamily="50" charset="-128"/>
              </a:rPr>
              <a:t>① 受信料アカウントの</a:t>
            </a:r>
            <a:r>
              <a:rPr kumimoji="1" lang="en-US" altLang="ja-JP" sz="2000" b="1" dirty="0">
                <a:solidFill>
                  <a:schemeClr val="tx1"/>
                </a:solidFill>
                <a:latin typeface="メイリオ" panose="020B0604030504040204" pitchFamily="50" charset="-128"/>
                <a:ea typeface="メイリオ" panose="020B0604030504040204" pitchFamily="50" charset="-128"/>
              </a:rPr>
              <a:t>PW</a:t>
            </a:r>
            <a:r>
              <a:rPr kumimoji="1" lang="ja-JP" altLang="en-US" sz="2000" b="1" dirty="0">
                <a:solidFill>
                  <a:schemeClr val="tx1"/>
                </a:solidFill>
                <a:latin typeface="メイリオ" panose="020B0604030504040204" pitchFamily="50" charset="-128"/>
                <a:ea typeface="メイリオ" panose="020B0604030504040204" pitchFamily="50" charset="-128"/>
              </a:rPr>
              <a:t>を忘れてしまい、メール等でも確認できないこと</a:t>
            </a:r>
          </a:p>
          <a:p>
            <a:pPr marL="0" lvl="3"/>
            <a:r>
              <a:rPr kumimoji="1" lang="ja-JP" altLang="en-US" sz="2000" b="1" dirty="0">
                <a:solidFill>
                  <a:schemeClr val="tx1"/>
                </a:solidFill>
                <a:latin typeface="メイリオ" panose="020B0604030504040204" pitchFamily="50" charset="-128"/>
                <a:ea typeface="メイリオ" panose="020B0604030504040204" pitchFamily="50" charset="-128"/>
              </a:rPr>
              <a:t>② </a:t>
            </a:r>
            <a:r>
              <a:rPr kumimoji="1" lang="en-US" altLang="ja-JP" sz="2000" b="1" dirty="0">
                <a:solidFill>
                  <a:schemeClr val="tx1"/>
                </a:solidFill>
                <a:latin typeface="メイリオ" panose="020B0604030504040204" pitchFamily="50" charset="-128"/>
                <a:ea typeface="メイリオ" panose="020B0604030504040204" pitchFamily="50" charset="-128"/>
              </a:rPr>
              <a:t>NHK ONE</a:t>
            </a:r>
            <a:r>
              <a:rPr kumimoji="1" lang="ja-JP" altLang="en-US" sz="2000" b="1" dirty="0">
                <a:solidFill>
                  <a:schemeClr val="tx1"/>
                </a:solidFill>
                <a:latin typeface="メイリオ" panose="020B0604030504040204" pitchFamily="50" charset="-128"/>
                <a:ea typeface="メイリオ" panose="020B0604030504040204" pitchFamily="50" charset="-128"/>
              </a:rPr>
              <a:t>アカウントにはログインできていること</a:t>
            </a:r>
          </a:p>
        </p:txBody>
      </p:sp>
      <p:pic>
        <p:nvPicPr>
          <p:cNvPr id="11" name="グラフィックス 10" descr="コメント: いいね! 単色塗りつぶし">
            <a:extLst>
              <a:ext uri="{FF2B5EF4-FFF2-40B4-BE49-F238E27FC236}">
                <a16:creationId xmlns:a16="http://schemas.microsoft.com/office/drawing/2014/main" id="{00A8093F-FDC8-4741-8543-93082ADD7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613" y="3111482"/>
            <a:ext cx="824106" cy="824106"/>
          </a:xfrm>
          <a:prstGeom prst="rect">
            <a:avLst/>
          </a:prstGeom>
        </p:spPr>
      </p:pic>
      <p:sp>
        <p:nvSpPr>
          <p:cNvPr id="17" name="四角形: 角を丸くする 16">
            <a:extLst>
              <a:ext uri="{FF2B5EF4-FFF2-40B4-BE49-F238E27FC236}">
                <a16:creationId xmlns:a16="http://schemas.microsoft.com/office/drawing/2014/main" id="{4F96339A-FBB3-4B90-8ABA-3DB7DC18988A}"/>
              </a:ext>
            </a:extLst>
          </p:cNvPr>
          <p:cNvSpPr/>
          <p:nvPr/>
        </p:nvSpPr>
        <p:spPr>
          <a:xfrm>
            <a:off x="514234" y="867288"/>
            <a:ext cx="11053766" cy="555329"/>
          </a:xfrm>
          <a:prstGeom prst="roundRect">
            <a:avLst>
              <a:gd name="adj" fmla="val 34424"/>
            </a:avLst>
          </a:prstGeom>
          <a:solidFill>
            <a:schemeClr val="bg1">
              <a:lumMod val="85000"/>
            </a:schemeClr>
          </a:solidFill>
          <a:ln/>
        </p:spPr>
        <p:style>
          <a:lnRef idx="3">
            <a:schemeClr val="lt1"/>
          </a:lnRef>
          <a:fillRef idx="1">
            <a:schemeClr val="accent2"/>
          </a:fillRef>
          <a:effectRef idx="1">
            <a:schemeClr val="accent2"/>
          </a:effectRef>
          <a:fontRef idx="minor">
            <a:schemeClr val="lt1"/>
          </a:fontRef>
        </p:style>
        <p:txBody>
          <a:bodyPr lIns="0" rIns="0" rtlCol="0" anchor="ctr" anchorCtr="1"/>
          <a:lstStyle/>
          <a:p>
            <a:r>
              <a:rPr kumimoji="1" lang="ja-JP" altLang="en-US" sz="2200" b="1" dirty="0">
                <a:solidFill>
                  <a:schemeClr val="tx1"/>
                </a:solidFill>
                <a:latin typeface="メイリオ" panose="020B0604030504040204" pitchFamily="50" charset="-128"/>
                <a:ea typeface="メイリオ" panose="020B0604030504040204" pitchFamily="50" charset="-128"/>
              </a:rPr>
              <a:t>転送パターンＣ　　　受信料アカウントの初期パスワード再送</a:t>
            </a:r>
          </a:p>
        </p:txBody>
      </p:sp>
      <p:pic>
        <p:nvPicPr>
          <p:cNvPr id="15" name="図 14">
            <a:extLst>
              <a:ext uri="{FF2B5EF4-FFF2-40B4-BE49-F238E27FC236}">
                <a16:creationId xmlns:a16="http://schemas.microsoft.com/office/drawing/2014/main" id="{F6E28C65-A3DB-400A-9B9D-503BEE5D8DF6}"/>
              </a:ext>
            </a:extLst>
          </p:cNvPr>
          <p:cNvPicPr>
            <a:picLocks noChangeAspect="1"/>
          </p:cNvPicPr>
          <p:nvPr/>
        </p:nvPicPr>
        <p:blipFill>
          <a:blip r:embed="rId3"/>
          <a:stretch>
            <a:fillRect/>
          </a:stretch>
        </p:blipFill>
        <p:spPr>
          <a:xfrm>
            <a:off x="407422" y="1751814"/>
            <a:ext cx="956443" cy="1063138"/>
          </a:xfrm>
          <a:prstGeom prst="rect">
            <a:avLst/>
          </a:prstGeom>
        </p:spPr>
      </p:pic>
      <p:pic>
        <p:nvPicPr>
          <p:cNvPr id="18" name="図 17">
            <a:extLst>
              <a:ext uri="{FF2B5EF4-FFF2-40B4-BE49-F238E27FC236}">
                <a16:creationId xmlns:a16="http://schemas.microsoft.com/office/drawing/2014/main" id="{35145E3A-F2B6-438F-8942-3C8F8962273C}"/>
              </a:ext>
            </a:extLst>
          </p:cNvPr>
          <p:cNvPicPr>
            <a:picLocks noChangeAspect="1"/>
          </p:cNvPicPr>
          <p:nvPr/>
        </p:nvPicPr>
        <p:blipFill>
          <a:blip r:embed="rId4"/>
          <a:stretch>
            <a:fillRect/>
          </a:stretch>
        </p:blipFill>
        <p:spPr>
          <a:xfrm>
            <a:off x="10440020" y="1651096"/>
            <a:ext cx="909955" cy="1314633"/>
          </a:xfrm>
          <a:prstGeom prst="rect">
            <a:avLst/>
          </a:prstGeom>
        </p:spPr>
      </p:pic>
      <p:sp>
        <p:nvSpPr>
          <p:cNvPr id="20" name="四角形: 角を丸くする 19">
            <a:extLst>
              <a:ext uri="{FF2B5EF4-FFF2-40B4-BE49-F238E27FC236}">
                <a16:creationId xmlns:a16="http://schemas.microsoft.com/office/drawing/2014/main" id="{8ACA69D9-E1F0-44C0-8785-E01B4907933C}"/>
              </a:ext>
            </a:extLst>
          </p:cNvPr>
          <p:cNvSpPr/>
          <p:nvPr/>
        </p:nvSpPr>
        <p:spPr>
          <a:xfrm>
            <a:off x="1911734" y="4184644"/>
            <a:ext cx="9751946" cy="1107721"/>
          </a:xfrm>
          <a:prstGeom prst="roundRect">
            <a:avLst>
              <a:gd name="adj" fmla="val 17046"/>
            </a:avLst>
          </a:prstGeom>
          <a:ln w="57150">
            <a:solidFill>
              <a:srgbClr val="3333FF"/>
            </a:solidFill>
          </a:ln>
        </p:spPr>
        <p:style>
          <a:lnRef idx="2">
            <a:schemeClr val="accent4"/>
          </a:lnRef>
          <a:fillRef idx="1">
            <a:schemeClr val="lt1"/>
          </a:fillRef>
          <a:effectRef idx="0">
            <a:schemeClr val="accent4"/>
          </a:effectRef>
          <a:fontRef idx="minor">
            <a:schemeClr val="dk1"/>
          </a:fontRef>
        </p:style>
        <p:txBody>
          <a:bodyPr lIns="180000" rIns="72000" rtlCol="0" anchor="ctr" anchorCtr="0"/>
          <a:lstStyle/>
          <a:p>
            <a:pPr>
              <a:spcAft>
                <a:spcPts val="600"/>
              </a:spcAft>
            </a:pPr>
            <a:r>
              <a:rPr lang="ja-JP" altLang="en-US" b="1" dirty="0">
                <a:latin typeface="メイリオ" panose="020B0604030504040204" pitchFamily="50" charset="-128"/>
                <a:ea typeface="メイリオ" panose="020B0604030504040204" pitchFamily="50" charset="-128"/>
              </a:rPr>
              <a:t>転送可　　</a:t>
            </a:r>
            <a:r>
              <a:rPr kumimoji="1" lang="en-US" altLang="ja-JP" b="1" dirty="0">
                <a:latin typeface="メイリオ" panose="020B0604030504040204" pitchFamily="50" charset="-128"/>
                <a:ea typeface="メイリオ" panose="020B0604030504040204" pitchFamily="50" charset="-128"/>
              </a:rPr>
              <a:t>【</a:t>
            </a:r>
            <a:r>
              <a:rPr kumimoji="1" lang="ja-JP" altLang="en-US" b="1" dirty="0">
                <a:latin typeface="メイリオ" panose="020B0604030504040204" pitchFamily="50" charset="-128"/>
                <a:ea typeface="メイリオ" panose="020B0604030504040204" pitchFamily="50" charset="-128"/>
              </a:rPr>
              <a:t>転送パターンＣ</a:t>
            </a:r>
            <a:r>
              <a:rPr kumimoji="1" lang="en-US" altLang="ja-JP" b="1" dirty="0">
                <a:latin typeface="メイリオ" panose="020B0604030504040204" pitchFamily="50" charset="-128"/>
                <a:ea typeface="メイリオ" panose="020B0604030504040204" pitchFamily="50" charset="-128"/>
              </a:rPr>
              <a:t>】</a:t>
            </a:r>
          </a:p>
          <a:p>
            <a:r>
              <a:rPr kumimoji="1" lang="ja-JP" altLang="en-US" b="1" dirty="0">
                <a:highlight>
                  <a:srgbClr val="FFFF00"/>
                </a:highlight>
                <a:latin typeface="メイリオ" panose="020B0604030504040204" pitchFamily="50" charset="-128"/>
                <a:ea typeface="メイリオ" panose="020B0604030504040204" pitchFamily="50" charset="-128"/>
              </a:rPr>
              <a:t>「受信料アカウントの初期パスワードを再送いたしますので、専門の窓口にお繋ぎします」</a:t>
            </a:r>
          </a:p>
        </p:txBody>
      </p:sp>
      <p:sp>
        <p:nvSpPr>
          <p:cNvPr id="21" name="四角形: 角を丸くする 20">
            <a:extLst>
              <a:ext uri="{FF2B5EF4-FFF2-40B4-BE49-F238E27FC236}">
                <a16:creationId xmlns:a16="http://schemas.microsoft.com/office/drawing/2014/main" id="{5CE2F2CD-C465-4C4D-9E3B-6FE25A5FFEF5}"/>
              </a:ext>
            </a:extLst>
          </p:cNvPr>
          <p:cNvSpPr/>
          <p:nvPr/>
        </p:nvSpPr>
        <p:spPr>
          <a:xfrm>
            <a:off x="1911734" y="5434652"/>
            <a:ext cx="9751946" cy="1321748"/>
          </a:xfrm>
          <a:prstGeom prst="roundRect">
            <a:avLst>
              <a:gd name="adj" fmla="val 17046"/>
            </a:avLst>
          </a:prstGeom>
          <a:ln w="57150">
            <a:solidFill>
              <a:schemeClr val="accent6"/>
            </a:solidFill>
          </a:ln>
        </p:spPr>
        <p:style>
          <a:lnRef idx="2">
            <a:schemeClr val="accent4"/>
          </a:lnRef>
          <a:fillRef idx="1">
            <a:schemeClr val="lt1"/>
          </a:fillRef>
          <a:effectRef idx="0">
            <a:schemeClr val="accent4"/>
          </a:effectRef>
          <a:fontRef idx="minor">
            <a:schemeClr val="dk1"/>
          </a:fontRef>
        </p:style>
        <p:txBody>
          <a:bodyPr lIns="180000" rtlCol="0" anchor="ctr" anchorCtr="0"/>
          <a:lstStyle/>
          <a:p>
            <a:pPr>
              <a:spcAft>
                <a:spcPts val="600"/>
              </a:spcAft>
            </a:pPr>
            <a:r>
              <a:rPr lang="ja-JP" altLang="en-US" b="1" dirty="0">
                <a:latin typeface="メイリオ" panose="020B0604030504040204" pitchFamily="50" charset="-128"/>
                <a:ea typeface="メイリオ" panose="020B0604030504040204" pitchFamily="50" charset="-128"/>
              </a:rPr>
              <a:t>転送不可　　かけ直し依頼</a:t>
            </a:r>
            <a:endParaRPr lang="en-US" altLang="ja-JP" b="1" dirty="0">
              <a:latin typeface="メイリオ" panose="020B0604030504040204" pitchFamily="50" charset="-128"/>
              <a:ea typeface="メイリオ" panose="020B0604030504040204" pitchFamily="50" charset="-128"/>
            </a:endParaRPr>
          </a:p>
          <a:p>
            <a:r>
              <a:rPr kumimoji="1" lang="ja-JP" altLang="en-US" b="1" dirty="0">
                <a:highlight>
                  <a:srgbClr val="FFFF00"/>
                </a:highlight>
                <a:latin typeface="メイリオ" panose="020B0604030504040204" pitchFamily="50" charset="-128"/>
                <a:ea typeface="メイリオ" panose="020B0604030504040204" pitchFamily="50" charset="-128"/>
              </a:rPr>
              <a:t>「受信料アカウントの初期パスワード再送については、専門窓口 ガイダンス</a:t>
            </a:r>
            <a:r>
              <a:rPr kumimoji="1" lang="en-US" altLang="ja-JP" b="1" dirty="0">
                <a:highlight>
                  <a:srgbClr val="FFFF00"/>
                </a:highlight>
                <a:latin typeface="メイリオ" panose="020B0604030504040204" pitchFamily="50" charset="-128"/>
                <a:ea typeface="メイリオ" panose="020B0604030504040204" pitchFamily="50" charset="-128"/>
              </a:rPr>
              <a:t>[2] </a:t>
            </a:r>
            <a:r>
              <a:rPr kumimoji="1" lang="ja-JP" altLang="en-US" b="1" dirty="0">
                <a:highlight>
                  <a:srgbClr val="FFFF00"/>
                </a:highlight>
                <a:latin typeface="メイリオ" panose="020B0604030504040204" pitchFamily="50" charset="-128"/>
                <a:ea typeface="メイリオ" panose="020B0604030504040204" pitchFamily="50" charset="-128"/>
              </a:rPr>
              <a:t>に</a:t>
            </a:r>
          </a:p>
          <a:p>
            <a:r>
              <a:rPr kumimoji="1" lang="ja-JP" altLang="en-US" b="1" dirty="0">
                <a:highlight>
                  <a:srgbClr val="FFFF00"/>
                </a:highlight>
                <a:latin typeface="メイリオ" panose="020B0604030504040204" pitchFamily="50" charset="-128"/>
                <a:ea typeface="メイリオ" panose="020B0604030504040204" pitchFamily="50" charset="-128"/>
              </a:rPr>
              <a:t>　お掛け直しください」</a:t>
            </a:r>
          </a:p>
        </p:txBody>
      </p:sp>
      <p:cxnSp>
        <p:nvCxnSpPr>
          <p:cNvPr id="22" name="コネクタ: カギ線 21">
            <a:extLst>
              <a:ext uri="{FF2B5EF4-FFF2-40B4-BE49-F238E27FC236}">
                <a16:creationId xmlns:a16="http://schemas.microsoft.com/office/drawing/2014/main" id="{770E5B64-6B78-4C2F-9364-2C278608276C}"/>
              </a:ext>
            </a:extLst>
          </p:cNvPr>
          <p:cNvCxnSpPr>
            <a:cxnSpLocks/>
            <a:endCxn id="21" idx="1"/>
          </p:cNvCxnSpPr>
          <p:nvPr/>
        </p:nvCxnSpPr>
        <p:spPr>
          <a:xfrm rot="16200000" flipH="1">
            <a:off x="390350" y="4574142"/>
            <a:ext cx="2168604" cy="874164"/>
          </a:xfrm>
          <a:prstGeom prst="bentConnector2">
            <a:avLst/>
          </a:prstGeom>
          <a:ln w="38100">
            <a:solidFill>
              <a:srgbClr val="3333FF"/>
            </a:solidFill>
            <a:tailEnd type="stealth" w="lg" len="lg"/>
          </a:ln>
        </p:spPr>
        <p:style>
          <a:lnRef idx="1">
            <a:schemeClr val="accent4"/>
          </a:lnRef>
          <a:fillRef idx="0">
            <a:schemeClr val="accent4"/>
          </a:fillRef>
          <a:effectRef idx="0">
            <a:schemeClr val="accent4"/>
          </a:effectRef>
          <a:fontRef idx="minor">
            <a:schemeClr val="tx1"/>
          </a:fontRef>
        </p:style>
      </p:cxnSp>
      <p:cxnSp>
        <p:nvCxnSpPr>
          <p:cNvPr id="23" name="コネクタ: カギ線 22">
            <a:extLst>
              <a:ext uri="{FF2B5EF4-FFF2-40B4-BE49-F238E27FC236}">
                <a16:creationId xmlns:a16="http://schemas.microsoft.com/office/drawing/2014/main" id="{86902FC5-D099-4D5E-85CF-9B2BA6AE940F}"/>
              </a:ext>
            </a:extLst>
          </p:cNvPr>
          <p:cNvCxnSpPr>
            <a:cxnSpLocks/>
          </p:cNvCxnSpPr>
          <p:nvPr/>
        </p:nvCxnSpPr>
        <p:spPr>
          <a:xfrm rot="16200000" flipH="1">
            <a:off x="1060652" y="3899047"/>
            <a:ext cx="828000" cy="874164"/>
          </a:xfrm>
          <a:prstGeom prst="bentConnector2">
            <a:avLst/>
          </a:prstGeom>
          <a:ln w="38100">
            <a:solidFill>
              <a:srgbClr val="3333FF"/>
            </a:solidFill>
            <a:tailEnd type="stealth" w="lg" len="lg"/>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412928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B3A6EA-D186-474C-BCE1-4954D22A6464}"/>
              </a:ext>
            </a:extLst>
          </p:cNvPr>
          <p:cNvSpPr>
            <a:spLocks noGrp="1"/>
          </p:cNvSpPr>
          <p:nvPr>
            <p:ph type="title"/>
          </p:nvPr>
        </p:nvSpPr>
        <p:spPr>
          <a:xfrm>
            <a:off x="540000" y="180000"/>
            <a:ext cx="10080000" cy="468000"/>
          </a:xfrm>
        </p:spPr>
        <p:txBody>
          <a:bodyPr anchor="b" anchorCtr="0"/>
          <a:lstStyle/>
          <a:p>
            <a:r>
              <a:rPr kumimoji="1" lang="en-US" altLang="ja-JP" dirty="0"/>
              <a:t>S</a:t>
            </a:r>
            <a:r>
              <a:rPr kumimoji="1" lang="ja-JP" altLang="en-US" dirty="0"/>
              <a:t>→</a:t>
            </a:r>
            <a:r>
              <a:rPr kumimoji="1" lang="en-US" altLang="ja-JP" dirty="0"/>
              <a:t>J</a:t>
            </a:r>
            <a:r>
              <a:rPr kumimoji="1" lang="ja-JP" altLang="en-US" dirty="0"/>
              <a:t>転送　対象パターンＣ　</a:t>
            </a:r>
            <a:r>
              <a:rPr kumimoji="1" lang="en-US" altLang="ja-JP" dirty="0"/>
              <a:t>【</a:t>
            </a:r>
            <a:r>
              <a:rPr lang="ja-JP" altLang="en-US" dirty="0"/>
              <a:t>転送</a:t>
            </a:r>
            <a:r>
              <a:rPr kumimoji="1" lang="ja-JP" altLang="en-US" dirty="0"/>
              <a:t>対応</a:t>
            </a:r>
            <a:r>
              <a:rPr kumimoji="1" lang="en-US" altLang="ja-JP" dirty="0"/>
              <a:t>】</a:t>
            </a:r>
            <a:endParaRPr kumimoji="1" lang="ja-JP" altLang="en-US" b="1" dirty="0"/>
          </a:p>
        </p:txBody>
      </p:sp>
      <p:sp>
        <p:nvSpPr>
          <p:cNvPr id="27" name="四角形: 角を丸くする 26">
            <a:extLst>
              <a:ext uri="{FF2B5EF4-FFF2-40B4-BE49-F238E27FC236}">
                <a16:creationId xmlns:a16="http://schemas.microsoft.com/office/drawing/2014/main" id="{9E3F06D6-5C18-4982-B07E-0384615C131C}"/>
              </a:ext>
            </a:extLst>
          </p:cNvPr>
          <p:cNvSpPr/>
          <p:nvPr/>
        </p:nvSpPr>
        <p:spPr>
          <a:xfrm>
            <a:off x="538234" y="5910054"/>
            <a:ext cx="11005766" cy="747760"/>
          </a:xfrm>
          <a:prstGeom prst="roundRect">
            <a:avLst>
              <a:gd name="adj" fmla="val 6737"/>
            </a:avLst>
          </a:prstGeom>
          <a:ln w="57150">
            <a:solidFill>
              <a:schemeClr val="tx1">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nchorCtr="0"/>
          <a:lstStyle/>
          <a:p>
            <a:r>
              <a:rPr lang="ja-JP" altLang="en-US" b="1" dirty="0">
                <a:latin typeface="メイリオ" panose="020B0604030504040204" pitchFamily="50" charset="-128"/>
                <a:ea typeface="メイリオ" panose="020B0604030504040204" pitchFamily="50" charset="-128"/>
              </a:rPr>
              <a:t>●　パターンの伝達時には、聞き間違いの防止のため、パターンの内容を復唱</a:t>
            </a: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　入電者の特性など、必要な申し送り事項のみ伝達</a:t>
            </a:r>
            <a:endParaRPr lang="en-US" altLang="ja-JP" b="1" dirty="0">
              <a:solidFill>
                <a:schemeClr val="accent1">
                  <a:lumMod val="60000"/>
                  <a:lumOff val="40000"/>
                </a:schemeClr>
              </a:solidFill>
              <a:latin typeface="メイリオ" panose="020B0604030504040204" pitchFamily="50" charset="-128"/>
              <a:ea typeface="メイリオ" panose="020B0604030504040204" pitchFamily="50" charset="-128"/>
            </a:endParaRPr>
          </a:p>
        </p:txBody>
      </p:sp>
      <p:sp>
        <p:nvSpPr>
          <p:cNvPr id="30" name="四角形: 角を丸くする 29">
            <a:extLst>
              <a:ext uri="{FF2B5EF4-FFF2-40B4-BE49-F238E27FC236}">
                <a16:creationId xmlns:a16="http://schemas.microsoft.com/office/drawing/2014/main" id="{5581C6FD-B65E-4866-BA95-08DB96B90FD7}"/>
              </a:ext>
            </a:extLst>
          </p:cNvPr>
          <p:cNvSpPr/>
          <p:nvPr/>
        </p:nvSpPr>
        <p:spPr>
          <a:xfrm>
            <a:off x="514234" y="985926"/>
            <a:ext cx="11053766" cy="1482043"/>
          </a:xfrm>
          <a:prstGeom prst="roundRect">
            <a:avLst/>
          </a:prstGeom>
          <a:solidFill>
            <a:srgbClr val="0070C0"/>
          </a:solidFill>
          <a:ln/>
        </p:spPr>
        <p:style>
          <a:lnRef idx="3">
            <a:schemeClr val="lt1"/>
          </a:lnRef>
          <a:fillRef idx="1">
            <a:schemeClr val="accent2"/>
          </a:fillRef>
          <a:effectRef idx="1">
            <a:schemeClr val="accent2"/>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a:t>
            </a:r>
            <a:r>
              <a:rPr lang="en-US" altLang="ja-JP" b="1" dirty="0">
                <a:latin typeface="メイリオ" panose="020B0604030504040204" pitchFamily="50" charset="-128"/>
                <a:ea typeface="メイリオ" panose="020B0604030504040204" pitchFamily="50" charset="-128"/>
              </a:rPr>
              <a:t>J</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a:t>
            </a:r>
            <a:r>
              <a:rPr lang="ja-JP" altLang="en-US" b="1" dirty="0">
                <a:latin typeface="メイリオ" panose="020B0604030504040204" pitchFamily="50" charset="-128"/>
                <a:ea typeface="メイリオ" panose="020B0604030504040204" pitchFamily="50" charset="-128"/>
              </a:rPr>
              <a:t>へ転送）</a:t>
            </a:r>
            <a:endParaRPr kumimoji="1"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「お疲れ様です。 </a:t>
            </a:r>
            <a:r>
              <a:rPr lang="en-US" altLang="ja-JP" b="1" dirty="0">
                <a:latin typeface="メイリオ" panose="020B0604030504040204" pitchFamily="50" charset="-128"/>
                <a:ea typeface="メイリオ" panose="020B0604030504040204" pitchFamily="50" charset="-128"/>
              </a:rPr>
              <a:t>S</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 </a:t>
            </a:r>
            <a:r>
              <a:rPr lang="ja-JP" altLang="en-US" b="1" dirty="0">
                <a:latin typeface="メイリオ" panose="020B0604030504040204" pitchFamily="50" charset="-128"/>
                <a:ea typeface="メイリオ" panose="020B0604030504040204" pitchFamily="50" charset="-128"/>
              </a:rPr>
              <a:t>担当の●●です。  </a:t>
            </a:r>
            <a:r>
              <a:rPr lang="ja-JP" altLang="en-US" b="1" dirty="0">
                <a:solidFill>
                  <a:srgbClr val="FFFF00"/>
                </a:solidFill>
                <a:latin typeface="メイリオ" panose="020B0604030504040204" pitchFamily="50" charset="-128"/>
                <a:ea typeface="メイリオ" panose="020B0604030504040204" pitchFamily="50" charset="-128"/>
              </a:rPr>
              <a:t>転送パターンＣ</a:t>
            </a:r>
            <a:r>
              <a:rPr lang="ja-JP" altLang="en-US" b="1" dirty="0">
                <a:latin typeface="メイリオ" panose="020B0604030504040204" pitchFamily="50" charset="-128"/>
                <a:ea typeface="メイリオ" panose="020B0604030504040204" pitchFamily="50" charset="-128"/>
              </a:rPr>
              <a:t>　のお客様です。</a:t>
            </a:r>
            <a:endParaRPr lang="en-US" altLang="ja-JP" b="1" dirty="0">
              <a:latin typeface="メイリオ" panose="020B0604030504040204" pitchFamily="50" charset="-128"/>
              <a:ea typeface="メイリオ" panose="020B0604030504040204" pitchFamily="50" charset="-128"/>
            </a:endParaRPr>
          </a:p>
          <a:p>
            <a:pPr lvl="2"/>
            <a:r>
              <a:rPr lang="en-US" altLang="ja-JP"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電話番号は、</a:t>
            </a:r>
            <a:r>
              <a:rPr lang="en-US" altLang="ja-JP" b="1" dirty="0">
                <a:solidFill>
                  <a:srgbClr val="FFFF00"/>
                </a:solidFill>
                <a:latin typeface="メイリオ" panose="020B0604030504040204" pitchFamily="50" charset="-128"/>
                <a:ea typeface="メイリオ" panose="020B0604030504040204" pitchFamily="50" charset="-128"/>
              </a:rPr>
              <a:t>XXX-XXXX-XXXX</a:t>
            </a:r>
            <a:r>
              <a:rPr kumimoji="1" lang="ja-JP" altLang="en-US" sz="1800" dirty="0">
                <a:latin typeface="メイリオ" panose="020B0604030504040204" pitchFamily="50" charset="-128"/>
                <a:ea typeface="メイリオ" panose="020B0604030504040204" pitchFamily="50" charset="-128"/>
              </a:rPr>
              <a:t> （</a:t>
            </a:r>
            <a:r>
              <a:rPr lang="ja-JP" altLang="en-US" sz="1800" dirty="0">
                <a:latin typeface="メイリオ" panose="020B0604030504040204" pitchFamily="50" charset="-128"/>
                <a:ea typeface="メイリオ" panose="020B0604030504040204" pitchFamily="50" charset="-128"/>
              </a:rPr>
              <a:t>番号通知で表示された着信電話番号</a:t>
            </a:r>
            <a:r>
              <a:rPr kumimoji="1" lang="ja-JP" altLang="en-US" sz="1800"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です。</a:t>
            </a:r>
            <a:endParaRPr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契約者本人 ／ 配偶者 ／ 本人（または配偶者）同席での第三者</a:t>
            </a:r>
            <a:r>
              <a:rPr lang="ja-JP" altLang="en-US" b="1" dirty="0">
                <a:latin typeface="メイリオ" panose="020B0604030504040204" pitchFamily="50" charset="-128"/>
                <a:ea typeface="メイリオ" panose="020B0604030504040204" pitchFamily="50" charset="-128"/>
              </a:rPr>
              <a:t>　からの入電です。」</a:t>
            </a:r>
            <a:endParaRPr lang="en-US" altLang="ja-JP" b="1" dirty="0">
              <a:latin typeface="メイリオ" panose="020B0604030504040204" pitchFamily="50" charset="-128"/>
              <a:ea typeface="メイリオ" panose="020B0604030504040204" pitchFamily="50" charset="-128"/>
            </a:endParaRPr>
          </a:p>
        </p:txBody>
      </p:sp>
      <p:sp>
        <p:nvSpPr>
          <p:cNvPr id="31" name="四角形: 角を丸くする 30">
            <a:extLst>
              <a:ext uri="{FF2B5EF4-FFF2-40B4-BE49-F238E27FC236}">
                <a16:creationId xmlns:a16="http://schemas.microsoft.com/office/drawing/2014/main" id="{89534C1A-595F-4147-B7A7-3067173E4E05}"/>
              </a:ext>
            </a:extLst>
          </p:cNvPr>
          <p:cNvSpPr/>
          <p:nvPr/>
        </p:nvSpPr>
        <p:spPr>
          <a:xfrm>
            <a:off x="514234" y="2581926"/>
            <a:ext cx="11053766" cy="1253469"/>
          </a:xfrm>
          <a:prstGeom prst="roundRect">
            <a:avLst/>
          </a:prstGeom>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a:t>
            </a:r>
            <a:r>
              <a:rPr lang="ja-JP" altLang="en-US" b="1" dirty="0">
                <a:solidFill>
                  <a:srgbClr val="FFFF00"/>
                </a:solidFill>
                <a:latin typeface="メイリオ" panose="020B0604030504040204" pitchFamily="50" charset="-128"/>
                <a:ea typeface="メイリオ" panose="020B0604030504040204" pitchFamily="50" charset="-128"/>
              </a:rPr>
              <a:t>転送パターンＣ：</a:t>
            </a:r>
            <a:r>
              <a:rPr lang="en-US" altLang="ja-JP" b="1" dirty="0">
                <a:solidFill>
                  <a:srgbClr val="FFFF00"/>
                </a:solidFill>
                <a:latin typeface="メイリオ" panose="020B0604030504040204" pitchFamily="50" charset="-128"/>
                <a:ea typeface="メイリオ" panose="020B0604030504040204" pitchFamily="50" charset="-128"/>
              </a:rPr>
              <a:t>J</a:t>
            </a:r>
            <a:r>
              <a:rPr lang="ja-JP" altLang="en-US" b="1" dirty="0">
                <a:solidFill>
                  <a:srgbClr val="FFFF00"/>
                </a:solidFill>
                <a:latin typeface="メイリオ" panose="020B0604030504040204" pitchFamily="50" charset="-128"/>
                <a:ea typeface="メイリオ" panose="020B0604030504040204" pitchFamily="50" charset="-128"/>
              </a:rPr>
              <a:t>アカの初期パスワード再送</a:t>
            </a:r>
            <a:r>
              <a:rPr lang="ja-JP" altLang="en-US" b="1" dirty="0">
                <a:latin typeface="メイリオ" panose="020B0604030504040204" pitchFamily="50" charset="-128"/>
                <a:ea typeface="メイリオ" panose="020B0604030504040204" pitchFamily="50" charset="-128"/>
              </a:rPr>
              <a:t>で、</a:t>
            </a:r>
            <a:r>
              <a:rPr lang="ja-JP" altLang="en-US" b="1" dirty="0">
                <a:solidFill>
                  <a:srgbClr val="FFFF00"/>
                </a:solidFill>
                <a:latin typeface="メイリオ" panose="020B0604030504040204" pitchFamily="50" charset="-128"/>
                <a:ea typeface="メイリオ" panose="020B0604030504040204" pitchFamily="50" charset="-128"/>
              </a:rPr>
              <a:t>電話番号</a:t>
            </a:r>
            <a:r>
              <a:rPr lang="en-US" altLang="ja-JP" b="1" dirty="0">
                <a:solidFill>
                  <a:srgbClr val="FFFF00"/>
                </a:solidFill>
                <a:latin typeface="メイリオ" panose="020B0604030504040204" pitchFamily="50" charset="-128"/>
                <a:ea typeface="メイリオ" panose="020B0604030504040204" pitchFamily="50" charset="-128"/>
              </a:rPr>
              <a:t>XXX-XXXX-XXXX</a:t>
            </a:r>
            <a:r>
              <a:rPr lang="ja-JP" altLang="en-US" b="1" dirty="0">
                <a:latin typeface="メイリオ" panose="020B0604030504040204" pitchFamily="50" charset="-128"/>
                <a:ea typeface="メイリオ" panose="020B0604030504040204" pitchFamily="50" charset="-128"/>
              </a:rPr>
              <a:t>、</a:t>
            </a:r>
            <a:endParaRPr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契約者本人 ／ 配偶者 ／ 本人（または配偶者）同席での第三者</a:t>
            </a:r>
            <a:r>
              <a:rPr lang="ja-JP" altLang="en-US" b="1" dirty="0">
                <a:latin typeface="メイリオ" panose="020B0604030504040204" pitchFamily="50" charset="-128"/>
                <a:ea typeface="メイリオ" panose="020B0604030504040204" pitchFamily="50" charset="-128"/>
              </a:rPr>
              <a:t>　からの入電ですね。</a:t>
            </a:r>
          </a:p>
          <a:p>
            <a:pPr lvl="2"/>
            <a:r>
              <a:rPr lang="en-US" altLang="ja-JP" b="1" dirty="0">
                <a:latin typeface="メイリオ" panose="020B0604030504040204" pitchFamily="50" charset="-128"/>
                <a:ea typeface="メイリオ" panose="020B0604030504040204" pitchFamily="50" charset="-128"/>
              </a:rPr>
              <a:t>   </a:t>
            </a:r>
            <a:r>
              <a:rPr lang="ja-JP" altLang="en-US" b="1" dirty="0">
                <a:latin typeface="メイリオ" panose="020B0604030504040204" pitchFamily="50" charset="-128"/>
                <a:ea typeface="メイリオ" panose="020B0604030504040204" pitchFamily="50" charset="-128"/>
              </a:rPr>
              <a:t>そのほか、申し送り事項はございますか？」</a:t>
            </a:r>
            <a:endParaRPr kumimoji="1" lang="ja-JP" altLang="en-US" b="1" dirty="0">
              <a:latin typeface="メイリオ" panose="020B0604030504040204" pitchFamily="50" charset="-128"/>
              <a:ea typeface="メイリオ" panose="020B0604030504040204" pitchFamily="50" charset="-128"/>
            </a:endParaRPr>
          </a:p>
        </p:txBody>
      </p:sp>
      <p:sp>
        <p:nvSpPr>
          <p:cNvPr id="32" name="四角形: 角を丸くする 31">
            <a:extLst>
              <a:ext uri="{FF2B5EF4-FFF2-40B4-BE49-F238E27FC236}">
                <a16:creationId xmlns:a16="http://schemas.microsoft.com/office/drawing/2014/main" id="{D603A22F-7CD9-4E2D-A14F-3225FC984140}"/>
              </a:ext>
            </a:extLst>
          </p:cNvPr>
          <p:cNvSpPr/>
          <p:nvPr/>
        </p:nvSpPr>
        <p:spPr>
          <a:xfrm>
            <a:off x="514234" y="3946338"/>
            <a:ext cx="11053766" cy="776361"/>
          </a:xfrm>
          <a:prstGeom prst="roundRect">
            <a:avLst/>
          </a:prstGeom>
          <a:solidFill>
            <a:srgbClr val="0070C0"/>
          </a:solidFill>
          <a:ln/>
        </p:spPr>
        <p:style>
          <a:lnRef idx="3">
            <a:schemeClr val="lt1"/>
          </a:lnRef>
          <a:fillRef idx="1">
            <a:schemeClr val="accent2"/>
          </a:fillRef>
          <a:effectRef idx="1">
            <a:schemeClr val="accent2"/>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「～～～～です。 よろしくお願いします。」　</a:t>
            </a:r>
            <a:r>
              <a:rPr kumimoji="1" lang="ja-JP" altLang="en-US" b="1"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連携が必要な情報のみ申し送り）</a:t>
            </a:r>
            <a:endParaRPr kumimoji="1" lang="ja-JP" altLang="en-US" b="1" dirty="0">
              <a:latin typeface="メイリオ" panose="020B0604030504040204" pitchFamily="50" charset="-128"/>
              <a:ea typeface="メイリオ" panose="020B0604030504040204" pitchFamily="50" charset="-128"/>
            </a:endParaRPr>
          </a:p>
        </p:txBody>
      </p:sp>
      <p:sp>
        <p:nvSpPr>
          <p:cNvPr id="33" name="四角形: 角を丸くする 32">
            <a:extLst>
              <a:ext uri="{FF2B5EF4-FFF2-40B4-BE49-F238E27FC236}">
                <a16:creationId xmlns:a16="http://schemas.microsoft.com/office/drawing/2014/main" id="{AC5B5E0B-525F-4260-8E4D-3047F152F111}"/>
              </a:ext>
            </a:extLst>
          </p:cNvPr>
          <p:cNvSpPr/>
          <p:nvPr/>
        </p:nvSpPr>
        <p:spPr>
          <a:xfrm>
            <a:off x="538234" y="4870170"/>
            <a:ext cx="11053766" cy="776361"/>
          </a:xfrm>
          <a:prstGeom prst="roundRect">
            <a:avLst/>
          </a:prstGeom>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「かしこまりました。 それではお客様へお繋ぎください。 ご対応ありがとうございました。」</a:t>
            </a:r>
            <a:endParaRPr kumimoji="1" lang="ja-JP" altLang="en-US" b="1" dirty="0">
              <a:latin typeface="メイリオ" panose="020B0604030504040204" pitchFamily="50" charset="-128"/>
              <a:ea typeface="メイリオ" panose="020B0604030504040204" pitchFamily="50" charset="-128"/>
            </a:endParaRPr>
          </a:p>
        </p:txBody>
      </p:sp>
      <p:pic>
        <p:nvPicPr>
          <p:cNvPr id="34" name="図 33">
            <a:extLst>
              <a:ext uri="{FF2B5EF4-FFF2-40B4-BE49-F238E27FC236}">
                <a16:creationId xmlns:a16="http://schemas.microsoft.com/office/drawing/2014/main" id="{48B5AA94-3172-481B-83C4-1596030DC21F}"/>
              </a:ext>
            </a:extLst>
          </p:cNvPr>
          <p:cNvPicPr>
            <a:picLocks noChangeAspect="1"/>
          </p:cNvPicPr>
          <p:nvPr/>
        </p:nvPicPr>
        <p:blipFill>
          <a:blip r:embed="rId2"/>
          <a:stretch>
            <a:fillRect/>
          </a:stretch>
        </p:blipFill>
        <p:spPr>
          <a:xfrm>
            <a:off x="777148" y="1246746"/>
            <a:ext cx="470124" cy="894522"/>
          </a:xfrm>
          <a:prstGeom prst="rect">
            <a:avLst/>
          </a:prstGeom>
        </p:spPr>
      </p:pic>
      <p:pic>
        <p:nvPicPr>
          <p:cNvPr id="35" name="図 34">
            <a:extLst>
              <a:ext uri="{FF2B5EF4-FFF2-40B4-BE49-F238E27FC236}">
                <a16:creationId xmlns:a16="http://schemas.microsoft.com/office/drawing/2014/main" id="{52654A70-FBF0-43DA-8455-84FEC5344278}"/>
              </a:ext>
            </a:extLst>
          </p:cNvPr>
          <p:cNvPicPr>
            <a:picLocks noChangeAspect="1"/>
          </p:cNvPicPr>
          <p:nvPr/>
        </p:nvPicPr>
        <p:blipFill>
          <a:blip r:embed="rId3"/>
          <a:stretch>
            <a:fillRect/>
          </a:stretch>
        </p:blipFill>
        <p:spPr>
          <a:xfrm>
            <a:off x="774290" y="2744480"/>
            <a:ext cx="472982" cy="913099"/>
          </a:xfrm>
          <a:prstGeom prst="rect">
            <a:avLst/>
          </a:prstGeom>
        </p:spPr>
      </p:pic>
      <p:pic>
        <p:nvPicPr>
          <p:cNvPr id="36" name="図 35">
            <a:extLst>
              <a:ext uri="{FF2B5EF4-FFF2-40B4-BE49-F238E27FC236}">
                <a16:creationId xmlns:a16="http://schemas.microsoft.com/office/drawing/2014/main" id="{7539A5EA-985B-4027-8FC0-8F757DC9208E}"/>
              </a:ext>
            </a:extLst>
          </p:cNvPr>
          <p:cNvPicPr>
            <a:picLocks noChangeAspect="1"/>
          </p:cNvPicPr>
          <p:nvPr/>
        </p:nvPicPr>
        <p:blipFill>
          <a:blip r:embed="rId2"/>
          <a:stretch>
            <a:fillRect/>
          </a:stretch>
        </p:blipFill>
        <p:spPr>
          <a:xfrm>
            <a:off x="774290" y="3868027"/>
            <a:ext cx="470124" cy="894522"/>
          </a:xfrm>
          <a:prstGeom prst="rect">
            <a:avLst/>
          </a:prstGeom>
        </p:spPr>
      </p:pic>
      <p:pic>
        <p:nvPicPr>
          <p:cNvPr id="37" name="図 36">
            <a:extLst>
              <a:ext uri="{FF2B5EF4-FFF2-40B4-BE49-F238E27FC236}">
                <a16:creationId xmlns:a16="http://schemas.microsoft.com/office/drawing/2014/main" id="{B852E2FC-8E71-48EE-8BFD-C98EDAAE93D8}"/>
              </a:ext>
            </a:extLst>
          </p:cNvPr>
          <p:cNvPicPr>
            <a:picLocks noChangeAspect="1"/>
          </p:cNvPicPr>
          <p:nvPr/>
        </p:nvPicPr>
        <p:blipFill>
          <a:blip r:embed="rId3"/>
          <a:stretch>
            <a:fillRect/>
          </a:stretch>
        </p:blipFill>
        <p:spPr>
          <a:xfrm>
            <a:off x="774290" y="4801800"/>
            <a:ext cx="472982" cy="913099"/>
          </a:xfrm>
          <a:prstGeom prst="rect">
            <a:avLst/>
          </a:prstGeom>
        </p:spPr>
      </p:pic>
    </p:spTree>
    <p:extLst>
      <p:ext uri="{BB962C8B-B14F-4D97-AF65-F5344CB8AC3E}">
        <p14:creationId xmlns:p14="http://schemas.microsoft.com/office/powerpoint/2010/main" val="620236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四角形: 角を丸くする 25">
            <a:extLst>
              <a:ext uri="{FF2B5EF4-FFF2-40B4-BE49-F238E27FC236}">
                <a16:creationId xmlns:a16="http://schemas.microsoft.com/office/drawing/2014/main" id="{EB8ED521-B373-4367-B6C4-FCDE9C5364A2}"/>
              </a:ext>
            </a:extLst>
          </p:cNvPr>
          <p:cNvSpPr/>
          <p:nvPr/>
        </p:nvSpPr>
        <p:spPr>
          <a:xfrm>
            <a:off x="1911734" y="5949418"/>
            <a:ext cx="9656266" cy="828000"/>
          </a:xfrm>
          <a:prstGeom prst="roundRect">
            <a:avLst>
              <a:gd name="adj" fmla="val 17046"/>
            </a:avLst>
          </a:prstGeom>
          <a:ln w="57150">
            <a:solidFill>
              <a:schemeClr val="accent6"/>
            </a:solidFill>
          </a:ln>
        </p:spPr>
        <p:style>
          <a:lnRef idx="2">
            <a:schemeClr val="accent4"/>
          </a:lnRef>
          <a:fillRef idx="1">
            <a:schemeClr val="lt1"/>
          </a:fillRef>
          <a:effectRef idx="0">
            <a:schemeClr val="accent4"/>
          </a:effectRef>
          <a:fontRef idx="minor">
            <a:schemeClr val="dk1"/>
          </a:fontRef>
        </p:style>
        <p:txBody>
          <a:bodyPr lIns="180000" rtlCol="0" anchor="ctr" anchorCtr="0"/>
          <a:lstStyle/>
          <a:p>
            <a:r>
              <a:rPr lang="ja-JP" altLang="en-US" b="1" dirty="0">
                <a:latin typeface="メイリオ" panose="020B0604030504040204" pitchFamily="50" charset="-128"/>
                <a:ea typeface="メイリオ" panose="020B0604030504040204" pitchFamily="50" charset="-128"/>
              </a:rPr>
              <a:t>転送不可　　かけ直し依頼</a:t>
            </a:r>
            <a:endParaRPr lang="en-US" altLang="ja-JP" b="1" dirty="0">
              <a:latin typeface="メイリオ" panose="020B0604030504040204" pitchFamily="50" charset="-128"/>
              <a:ea typeface="メイリオ" panose="020B0604030504040204" pitchFamily="50" charset="-128"/>
            </a:endParaRPr>
          </a:p>
          <a:p>
            <a:r>
              <a:rPr kumimoji="1" lang="ja-JP" altLang="en-US" b="1" dirty="0">
                <a:highlight>
                  <a:srgbClr val="FFFF00"/>
                </a:highlight>
                <a:latin typeface="メイリオ" panose="020B0604030504040204" pitchFamily="50" charset="-128"/>
                <a:ea typeface="メイリオ" panose="020B0604030504040204" pitchFamily="50" charset="-128"/>
              </a:rPr>
              <a:t>「登録完了ハガキの内容については、専門窓口 ガイダンス</a:t>
            </a:r>
            <a:r>
              <a:rPr kumimoji="1" lang="en-US" altLang="ja-JP" b="1" dirty="0">
                <a:highlight>
                  <a:srgbClr val="FFFF00"/>
                </a:highlight>
                <a:latin typeface="メイリオ" panose="020B0604030504040204" pitchFamily="50" charset="-128"/>
                <a:ea typeface="メイリオ" panose="020B0604030504040204" pitchFamily="50" charset="-128"/>
              </a:rPr>
              <a:t>[2] </a:t>
            </a:r>
            <a:r>
              <a:rPr kumimoji="1" lang="ja-JP" altLang="en-US" b="1" dirty="0">
                <a:highlight>
                  <a:srgbClr val="FFFF00"/>
                </a:highlight>
                <a:latin typeface="メイリオ" panose="020B0604030504040204" pitchFamily="50" charset="-128"/>
                <a:ea typeface="メイリオ" panose="020B0604030504040204" pitchFamily="50" charset="-128"/>
              </a:rPr>
              <a:t>にお掛け直しください」</a:t>
            </a:r>
          </a:p>
        </p:txBody>
      </p:sp>
      <p:sp>
        <p:nvSpPr>
          <p:cNvPr id="25" name="四角形: 角を丸くする 24">
            <a:extLst>
              <a:ext uri="{FF2B5EF4-FFF2-40B4-BE49-F238E27FC236}">
                <a16:creationId xmlns:a16="http://schemas.microsoft.com/office/drawing/2014/main" id="{634779E0-0A96-4FBB-ADE0-F0FCDDDF027D}"/>
              </a:ext>
            </a:extLst>
          </p:cNvPr>
          <p:cNvSpPr/>
          <p:nvPr/>
        </p:nvSpPr>
        <p:spPr>
          <a:xfrm>
            <a:off x="1911734" y="4999051"/>
            <a:ext cx="9656266" cy="828001"/>
          </a:xfrm>
          <a:prstGeom prst="roundRect">
            <a:avLst>
              <a:gd name="adj" fmla="val 17046"/>
            </a:avLst>
          </a:prstGeom>
          <a:ln w="57150">
            <a:solidFill>
              <a:srgbClr val="3333FF"/>
            </a:solidFill>
          </a:ln>
        </p:spPr>
        <p:style>
          <a:lnRef idx="2">
            <a:schemeClr val="accent4"/>
          </a:lnRef>
          <a:fillRef idx="1">
            <a:schemeClr val="lt1"/>
          </a:fillRef>
          <a:effectRef idx="0">
            <a:schemeClr val="accent4"/>
          </a:effectRef>
          <a:fontRef idx="minor">
            <a:schemeClr val="dk1"/>
          </a:fontRef>
        </p:style>
        <p:txBody>
          <a:bodyPr lIns="180000" rtlCol="0" anchor="ctr" anchorCtr="0"/>
          <a:lstStyle/>
          <a:p>
            <a:r>
              <a:rPr lang="ja-JP" altLang="en-US" b="1" dirty="0">
                <a:latin typeface="メイリオ" panose="020B0604030504040204" pitchFamily="50" charset="-128"/>
                <a:ea typeface="メイリオ" panose="020B0604030504040204" pitchFamily="50" charset="-128"/>
              </a:rPr>
              <a:t>転送可　　</a:t>
            </a:r>
            <a:r>
              <a:rPr kumimoji="1" lang="en-US" altLang="ja-JP" b="1" dirty="0">
                <a:latin typeface="メイリオ" panose="020B0604030504040204" pitchFamily="50" charset="-128"/>
                <a:ea typeface="メイリオ" panose="020B0604030504040204" pitchFamily="50" charset="-128"/>
              </a:rPr>
              <a:t>【</a:t>
            </a:r>
            <a:r>
              <a:rPr kumimoji="1" lang="ja-JP" altLang="en-US" b="1" dirty="0">
                <a:latin typeface="メイリオ" panose="020B0604030504040204" pitchFamily="50" charset="-128"/>
                <a:ea typeface="メイリオ" panose="020B0604030504040204" pitchFamily="50" charset="-128"/>
              </a:rPr>
              <a:t>転送パターンＤ</a:t>
            </a:r>
            <a:r>
              <a:rPr kumimoji="1" lang="en-US" altLang="ja-JP" b="1" dirty="0">
                <a:latin typeface="メイリオ" panose="020B0604030504040204" pitchFamily="50" charset="-128"/>
                <a:ea typeface="メイリオ" panose="020B0604030504040204" pitchFamily="50" charset="-128"/>
              </a:rPr>
              <a:t>】</a:t>
            </a:r>
          </a:p>
          <a:p>
            <a:r>
              <a:rPr kumimoji="1" lang="ja-JP" altLang="en-US" b="1" dirty="0">
                <a:highlight>
                  <a:srgbClr val="FFFF00"/>
                </a:highlight>
                <a:latin typeface="メイリオ" panose="020B0604030504040204" pitchFamily="50" charset="-128"/>
                <a:ea typeface="メイリオ" panose="020B0604030504040204" pitchFamily="50" charset="-128"/>
              </a:rPr>
              <a:t>「登録完了ハガキの内容について、専門の窓口にお繋ぎします」</a:t>
            </a:r>
          </a:p>
        </p:txBody>
      </p:sp>
      <p:sp>
        <p:nvSpPr>
          <p:cNvPr id="9" name="四角形: 角を丸くする 8">
            <a:extLst>
              <a:ext uri="{FF2B5EF4-FFF2-40B4-BE49-F238E27FC236}">
                <a16:creationId xmlns:a16="http://schemas.microsoft.com/office/drawing/2014/main" id="{591FB110-CD91-4B5E-B7F1-7DCF0551B532}"/>
              </a:ext>
            </a:extLst>
          </p:cNvPr>
          <p:cNvSpPr/>
          <p:nvPr/>
        </p:nvSpPr>
        <p:spPr>
          <a:xfrm>
            <a:off x="514233" y="3388619"/>
            <a:ext cx="4581642" cy="1107721"/>
          </a:xfrm>
          <a:prstGeom prst="roundRect">
            <a:avLst>
              <a:gd name="adj" fmla="val 17046"/>
            </a:avLst>
          </a:prstGeom>
          <a:solidFill>
            <a:srgbClr val="3333FF"/>
          </a:solidFill>
          <a:ln/>
        </p:spPr>
        <p:style>
          <a:lnRef idx="3">
            <a:schemeClr val="lt1"/>
          </a:lnRef>
          <a:fillRef idx="1">
            <a:schemeClr val="accent4"/>
          </a:fillRef>
          <a:effectRef idx="1">
            <a:schemeClr val="accent4"/>
          </a:effectRef>
          <a:fontRef idx="minor">
            <a:schemeClr val="lt1"/>
          </a:fontRef>
        </p:style>
        <p:txBody>
          <a:bodyPr rtlCol="0" anchor="ctr" anchorCtr="0"/>
          <a:lstStyle/>
          <a:p>
            <a:pPr lvl="2"/>
            <a:r>
              <a:rPr kumimoji="1" lang="ja-JP" altLang="en-US" b="1" dirty="0">
                <a:latin typeface="メイリオ" panose="020B0604030504040204" pitchFamily="50" charset="-128"/>
                <a:ea typeface="メイリオ" panose="020B0604030504040204" pitchFamily="50" charset="-128"/>
              </a:rPr>
              <a:t>　いずれも「</a:t>
            </a:r>
            <a:r>
              <a:rPr kumimoji="1" lang="en-US" altLang="ja-JP" b="1" dirty="0">
                <a:latin typeface="メイリオ" panose="020B0604030504040204" pitchFamily="50" charset="-128"/>
                <a:ea typeface="メイリオ" panose="020B0604030504040204" pitchFamily="50" charset="-128"/>
              </a:rPr>
              <a:t>Yes</a:t>
            </a:r>
            <a:r>
              <a:rPr kumimoji="1" lang="ja-JP" altLang="en-US" b="1" dirty="0">
                <a:latin typeface="メイリオ" panose="020B0604030504040204" pitchFamily="50" charset="-128"/>
                <a:ea typeface="メイリオ" panose="020B0604030504040204" pitchFamily="50" charset="-128"/>
              </a:rPr>
              <a:t>」</a:t>
            </a:r>
            <a:endParaRPr kumimoji="1" lang="en-US" altLang="ja-JP" b="1" dirty="0">
              <a:latin typeface="メイリオ" panose="020B0604030504040204" pitchFamily="50" charset="-128"/>
              <a:ea typeface="メイリオ" panose="020B0604030504040204" pitchFamily="50" charset="-128"/>
            </a:endParaRPr>
          </a:p>
          <a:p>
            <a:pPr lvl="2"/>
            <a:endParaRPr lang="en-US" altLang="ja-JP" sz="1000" b="1" dirty="0">
              <a:latin typeface="メイリオ" panose="020B0604030504040204" pitchFamily="50" charset="-128"/>
              <a:ea typeface="メイリオ" panose="020B0604030504040204" pitchFamily="50" charset="-128"/>
            </a:endParaRPr>
          </a:p>
          <a:p>
            <a:pPr marL="180000" lvl="1"/>
            <a:r>
              <a:rPr lang="ja-JP" altLang="en-US" b="1" dirty="0">
                <a:latin typeface="メイリオ" panose="020B0604030504040204" pitchFamily="50" charset="-128"/>
                <a:ea typeface="メイリオ" panose="020B0604030504040204" pitchFamily="50" charset="-128"/>
              </a:rPr>
              <a:t>　　モニターで</a:t>
            </a:r>
            <a:r>
              <a:rPr lang="en-US" altLang="ja-JP" b="1" dirty="0">
                <a:latin typeface="メイリオ" panose="020B0604030504040204" pitchFamily="50" charset="-128"/>
                <a:ea typeface="メイリオ" panose="020B0604030504040204" pitchFamily="50" charset="-128"/>
              </a:rPr>
              <a:t>J</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a:t>
            </a:r>
            <a:r>
              <a:rPr lang="ja-JP" altLang="en-US" b="1" dirty="0">
                <a:latin typeface="メイリオ" panose="020B0604030504040204" pitchFamily="50" charset="-128"/>
                <a:ea typeface="メイリオ" panose="020B0604030504040204" pitchFamily="50" charset="-128"/>
              </a:rPr>
              <a:t>の状況確認</a:t>
            </a:r>
            <a:endParaRPr kumimoji="1" lang="ja-JP" altLang="en-US" b="1" dirty="0">
              <a:latin typeface="メイリオ" panose="020B0604030504040204" pitchFamily="50" charset="-128"/>
              <a:ea typeface="メイリオ" panose="020B0604030504040204" pitchFamily="50" charset="-128"/>
            </a:endParaRPr>
          </a:p>
        </p:txBody>
      </p:sp>
      <p:sp>
        <p:nvSpPr>
          <p:cNvPr id="2" name="タイトル 1">
            <a:extLst>
              <a:ext uri="{FF2B5EF4-FFF2-40B4-BE49-F238E27FC236}">
                <a16:creationId xmlns:a16="http://schemas.microsoft.com/office/drawing/2014/main" id="{6EB3A6EA-D186-474C-BCE1-4954D22A6464}"/>
              </a:ext>
            </a:extLst>
          </p:cNvPr>
          <p:cNvSpPr>
            <a:spLocks noGrp="1"/>
          </p:cNvSpPr>
          <p:nvPr>
            <p:ph type="title"/>
          </p:nvPr>
        </p:nvSpPr>
        <p:spPr>
          <a:xfrm>
            <a:off x="540000" y="180000"/>
            <a:ext cx="10080000" cy="468000"/>
          </a:xfrm>
        </p:spPr>
        <p:txBody>
          <a:bodyPr anchor="b" anchorCtr="0"/>
          <a:lstStyle/>
          <a:p>
            <a:r>
              <a:rPr kumimoji="1" lang="en-US" altLang="ja-JP" dirty="0"/>
              <a:t>S</a:t>
            </a:r>
            <a:r>
              <a:rPr kumimoji="1" lang="ja-JP" altLang="en-US" dirty="0"/>
              <a:t>→</a:t>
            </a:r>
            <a:r>
              <a:rPr kumimoji="1" lang="en-US" altLang="ja-JP" dirty="0"/>
              <a:t>J</a:t>
            </a:r>
            <a:r>
              <a:rPr kumimoji="1" lang="ja-JP" altLang="en-US" dirty="0"/>
              <a:t>転送　対象パターンＤ　</a:t>
            </a:r>
            <a:r>
              <a:rPr kumimoji="1" lang="en-US" altLang="ja-JP" dirty="0"/>
              <a:t>【</a:t>
            </a:r>
            <a:r>
              <a:rPr kumimoji="1" lang="ja-JP" altLang="en-US" dirty="0"/>
              <a:t>お客様対応</a:t>
            </a:r>
            <a:r>
              <a:rPr kumimoji="1" lang="en-US" altLang="ja-JP" dirty="0"/>
              <a:t>】</a:t>
            </a:r>
            <a:endParaRPr kumimoji="1" lang="ja-JP" altLang="en-US" b="1" dirty="0"/>
          </a:p>
        </p:txBody>
      </p:sp>
      <p:sp>
        <p:nvSpPr>
          <p:cNvPr id="6" name="四角形: 角を丸くする 5">
            <a:extLst>
              <a:ext uri="{FF2B5EF4-FFF2-40B4-BE49-F238E27FC236}">
                <a16:creationId xmlns:a16="http://schemas.microsoft.com/office/drawing/2014/main" id="{D5D9312C-DDEB-4D37-A1DA-DA830AC8B24A}"/>
              </a:ext>
            </a:extLst>
          </p:cNvPr>
          <p:cNvSpPr/>
          <p:nvPr/>
        </p:nvSpPr>
        <p:spPr>
          <a:xfrm>
            <a:off x="514234" y="1480397"/>
            <a:ext cx="11053766" cy="1776556"/>
          </a:xfrm>
          <a:prstGeom prst="roundRect">
            <a:avLst/>
          </a:prstGeom>
          <a:solidFill>
            <a:schemeClr val="bg1">
              <a:lumMod val="85000"/>
            </a:schemeClr>
          </a:solidFill>
          <a:ln/>
        </p:spPr>
        <p:style>
          <a:lnRef idx="3">
            <a:schemeClr val="lt1"/>
          </a:lnRef>
          <a:fillRef idx="1">
            <a:schemeClr val="accent2"/>
          </a:fillRef>
          <a:effectRef idx="1">
            <a:schemeClr val="accent2"/>
          </a:effectRef>
          <a:fontRef idx="minor">
            <a:schemeClr val="lt1"/>
          </a:fontRef>
        </p:style>
        <p:txBody>
          <a:bodyPr rtlCol="0" anchor="ctr"/>
          <a:lstStyle/>
          <a:p>
            <a:pPr marL="1080000" lvl="2"/>
            <a:r>
              <a:rPr kumimoji="1" lang="ja-JP" altLang="en-US" sz="2000" b="1" dirty="0">
                <a:solidFill>
                  <a:schemeClr val="tx1"/>
                </a:solidFill>
                <a:latin typeface="メイリオ" panose="020B0604030504040204" pitchFamily="50" charset="-128"/>
                <a:ea typeface="メイリオ" panose="020B0604030504040204" pitchFamily="50" charset="-128"/>
              </a:rPr>
              <a:t>入電時に確認する内容</a:t>
            </a:r>
            <a:endParaRPr lang="en-US" altLang="ja-JP" sz="2000" b="1" dirty="0">
              <a:solidFill>
                <a:schemeClr val="tx1"/>
              </a:solidFill>
              <a:latin typeface="メイリオ" panose="020B0604030504040204" pitchFamily="50" charset="-128"/>
              <a:ea typeface="メイリオ" panose="020B0604030504040204" pitchFamily="50" charset="-128"/>
            </a:endParaRPr>
          </a:p>
          <a:p>
            <a:pPr lvl="2">
              <a:lnSpc>
                <a:spcPts val="1000"/>
              </a:lnSpc>
            </a:pPr>
            <a:endParaRPr kumimoji="1" lang="en-US" altLang="ja-JP" sz="1000" b="1" dirty="0">
              <a:solidFill>
                <a:schemeClr val="tx1"/>
              </a:solidFill>
              <a:latin typeface="メイリオ" panose="020B0604030504040204" pitchFamily="50" charset="-128"/>
              <a:ea typeface="メイリオ" panose="020B0604030504040204" pitchFamily="50" charset="-128"/>
            </a:endParaRPr>
          </a:p>
          <a:p>
            <a:pPr marL="1080000" lvl="2"/>
            <a:r>
              <a:rPr kumimoji="1" lang="ja-JP" altLang="en-US" sz="2000" b="1" dirty="0">
                <a:solidFill>
                  <a:schemeClr val="tx1"/>
                </a:solidFill>
                <a:latin typeface="メイリオ" panose="020B0604030504040204" pitchFamily="50" charset="-128"/>
                <a:ea typeface="メイリオ" panose="020B0604030504040204" pitchFamily="50" charset="-128"/>
              </a:rPr>
              <a:t>① ご家族にも受信料アカウントを登録した方がいないこと</a:t>
            </a:r>
          </a:p>
          <a:p>
            <a:pPr marL="1080000" lvl="2"/>
            <a:r>
              <a:rPr kumimoji="1" lang="ja-JP" altLang="en-US" sz="2000" b="1" dirty="0">
                <a:solidFill>
                  <a:schemeClr val="tx1"/>
                </a:solidFill>
                <a:latin typeface="メイリオ" panose="020B0604030504040204" pitchFamily="50" charset="-128"/>
                <a:ea typeface="メイリオ" panose="020B0604030504040204" pitchFamily="50" charset="-128"/>
              </a:rPr>
              <a:t>② 受信料アカウントに関するメールが一切届いていないこと</a:t>
            </a:r>
            <a:endParaRPr kumimoji="1" lang="en-US" altLang="ja-JP" sz="2000" b="1" dirty="0">
              <a:solidFill>
                <a:schemeClr val="tx1"/>
              </a:solidFill>
              <a:latin typeface="メイリオ" panose="020B0604030504040204" pitchFamily="50" charset="-128"/>
              <a:ea typeface="メイリオ" panose="020B0604030504040204" pitchFamily="50" charset="-128"/>
            </a:endParaRPr>
          </a:p>
          <a:p>
            <a:pPr marL="1080000" lvl="2"/>
            <a:r>
              <a:rPr kumimoji="1" lang="ja-JP" altLang="en-US" sz="2000" b="1" dirty="0">
                <a:solidFill>
                  <a:schemeClr val="tx1"/>
                </a:solidFill>
                <a:latin typeface="メイリオ" panose="020B0604030504040204" pitchFamily="50" charset="-128"/>
                <a:ea typeface="メイリオ" panose="020B0604030504040204" pitchFamily="50" charset="-128"/>
              </a:rPr>
              <a:t>③ ハガキの宛名面に「受信料アカウント登録完了のお知らせです」と</a:t>
            </a:r>
            <a:endParaRPr kumimoji="1" lang="en-US" altLang="ja-JP" sz="2000" b="1" dirty="0">
              <a:solidFill>
                <a:schemeClr val="tx1"/>
              </a:solidFill>
              <a:latin typeface="メイリオ" panose="020B0604030504040204" pitchFamily="50" charset="-128"/>
              <a:ea typeface="メイリオ" panose="020B0604030504040204" pitchFamily="50" charset="-128"/>
            </a:endParaRPr>
          </a:p>
          <a:p>
            <a:pPr marL="1080000" lvl="2"/>
            <a:r>
              <a:rPr kumimoji="1" lang="ja-JP" altLang="en-US" sz="2000" b="1" dirty="0">
                <a:solidFill>
                  <a:schemeClr val="tx1"/>
                </a:solidFill>
                <a:latin typeface="メイリオ" panose="020B0604030504040204" pitchFamily="50" charset="-128"/>
                <a:ea typeface="メイリオ" panose="020B0604030504040204" pitchFamily="50" charset="-128"/>
              </a:rPr>
              <a:t>　 記載されていること</a:t>
            </a:r>
          </a:p>
        </p:txBody>
      </p:sp>
      <p:sp>
        <p:nvSpPr>
          <p:cNvPr id="10" name="四角形: 角を丸くする 9">
            <a:extLst>
              <a:ext uri="{FF2B5EF4-FFF2-40B4-BE49-F238E27FC236}">
                <a16:creationId xmlns:a16="http://schemas.microsoft.com/office/drawing/2014/main" id="{E3EE57B9-64E8-4BEE-8EEB-B49387564D59}"/>
              </a:ext>
            </a:extLst>
          </p:cNvPr>
          <p:cNvSpPr/>
          <p:nvPr/>
        </p:nvSpPr>
        <p:spPr>
          <a:xfrm>
            <a:off x="5191124" y="3093580"/>
            <a:ext cx="6376875" cy="1097960"/>
          </a:xfrm>
          <a:prstGeom prst="roundRect">
            <a:avLst/>
          </a:prstGeom>
          <a:solidFill>
            <a:srgbClr val="FF6600"/>
          </a:solidFill>
          <a:ln/>
        </p:spPr>
        <p:style>
          <a:lnRef idx="3">
            <a:schemeClr val="lt1"/>
          </a:lnRef>
          <a:fillRef idx="1">
            <a:schemeClr val="accent1"/>
          </a:fillRef>
          <a:effectRef idx="1">
            <a:schemeClr val="accent1"/>
          </a:effectRef>
          <a:fontRef idx="minor">
            <a:schemeClr val="lt1"/>
          </a:fontRef>
        </p:style>
        <p:txBody>
          <a:bodyPr rtlCol="0" anchor="ctr" anchorCtr="0"/>
          <a:lstStyle/>
          <a:p>
            <a:pPr lvl="2"/>
            <a:r>
              <a:rPr lang="ja-JP" altLang="en-US" b="1" dirty="0">
                <a:latin typeface="メイリオ" panose="020B0604030504040204" pitchFamily="50" charset="-128"/>
                <a:ea typeface="メイリオ" panose="020B0604030504040204" pitchFamily="50" charset="-128"/>
              </a:rPr>
              <a:t>　①または②が「</a:t>
            </a:r>
            <a:r>
              <a:rPr lang="en-US" altLang="ja-JP" b="1" dirty="0">
                <a:latin typeface="メイリオ" panose="020B0604030504040204" pitchFamily="50" charset="-128"/>
                <a:ea typeface="メイリオ" panose="020B0604030504040204" pitchFamily="50" charset="-128"/>
              </a:rPr>
              <a:t>No</a:t>
            </a:r>
            <a:r>
              <a:rPr lang="ja-JP" altLang="en-US" b="1" dirty="0">
                <a:latin typeface="メイリオ" panose="020B0604030504040204" pitchFamily="50" charset="-128"/>
                <a:ea typeface="メイリオ" panose="020B0604030504040204" pitchFamily="50" charset="-128"/>
              </a:rPr>
              <a:t>」</a:t>
            </a:r>
          </a:p>
          <a:p>
            <a:pPr lvl="2">
              <a:lnSpc>
                <a:spcPts val="500"/>
              </a:lnSpc>
            </a:pP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 　　　</a:t>
            </a:r>
            <a:r>
              <a:rPr lang="en-US" altLang="ja-JP" b="1" dirty="0">
                <a:latin typeface="メイリオ" panose="020B0604030504040204" pitchFamily="50" charset="-128"/>
                <a:ea typeface="メイリオ" panose="020B0604030504040204" pitchFamily="50" charset="-128"/>
              </a:rPr>
              <a:t>J</a:t>
            </a:r>
            <a:r>
              <a:rPr lang="ja-JP" altLang="en-US" b="1" dirty="0">
                <a:latin typeface="メイリオ" panose="020B0604030504040204" pitchFamily="50" charset="-128"/>
                <a:ea typeface="メイリオ" panose="020B0604030504040204" pitchFamily="50" charset="-128"/>
              </a:rPr>
              <a:t>アカの登録手続きを行い、契約締結を確認し、  </a:t>
            </a:r>
            <a:endParaRPr lang="en-US" altLang="ja-JP" b="1" dirty="0">
              <a:latin typeface="メイリオ" panose="020B0604030504040204" pitchFamily="50" charset="-128"/>
              <a:ea typeface="メイリオ" panose="020B0604030504040204" pitchFamily="50" charset="-128"/>
            </a:endParaRPr>
          </a:p>
          <a:p>
            <a:r>
              <a:rPr lang="en-US" altLang="ja-JP" b="1" dirty="0">
                <a:latin typeface="メイリオ" panose="020B0604030504040204" pitchFamily="50" charset="-128"/>
                <a:ea typeface="メイリオ" panose="020B0604030504040204" pitchFamily="50" charset="-128"/>
              </a:rPr>
              <a:t> </a:t>
            </a:r>
            <a:r>
              <a:rPr lang="ja-JP" altLang="en-US" b="1" dirty="0">
                <a:latin typeface="メイリオ" panose="020B0604030504040204" pitchFamily="50" charset="-128"/>
                <a:ea typeface="メイリオ" panose="020B0604030504040204" pitchFamily="50" charset="-128"/>
              </a:rPr>
              <a:t>　　　登録完了した際に送付するハガキであると案内</a:t>
            </a:r>
            <a:endParaRPr lang="en-US" altLang="ja-JP" b="1" dirty="0">
              <a:latin typeface="メイリオ" panose="020B0604030504040204" pitchFamily="50" charset="-128"/>
              <a:ea typeface="メイリオ" panose="020B0604030504040204" pitchFamily="50" charset="-128"/>
            </a:endParaRPr>
          </a:p>
        </p:txBody>
      </p:sp>
      <p:pic>
        <p:nvPicPr>
          <p:cNvPr id="11" name="グラフィックス 10" descr="コメント: いいね! 単色塗りつぶし">
            <a:extLst>
              <a:ext uri="{FF2B5EF4-FFF2-40B4-BE49-F238E27FC236}">
                <a16:creationId xmlns:a16="http://schemas.microsoft.com/office/drawing/2014/main" id="{00A8093F-FDC8-4741-8543-93082ADD77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9463" y="3340188"/>
            <a:ext cx="824106" cy="824106"/>
          </a:xfrm>
          <a:prstGeom prst="rect">
            <a:avLst/>
          </a:prstGeom>
        </p:spPr>
      </p:pic>
      <p:pic>
        <p:nvPicPr>
          <p:cNvPr id="12" name="グラフィックス 11" descr="コメント: 不満 単色塗りつぶし">
            <a:extLst>
              <a:ext uri="{FF2B5EF4-FFF2-40B4-BE49-F238E27FC236}">
                <a16:creationId xmlns:a16="http://schemas.microsoft.com/office/drawing/2014/main" id="{1B565141-3A2D-4E33-9796-649FE06C27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90361" y="3037928"/>
            <a:ext cx="792159" cy="824106"/>
          </a:xfrm>
          <a:prstGeom prst="rect">
            <a:avLst/>
          </a:prstGeom>
        </p:spPr>
      </p:pic>
      <p:cxnSp>
        <p:nvCxnSpPr>
          <p:cNvPr id="16" name="コネクタ: カギ線 15">
            <a:extLst>
              <a:ext uri="{FF2B5EF4-FFF2-40B4-BE49-F238E27FC236}">
                <a16:creationId xmlns:a16="http://schemas.microsoft.com/office/drawing/2014/main" id="{5D62B7AC-56A5-441A-B31E-E93A760F4885}"/>
              </a:ext>
            </a:extLst>
          </p:cNvPr>
          <p:cNvCxnSpPr>
            <a:cxnSpLocks/>
          </p:cNvCxnSpPr>
          <p:nvPr/>
        </p:nvCxnSpPr>
        <p:spPr>
          <a:xfrm rot="16200000" flipH="1">
            <a:off x="336843" y="4837198"/>
            <a:ext cx="2275618" cy="874163"/>
          </a:xfrm>
          <a:prstGeom prst="bentConnector2">
            <a:avLst/>
          </a:prstGeom>
          <a:ln w="38100">
            <a:solidFill>
              <a:srgbClr val="3333FF"/>
            </a:solidFill>
            <a:tailEnd type="stealth" w="lg" len="lg"/>
          </a:ln>
        </p:spPr>
        <p:style>
          <a:lnRef idx="1">
            <a:schemeClr val="accent4"/>
          </a:lnRef>
          <a:fillRef idx="0">
            <a:schemeClr val="accent4"/>
          </a:fillRef>
          <a:effectRef idx="0">
            <a:schemeClr val="accent4"/>
          </a:effectRef>
          <a:fontRef idx="minor">
            <a:schemeClr val="tx1"/>
          </a:fontRef>
        </p:style>
      </p:cxnSp>
      <p:cxnSp>
        <p:nvCxnSpPr>
          <p:cNvPr id="24" name="コネクタ: カギ線 23">
            <a:extLst>
              <a:ext uri="{FF2B5EF4-FFF2-40B4-BE49-F238E27FC236}">
                <a16:creationId xmlns:a16="http://schemas.microsoft.com/office/drawing/2014/main" id="{7468ED41-E168-463B-B9F2-032BB93608E5}"/>
              </a:ext>
            </a:extLst>
          </p:cNvPr>
          <p:cNvCxnSpPr>
            <a:cxnSpLocks/>
          </p:cNvCxnSpPr>
          <p:nvPr/>
        </p:nvCxnSpPr>
        <p:spPr>
          <a:xfrm rot="16200000" flipH="1">
            <a:off x="1060652" y="4572400"/>
            <a:ext cx="828000" cy="874164"/>
          </a:xfrm>
          <a:prstGeom prst="bentConnector2">
            <a:avLst/>
          </a:prstGeom>
          <a:ln w="38100">
            <a:solidFill>
              <a:srgbClr val="3333FF"/>
            </a:solidFill>
            <a:tailEnd type="stealth" w="lg" len="lg"/>
          </a:ln>
        </p:spPr>
        <p:style>
          <a:lnRef idx="1">
            <a:schemeClr val="accent4"/>
          </a:lnRef>
          <a:fillRef idx="0">
            <a:schemeClr val="accent4"/>
          </a:fillRef>
          <a:effectRef idx="0">
            <a:schemeClr val="accent4"/>
          </a:effectRef>
          <a:fontRef idx="minor">
            <a:schemeClr val="tx1"/>
          </a:fontRef>
        </p:style>
      </p:cxnSp>
      <p:pic>
        <p:nvPicPr>
          <p:cNvPr id="18" name="図 17">
            <a:extLst>
              <a:ext uri="{FF2B5EF4-FFF2-40B4-BE49-F238E27FC236}">
                <a16:creationId xmlns:a16="http://schemas.microsoft.com/office/drawing/2014/main" id="{BC79A1E8-63A4-428E-9D48-863E58F47DC1}"/>
              </a:ext>
            </a:extLst>
          </p:cNvPr>
          <p:cNvPicPr>
            <a:picLocks noChangeAspect="1"/>
          </p:cNvPicPr>
          <p:nvPr/>
        </p:nvPicPr>
        <p:blipFill>
          <a:blip r:embed="rId5"/>
          <a:stretch>
            <a:fillRect/>
          </a:stretch>
        </p:blipFill>
        <p:spPr>
          <a:xfrm>
            <a:off x="556084" y="1859044"/>
            <a:ext cx="860799" cy="956825"/>
          </a:xfrm>
          <a:prstGeom prst="rect">
            <a:avLst/>
          </a:prstGeom>
        </p:spPr>
      </p:pic>
      <p:pic>
        <p:nvPicPr>
          <p:cNvPr id="15" name="図 14">
            <a:extLst>
              <a:ext uri="{FF2B5EF4-FFF2-40B4-BE49-F238E27FC236}">
                <a16:creationId xmlns:a16="http://schemas.microsoft.com/office/drawing/2014/main" id="{983EE262-BE06-4F35-88DA-C7AA9B12257D}"/>
              </a:ext>
            </a:extLst>
          </p:cNvPr>
          <p:cNvPicPr>
            <a:picLocks noChangeAspect="1"/>
          </p:cNvPicPr>
          <p:nvPr/>
        </p:nvPicPr>
        <p:blipFill>
          <a:blip r:embed="rId6"/>
          <a:stretch>
            <a:fillRect/>
          </a:stretch>
        </p:blipFill>
        <p:spPr>
          <a:xfrm>
            <a:off x="10240852" y="1768135"/>
            <a:ext cx="758296" cy="1095528"/>
          </a:xfrm>
          <a:prstGeom prst="rect">
            <a:avLst/>
          </a:prstGeom>
        </p:spPr>
      </p:pic>
      <p:sp>
        <p:nvSpPr>
          <p:cNvPr id="20" name="四角形: 角を丸くする 19">
            <a:extLst>
              <a:ext uri="{FF2B5EF4-FFF2-40B4-BE49-F238E27FC236}">
                <a16:creationId xmlns:a16="http://schemas.microsoft.com/office/drawing/2014/main" id="{93BFA55D-46CB-4C6B-B0CD-C2F2B1194913}"/>
              </a:ext>
            </a:extLst>
          </p:cNvPr>
          <p:cNvSpPr/>
          <p:nvPr/>
        </p:nvSpPr>
        <p:spPr>
          <a:xfrm>
            <a:off x="514234" y="867288"/>
            <a:ext cx="11053766" cy="555329"/>
          </a:xfrm>
          <a:prstGeom prst="roundRect">
            <a:avLst>
              <a:gd name="adj" fmla="val 34424"/>
            </a:avLst>
          </a:prstGeom>
          <a:solidFill>
            <a:schemeClr val="bg1">
              <a:lumMod val="85000"/>
            </a:schemeClr>
          </a:solidFill>
          <a:ln/>
        </p:spPr>
        <p:style>
          <a:lnRef idx="3">
            <a:schemeClr val="lt1"/>
          </a:lnRef>
          <a:fillRef idx="1">
            <a:schemeClr val="accent2"/>
          </a:fillRef>
          <a:effectRef idx="1">
            <a:schemeClr val="accent2"/>
          </a:effectRef>
          <a:fontRef idx="minor">
            <a:schemeClr val="lt1"/>
          </a:fontRef>
        </p:style>
        <p:txBody>
          <a:bodyPr lIns="0" rIns="0" rtlCol="0" anchor="ctr" anchorCtr="1"/>
          <a:lstStyle/>
          <a:p>
            <a:r>
              <a:rPr kumimoji="1" lang="ja-JP" altLang="en-US" sz="2200" b="1" dirty="0">
                <a:solidFill>
                  <a:schemeClr val="tx1"/>
                </a:solidFill>
                <a:latin typeface="メイリオ" panose="020B0604030504040204" pitchFamily="50" charset="-128"/>
                <a:ea typeface="メイリオ" panose="020B0604030504040204" pitchFamily="50" charset="-128"/>
              </a:rPr>
              <a:t>転送パターンＤ　　身に覚えのない「受信料アカウント登録完了ハガキ」が届いた</a:t>
            </a:r>
          </a:p>
        </p:txBody>
      </p:sp>
      <p:sp>
        <p:nvSpPr>
          <p:cNvPr id="27" name="四角形: 角を丸くする 26">
            <a:extLst>
              <a:ext uri="{FF2B5EF4-FFF2-40B4-BE49-F238E27FC236}">
                <a16:creationId xmlns:a16="http://schemas.microsoft.com/office/drawing/2014/main" id="{A408BD0D-D62F-45C0-9CA3-6CF99DBAA3E3}"/>
              </a:ext>
            </a:extLst>
          </p:cNvPr>
          <p:cNvSpPr/>
          <p:nvPr/>
        </p:nvSpPr>
        <p:spPr>
          <a:xfrm>
            <a:off x="5191124" y="4198829"/>
            <a:ext cx="6376875" cy="754171"/>
          </a:xfrm>
          <a:prstGeom prst="roundRect">
            <a:avLst/>
          </a:prstGeom>
          <a:solidFill>
            <a:srgbClr val="FF6600"/>
          </a:solidFill>
          <a:ln/>
        </p:spPr>
        <p:style>
          <a:lnRef idx="3">
            <a:schemeClr val="lt1"/>
          </a:lnRef>
          <a:fillRef idx="1">
            <a:schemeClr val="accent1"/>
          </a:fillRef>
          <a:effectRef idx="1">
            <a:schemeClr val="accent1"/>
          </a:effectRef>
          <a:fontRef idx="minor">
            <a:schemeClr val="lt1"/>
          </a:fontRef>
        </p:style>
        <p:txBody>
          <a:bodyPr rtlCol="0" anchor="ctr" anchorCtr="0"/>
          <a:lstStyle/>
          <a:p>
            <a:pPr lvl="2"/>
            <a:r>
              <a:rPr lang="ja-JP" altLang="en-US" b="1" dirty="0">
                <a:latin typeface="メイリオ" panose="020B0604030504040204" pitchFamily="50" charset="-128"/>
                <a:ea typeface="メイリオ" panose="020B0604030504040204" pitchFamily="50" charset="-128"/>
              </a:rPr>
              <a:t>　③が「</a:t>
            </a:r>
            <a:r>
              <a:rPr lang="en-US" altLang="ja-JP" b="1" dirty="0">
                <a:latin typeface="メイリオ" panose="020B0604030504040204" pitchFamily="50" charset="-128"/>
                <a:ea typeface="メイリオ" panose="020B0604030504040204" pitchFamily="50" charset="-128"/>
              </a:rPr>
              <a:t>No</a:t>
            </a:r>
            <a:r>
              <a:rPr lang="ja-JP" altLang="en-US" b="1" dirty="0">
                <a:latin typeface="メイリオ" panose="020B0604030504040204" pitchFamily="50" charset="-128"/>
                <a:ea typeface="メイリオ" panose="020B0604030504040204" pitchFamily="50" charset="-128"/>
              </a:rPr>
              <a:t>」</a:t>
            </a:r>
          </a:p>
          <a:p>
            <a:pPr lvl="2">
              <a:lnSpc>
                <a:spcPts val="500"/>
              </a:lnSpc>
            </a:pPr>
            <a:endParaRPr lang="en-US" altLang="ja-JP" b="1" dirty="0">
              <a:latin typeface="メイリオ" panose="020B0604030504040204" pitchFamily="50" charset="-128"/>
              <a:ea typeface="メイリオ" panose="020B0604030504040204" pitchFamily="50" charset="-128"/>
            </a:endParaRPr>
          </a:p>
          <a:p>
            <a:pPr marL="72000"/>
            <a:r>
              <a:rPr lang="ja-JP" altLang="en-US" b="1" dirty="0">
                <a:latin typeface="メイリオ" panose="020B0604030504040204" pitchFamily="50" charset="-128"/>
                <a:ea typeface="メイリオ" panose="020B0604030504040204" pitchFamily="50" charset="-128"/>
              </a:rPr>
              <a:t> 　　宛名面に記載されている連絡先へお掛け直しを依頼</a:t>
            </a:r>
            <a:endParaRPr lang="en-US" altLang="ja-JP" b="1" dirty="0">
              <a:latin typeface="メイリオ" panose="020B0604030504040204" pitchFamily="50" charset="-128"/>
              <a:ea typeface="メイリオ" panose="020B0604030504040204" pitchFamily="50" charset="-128"/>
            </a:endParaRPr>
          </a:p>
        </p:txBody>
      </p:sp>
      <p:pic>
        <p:nvPicPr>
          <p:cNvPr id="28" name="グラフィックス 27" descr="コメント: 不満 単色塗りつぶし">
            <a:extLst>
              <a:ext uri="{FF2B5EF4-FFF2-40B4-BE49-F238E27FC236}">
                <a16:creationId xmlns:a16="http://schemas.microsoft.com/office/drawing/2014/main" id="{25620CBE-D888-44C1-B6FB-0DA5E21C94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83920" y="4136470"/>
            <a:ext cx="792159" cy="824106"/>
          </a:xfrm>
          <a:prstGeom prst="rect">
            <a:avLst/>
          </a:prstGeom>
        </p:spPr>
      </p:pic>
    </p:spTree>
    <p:extLst>
      <p:ext uri="{BB962C8B-B14F-4D97-AF65-F5344CB8AC3E}">
        <p14:creationId xmlns:p14="http://schemas.microsoft.com/office/powerpoint/2010/main" val="387722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B3A6EA-D186-474C-BCE1-4954D22A6464}"/>
              </a:ext>
            </a:extLst>
          </p:cNvPr>
          <p:cNvSpPr>
            <a:spLocks noGrp="1"/>
          </p:cNvSpPr>
          <p:nvPr>
            <p:ph type="title"/>
          </p:nvPr>
        </p:nvSpPr>
        <p:spPr>
          <a:xfrm>
            <a:off x="540000" y="180000"/>
            <a:ext cx="10080000" cy="468000"/>
          </a:xfrm>
        </p:spPr>
        <p:txBody>
          <a:bodyPr anchor="b" anchorCtr="0"/>
          <a:lstStyle/>
          <a:p>
            <a:r>
              <a:rPr kumimoji="1" lang="en-US" altLang="ja-JP" dirty="0"/>
              <a:t>S</a:t>
            </a:r>
            <a:r>
              <a:rPr kumimoji="1" lang="ja-JP" altLang="en-US" dirty="0"/>
              <a:t>→</a:t>
            </a:r>
            <a:r>
              <a:rPr kumimoji="1" lang="en-US" altLang="ja-JP" dirty="0"/>
              <a:t>J</a:t>
            </a:r>
            <a:r>
              <a:rPr kumimoji="1" lang="ja-JP" altLang="en-US" dirty="0"/>
              <a:t>転送　対象パターンＤ　</a:t>
            </a:r>
            <a:r>
              <a:rPr kumimoji="1" lang="en-US" altLang="ja-JP" dirty="0"/>
              <a:t>【</a:t>
            </a:r>
            <a:r>
              <a:rPr lang="ja-JP" altLang="en-US" dirty="0"/>
              <a:t>転送</a:t>
            </a:r>
            <a:r>
              <a:rPr kumimoji="1" lang="ja-JP" altLang="en-US" dirty="0"/>
              <a:t>対応</a:t>
            </a:r>
            <a:r>
              <a:rPr kumimoji="1" lang="en-US" altLang="ja-JP" dirty="0"/>
              <a:t>】</a:t>
            </a:r>
            <a:endParaRPr kumimoji="1" lang="ja-JP" altLang="en-US" b="1" dirty="0"/>
          </a:p>
        </p:txBody>
      </p:sp>
      <p:sp>
        <p:nvSpPr>
          <p:cNvPr id="27" name="四角形: 角を丸くする 26">
            <a:extLst>
              <a:ext uri="{FF2B5EF4-FFF2-40B4-BE49-F238E27FC236}">
                <a16:creationId xmlns:a16="http://schemas.microsoft.com/office/drawing/2014/main" id="{9E3F06D6-5C18-4982-B07E-0384615C131C}"/>
              </a:ext>
            </a:extLst>
          </p:cNvPr>
          <p:cNvSpPr/>
          <p:nvPr/>
        </p:nvSpPr>
        <p:spPr>
          <a:xfrm>
            <a:off x="538234" y="5910054"/>
            <a:ext cx="11005766" cy="747760"/>
          </a:xfrm>
          <a:prstGeom prst="roundRect">
            <a:avLst>
              <a:gd name="adj" fmla="val 6737"/>
            </a:avLst>
          </a:prstGeom>
          <a:ln w="57150">
            <a:solidFill>
              <a:schemeClr val="tx1">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nchorCtr="0"/>
          <a:lstStyle/>
          <a:p>
            <a:r>
              <a:rPr lang="ja-JP" altLang="en-US" b="1" dirty="0">
                <a:latin typeface="メイリオ" panose="020B0604030504040204" pitchFamily="50" charset="-128"/>
                <a:ea typeface="メイリオ" panose="020B0604030504040204" pitchFamily="50" charset="-128"/>
              </a:rPr>
              <a:t>●　パターンの伝達時には、聞き間違いの防止のため、パターンの内容を復唱</a:t>
            </a: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　入電者の特性など、必要な申し送り事項のみ伝達</a:t>
            </a:r>
            <a:endParaRPr lang="en-US" altLang="ja-JP" b="1" dirty="0">
              <a:solidFill>
                <a:schemeClr val="accent1">
                  <a:lumMod val="60000"/>
                  <a:lumOff val="40000"/>
                </a:schemeClr>
              </a:solidFill>
              <a:latin typeface="メイリオ" panose="020B0604030504040204" pitchFamily="50" charset="-128"/>
              <a:ea typeface="メイリオ" panose="020B0604030504040204" pitchFamily="50" charset="-128"/>
            </a:endParaRPr>
          </a:p>
        </p:txBody>
      </p:sp>
      <p:sp>
        <p:nvSpPr>
          <p:cNvPr id="17" name="四角形: 角を丸くする 16">
            <a:extLst>
              <a:ext uri="{FF2B5EF4-FFF2-40B4-BE49-F238E27FC236}">
                <a16:creationId xmlns:a16="http://schemas.microsoft.com/office/drawing/2014/main" id="{C9B5E974-7E1D-4145-9707-B5764E908CEC}"/>
              </a:ext>
            </a:extLst>
          </p:cNvPr>
          <p:cNvSpPr/>
          <p:nvPr/>
        </p:nvSpPr>
        <p:spPr>
          <a:xfrm>
            <a:off x="514234" y="985926"/>
            <a:ext cx="11053766" cy="1482043"/>
          </a:xfrm>
          <a:prstGeom prst="roundRect">
            <a:avLst/>
          </a:prstGeom>
          <a:solidFill>
            <a:srgbClr val="0070C0"/>
          </a:solidFill>
          <a:ln/>
        </p:spPr>
        <p:style>
          <a:lnRef idx="3">
            <a:schemeClr val="lt1"/>
          </a:lnRef>
          <a:fillRef idx="1">
            <a:schemeClr val="accent2"/>
          </a:fillRef>
          <a:effectRef idx="1">
            <a:schemeClr val="accent2"/>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a:t>
            </a:r>
            <a:r>
              <a:rPr lang="en-US" altLang="ja-JP" b="1" dirty="0">
                <a:latin typeface="メイリオ" panose="020B0604030504040204" pitchFamily="50" charset="-128"/>
                <a:ea typeface="メイリオ" panose="020B0604030504040204" pitchFamily="50" charset="-128"/>
              </a:rPr>
              <a:t>J</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a:t>
            </a:r>
            <a:r>
              <a:rPr lang="ja-JP" altLang="en-US" b="1" dirty="0">
                <a:latin typeface="メイリオ" panose="020B0604030504040204" pitchFamily="50" charset="-128"/>
                <a:ea typeface="メイリオ" panose="020B0604030504040204" pitchFamily="50" charset="-128"/>
              </a:rPr>
              <a:t>へ転送）</a:t>
            </a:r>
            <a:endParaRPr kumimoji="1"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「お疲れ様です。 </a:t>
            </a:r>
            <a:r>
              <a:rPr lang="en-US" altLang="ja-JP" b="1" dirty="0">
                <a:latin typeface="メイリオ" panose="020B0604030504040204" pitchFamily="50" charset="-128"/>
                <a:ea typeface="メイリオ" panose="020B0604030504040204" pitchFamily="50" charset="-128"/>
              </a:rPr>
              <a:t>S</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 </a:t>
            </a:r>
            <a:r>
              <a:rPr lang="ja-JP" altLang="en-US" b="1" dirty="0">
                <a:latin typeface="メイリオ" panose="020B0604030504040204" pitchFamily="50" charset="-128"/>
                <a:ea typeface="メイリオ" panose="020B0604030504040204" pitchFamily="50" charset="-128"/>
              </a:rPr>
              <a:t>担当の●●です。  </a:t>
            </a:r>
            <a:r>
              <a:rPr lang="ja-JP" altLang="en-US" b="1" dirty="0">
                <a:solidFill>
                  <a:srgbClr val="FFFF00"/>
                </a:solidFill>
                <a:latin typeface="メイリオ" panose="020B0604030504040204" pitchFamily="50" charset="-128"/>
                <a:ea typeface="メイリオ" panose="020B0604030504040204" pitchFamily="50" charset="-128"/>
              </a:rPr>
              <a:t>転送パターンＤ</a:t>
            </a:r>
            <a:r>
              <a:rPr lang="ja-JP" altLang="en-US" b="1" dirty="0">
                <a:latin typeface="メイリオ" panose="020B0604030504040204" pitchFamily="50" charset="-128"/>
                <a:ea typeface="メイリオ" panose="020B0604030504040204" pitchFamily="50" charset="-128"/>
              </a:rPr>
              <a:t>　のお客様です。</a:t>
            </a:r>
            <a:endParaRPr lang="en-US" altLang="ja-JP" b="1" dirty="0">
              <a:latin typeface="メイリオ" panose="020B0604030504040204" pitchFamily="50" charset="-128"/>
              <a:ea typeface="メイリオ" panose="020B0604030504040204" pitchFamily="50" charset="-128"/>
            </a:endParaRPr>
          </a:p>
          <a:p>
            <a:pPr lvl="2"/>
            <a:r>
              <a:rPr lang="en-US" altLang="ja-JP"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電話番号は、</a:t>
            </a:r>
            <a:r>
              <a:rPr lang="en-US" altLang="ja-JP" b="1" dirty="0">
                <a:solidFill>
                  <a:srgbClr val="FFFF00"/>
                </a:solidFill>
                <a:latin typeface="メイリオ" panose="020B0604030504040204" pitchFamily="50" charset="-128"/>
                <a:ea typeface="メイリオ" panose="020B0604030504040204" pitchFamily="50" charset="-128"/>
              </a:rPr>
              <a:t>XXX-XXXX-XXXX</a:t>
            </a:r>
            <a:r>
              <a:rPr kumimoji="1" lang="ja-JP" altLang="en-US" sz="1800" dirty="0">
                <a:latin typeface="メイリオ" panose="020B0604030504040204" pitchFamily="50" charset="-128"/>
                <a:ea typeface="メイリオ" panose="020B0604030504040204" pitchFamily="50" charset="-128"/>
              </a:rPr>
              <a:t> （</a:t>
            </a:r>
            <a:r>
              <a:rPr lang="ja-JP" altLang="en-US" sz="1800" dirty="0">
                <a:latin typeface="メイリオ" panose="020B0604030504040204" pitchFamily="50" charset="-128"/>
                <a:ea typeface="メイリオ" panose="020B0604030504040204" pitchFamily="50" charset="-128"/>
              </a:rPr>
              <a:t>番号通知で表示された着信電話番号</a:t>
            </a:r>
            <a:r>
              <a:rPr kumimoji="1" lang="ja-JP" altLang="en-US" sz="1800"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です。</a:t>
            </a:r>
            <a:endParaRPr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契約者本人 ／ 配偶者 ／ 本人（または配偶者）同席での第三者</a:t>
            </a:r>
            <a:r>
              <a:rPr lang="ja-JP" altLang="en-US" b="1" dirty="0">
                <a:latin typeface="メイリオ" panose="020B0604030504040204" pitchFamily="50" charset="-128"/>
                <a:ea typeface="メイリオ" panose="020B0604030504040204" pitchFamily="50" charset="-128"/>
              </a:rPr>
              <a:t>　からの入電です。」</a:t>
            </a:r>
            <a:endParaRPr lang="en-US" altLang="ja-JP" b="1" dirty="0">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9564FA8C-7C82-481C-998F-06DFAFAF5E08}"/>
              </a:ext>
            </a:extLst>
          </p:cNvPr>
          <p:cNvSpPr/>
          <p:nvPr/>
        </p:nvSpPr>
        <p:spPr>
          <a:xfrm>
            <a:off x="514234" y="2581926"/>
            <a:ext cx="11053766" cy="1253469"/>
          </a:xfrm>
          <a:prstGeom prst="roundRect">
            <a:avLst/>
          </a:prstGeom>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a:t>
            </a:r>
            <a:r>
              <a:rPr lang="ja-JP" altLang="en-US" b="1" dirty="0">
                <a:solidFill>
                  <a:srgbClr val="FFFF00"/>
                </a:solidFill>
                <a:latin typeface="メイリオ" panose="020B0604030504040204" pitchFamily="50" charset="-128"/>
                <a:ea typeface="メイリオ" panose="020B0604030504040204" pitchFamily="50" charset="-128"/>
              </a:rPr>
              <a:t>転送パターンＤ：身に覚えのないハガキが届いた</a:t>
            </a:r>
            <a:r>
              <a:rPr lang="ja-JP" altLang="en-US" b="1" dirty="0">
                <a:latin typeface="メイリオ" panose="020B0604030504040204" pitchFamily="50" charset="-128"/>
                <a:ea typeface="メイリオ" panose="020B0604030504040204" pitchFamily="50" charset="-128"/>
              </a:rPr>
              <a:t>お客様で、</a:t>
            </a:r>
            <a:r>
              <a:rPr lang="ja-JP" altLang="en-US" b="1" dirty="0">
                <a:solidFill>
                  <a:srgbClr val="FFFF00"/>
                </a:solidFill>
                <a:latin typeface="メイリオ" panose="020B0604030504040204" pitchFamily="50" charset="-128"/>
                <a:ea typeface="メイリオ" panose="020B0604030504040204" pitchFamily="50" charset="-128"/>
              </a:rPr>
              <a:t>電話番号</a:t>
            </a:r>
            <a:r>
              <a:rPr lang="en-US" altLang="ja-JP" b="1" dirty="0">
                <a:solidFill>
                  <a:srgbClr val="FFFF00"/>
                </a:solidFill>
                <a:latin typeface="メイリオ" panose="020B0604030504040204" pitchFamily="50" charset="-128"/>
                <a:ea typeface="メイリオ" panose="020B0604030504040204" pitchFamily="50" charset="-128"/>
              </a:rPr>
              <a:t>XXX-XXXX-XXXX</a:t>
            </a:r>
            <a:r>
              <a:rPr lang="ja-JP" altLang="en-US" b="1" dirty="0">
                <a:latin typeface="メイリオ" panose="020B0604030504040204" pitchFamily="50" charset="-128"/>
                <a:ea typeface="メイリオ" panose="020B0604030504040204" pitchFamily="50" charset="-128"/>
              </a:rPr>
              <a:t>、</a:t>
            </a:r>
            <a:endParaRPr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契約者本人 ／ 配偶者 ／ 本人（または配偶者）同席での第三者</a:t>
            </a:r>
            <a:r>
              <a:rPr lang="ja-JP" altLang="en-US" b="1" dirty="0">
                <a:latin typeface="メイリオ" panose="020B0604030504040204" pitchFamily="50" charset="-128"/>
                <a:ea typeface="メイリオ" panose="020B0604030504040204" pitchFamily="50" charset="-128"/>
              </a:rPr>
              <a:t>　からの入電ですね。</a:t>
            </a:r>
          </a:p>
          <a:p>
            <a:pPr lvl="2"/>
            <a:r>
              <a:rPr lang="en-US" altLang="ja-JP" b="1" dirty="0">
                <a:latin typeface="メイリオ" panose="020B0604030504040204" pitchFamily="50" charset="-128"/>
                <a:ea typeface="メイリオ" panose="020B0604030504040204" pitchFamily="50" charset="-128"/>
              </a:rPr>
              <a:t>   </a:t>
            </a:r>
            <a:r>
              <a:rPr lang="ja-JP" altLang="en-US" b="1" dirty="0">
                <a:latin typeface="メイリオ" panose="020B0604030504040204" pitchFamily="50" charset="-128"/>
                <a:ea typeface="メイリオ" panose="020B0604030504040204" pitchFamily="50" charset="-128"/>
              </a:rPr>
              <a:t>そのほか、申し送り事項はございますか？」</a:t>
            </a:r>
            <a:endParaRPr kumimoji="1" lang="ja-JP" altLang="en-US" b="1" dirty="0">
              <a:latin typeface="メイリオ" panose="020B0604030504040204" pitchFamily="50" charset="-128"/>
              <a:ea typeface="メイリオ" panose="020B0604030504040204" pitchFamily="50" charset="-128"/>
            </a:endParaRPr>
          </a:p>
        </p:txBody>
      </p:sp>
      <p:sp>
        <p:nvSpPr>
          <p:cNvPr id="21" name="四角形: 角を丸くする 20">
            <a:extLst>
              <a:ext uri="{FF2B5EF4-FFF2-40B4-BE49-F238E27FC236}">
                <a16:creationId xmlns:a16="http://schemas.microsoft.com/office/drawing/2014/main" id="{6C6213BD-48A4-4CFD-AFCC-9DF88AC9EECD}"/>
              </a:ext>
            </a:extLst>
          </p:cNvPr>
          <p:cNvSpPr/>
          <p:nvPr/>
        </p:nvSpPr>
        <p:spPr>
          <a:xfrm>
            <a:off x="514234" y="3946338"/>
            <a:ext cx="11053766" cy="776361"/>
          </a:xfrm>
          <a:prstGeom prst="roundRect">
            <a:avLst/>
          </a:prstGeom>
          <a:solidFill>
            <a:srgbClr val="0070C0"/>
          </a:solidFill>
          <a:ln/>
        </p:spPr>
        <p:style>
          <a:lnRef idx="3">
            <a:schemeClr val="lt1"/>
          </a:lnRef>
          <a:fillRef idx="1">
            <a:schemeClr val="accent2"/>
          </a:fillRef>
          <a:effectRef idx="1">
            <a:schemeClr val="accent2"/>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「～～～～です。 よろしくお願いします。」　</a:t>
            </a:r>
            <a:r>
              <a:rPr kumimoji="1" lang="ja-JP" altLang="en-US" b="1"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連携が必要な情報のみ申し送り）</a:t>
            </a:r>
            <a:endParaRPr kumimoji="1" lang="ja-JP" altLang="en-US" b="1" dirty="0">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8D3B9130-47DA-4A31-913B-1B605F85D70B}"/>
              </a:ext>
            </a:extLst>
          </p:cNvPr>
          <p:cNvSpPr/>
          <p:nvPr/>
        </p:nvSpPr>
        <p:spPr>
          <a:xfrm>
            <a:off x="538234" y="4870170"/>
            <a:ext cx="11053766" cy="776361"/>
          </a:xfrm>
          <a:prstGeom prst="roundRect">
            <a:avLst/>
          </a:prstGeom>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「かしこまりました。 それではお客様へお繋ぎください。 ご対応ありがとうございました。」</a:t>
            </a:r>
            <a:endParaRPr kumimoji="1" lang="ja-JP" altLang="en-US" b="1" dirty="0">
              <a:latin typeface="メイリオ" panose="020B0604030504040204" pitchFamily="50" charset="-128"/>
              <a:ea typeface="メイリオ" panose="020B0604030504040204" pitchFamily="50" charset="-128"/>
            </a:endParaRPr>
          </a:p>
        </p:txBody>
      </p:sp>
      <p:pic>
        <p:nvPicPr>
          <p:cNvPr id="24" name="図 23">
            <a:extLst>
              <a:ext uri="{FF2B5EF4-FFF2-40B4-BE49-F238E27FC236}">
                <a16:creationId xmlns:a16="http://schemas.microsoft.com/office/drawing/2014/main" id="{2A0C2BCB-5D34-4B0C-AB4A-13156E80DF64}"/>
              </a:ext>
            </a:extLst>
          </p:cNvPr>
          <p:cNvPicPr>
            <a:picLocks noChangeAspect="1"/>
          </p:cNvPicPr>
          <p:nvPr/>
        </p:nvPicPr>
        <p:blipFill>
          <a:blip r:embed="rId2"/>
          <a:stretch>
            <a:fillRect/>
          </a:stretch>
        </p:blipFill>
        <p:spPr>
          <a:xfrm>
            <a:off x="777148" y="1246746"/>
            <a:ext cx="470124" cy="894522"/>
          </a:xfrm>
          <a:prstGeom prst="rect">
            <a:avLst/>
          </a:prstGeom>
        </p:spPr>
      </p:pic>
      <p:pic>
        <p:nvPicPr>
          <p:cNvPr id="26" name="図 25">
            <a:extLst>
              <a:ext uri="{FF2B5EF4-FFF2-40B4-BE49-F238E27FC236}">
                <a16:creationId xmlns:a16="http://schemas.microsoft.com/office/drawing/2014/main" id="{440DF43D-FD28-49D2-874F-1923D874586F}"/>
              </a:ext>
            </a:extLst>
          </p:cNvPr>
          <p:cNvPicPr>
            <a:picLocks noChangeAspect="1"/>
          </p:cNvPicPr>
          <p:nvPr/>
        </p:nvPicPr>
        <p:blipFill>
          <a:blip r:embed="rId3"/>
          <a:stretch>
            <a:fillRect/>
          </a:stretch>
        </p:blipFill>
        <p:spPr>
          <a:xfrm>
            <a:off x="774290" y="2744480"/>
            <a:ext cx="472982" cy="913099"/>
          </a:xfrm>
          <a:prstGeom prst="rect">
            <a:avLst/>
          </a:prstGeom>
        </p:spPr>
      </p:pic>
      <p:pic>
        <p:nvPicPr>
          <p:cNvPr id="28" name="図 27">
            <a:extLst>
              <a:ext uri="{FF2B5EF4-FFF2-40B4-BE49-F238E27FC236}">
                <a16:creationId xmlns:a16="http://schemas.microsoft.com/office/drawing/2014/main" id="{E8A025B6-5509-4A7F-AA5E-216ABA4F0BE9}"/>
              </a:ext>
            </a:extLst>
          </p:cNvPr>
          <p:cNvPicPr>
            <a:picLocks noChangeAspect="1"/>
          </p:cNvPicPr>
          <p:nvPr/>
        </p:nvPicPr>
        <p:blipFill>
          <a:blip r:embed="rId2"/>
          <a:stretch>
            <a:fillRect/>
          </a:stretch>
        </p:blipFill>
        <p:spPr>
          <a:xfrm>
            <a:off x="774290" y="3868027"/>
            <a:ext cx="470124" cy="894522"/>
          </a:xfrm>
          <a:prstGeom prst="rect">
            <a:avLst/>
          </a:prstGeom>
        </p:spPr>
      </p:pic>
      <p:pic>
        <p:nvPicPr>
          <p:cNvPr id="29" name="図 28">
            <a:extLst>
              <a:ext uri="{FF2B5EF4-FFF2-40B4-BE49-F238E27FC236}">
                <a16:creationId xmlns:a16="http://schemas.microsoft.com/office/drawing/2014/main" id="{DFA38E8D-7913-4AD2-B65C-1C651F61F944}"/>
              </a:ext>
            </a:extLst>
          </p:cNvPr>
          <p:cNvPicPr>
            <a:picLocks noChangeAspect="1"/>
          </p:cNvPicPr>
          <p:nvPr/>
        </p:nvPicPr>
        <p:blipFill>
          <a:blip r:embed="rId3"/>
          <a:stretch>
            <a:fillRect/>
          </a:stretch>
        </p:blipFill>
        <p:spPr>
          <a:xfrm>
            <a:off x="774290" y="4801800"/>
            <a:ext cx="472982" cy="913099"/>
          </a:xfrm>
          <a:prstGeom prst="rect">
            <a:avLst/>
          </a:prstGeom>
        </p:spPr>
      </p:pic>
    </p:spTree>
    <p:extLst>
      <p:ext uri="{BB962C8B-B14F-4D97-AF65-F5344CB8AC3E}">
        <p14:creationId xmlns:p14="http://schemas.microsoft.com/office/powerpoint/2010/main" val="1408567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FDDD9-1555-9784-A2E3-0873709AD03E}"/>
            </a:ext>
          </a:extLst>
        </p:cNvPr>
        <p:cNvGrpSpPr/>
        <p:nvPr/>
      </p:nvGrpSpPr>
      <p:grpSpPr>
        <a:xfrm>
          <a:off x="0" y="0"/>
          <a:ext cx="0" cy="0"/>
          <a:chOff x="0" y="0"/>
          <a:chExt cx="0" cy="0"/>
        </a:xfrm>
      </p:grpSpPr>
      <p:sp>
        <p:nvSpPr>
          <p:cNvPr id="26" name="四角形: 角を丸くする 25">
            <a:extLst>
              <a:ext uri="{FF2B5EF4-FFF2-40B4-BE49-F238E27FC236}">
                <a16:creationId xmlns:a16="http://schemas.microsoft.com/office/drawing/2014/main" id="{806452E5-6980-54EA-B813-AB6B730B24EE}"/>
              </a:ext>
            </a:extLst>
          </p:cNvPr>
          <p:cNvSpPr/>
          <p:nvPr/>
        </p:nvSpPr>
        <p:spPr>
          <a:xfrm>
            <a:off x="1478101" y="5970297"/>
            <a:ext cx="10399267" cy="828000"/>
          </a:xfrm>
          <a:prstGeom prst="roundRect">
            <a:avLst>
              <a:gd name="adj" fmla="val 17046"/>
            </a:avLst>
          </a:prstGeom>
          <a:ln w="57150">
            <a:solidFill>
              <a:schemeClr val="accent6"/>
            </a:solidFill>
          </a:ln>
        </p:spPr>
        <p:style>
          <a:lnRef idx="2">
            <a:schemeClr val="accent4"/>
          </a:lnRef>
          <a:fillRef idx="1">
            <a:schemeClr val="lt1"/>
          </a:fillRef>
          <a:effectRef idx="0">
            <a:schemeClr val="accent4"/>
          </a:effectRef>
          <a:fontRef idx="minor">
            <a:schemeClr val="dk1"/>
          </a:fontRef>
        </p:style>
        <p:txBody>
          <a:bodyPr wrap="none" lIns="180000" rtlCol="0" anchor="ctr" anchorCtr="0">
            <a:noAutofit/>
          </a:bodyPr>
          <a:lstStyle/>
          <a:p>
            <a:r>
              <a:rPr lang="ja-JP" altLang="en-US" b="1" dirty="0">
                <a:latin typeface="メイリオ" panose="020B0604030504040204" pitchFamily="50" charset="-128"/>
                <a:ea typeface="メイリオ" panose="020B0604030504040204" pitchFamily="50" charset="-128"/>
              </a:rPr>
              <a:t>転送不可　　かけ直し依頼</a:t>
            </a:r>
            <a:endParaRPr lang="en-US" altLang="ja-JP" sz="1600" b="1" dirty="0">
              <a:latin typeface="メイリオ" panose="020B0604030504040204" pitchFamily="50" charset="-128"/>
              <a:ea typeface="メイリオ" panose="020B0604030504040204" pitchFamily="50" charset="-128"/>
            </a:endParaRPr>
          </a:p>
          <a:p>
            <a:r>
              <a:rPr kumimoji="1" lang="ja-JP" altLang="en-US" sz="1600" b="1" dirty="0">
                <a:highlight>
                  <a:srgbClr val="FFFF00"/>
                </a:highlight>
                <a:latin typeface="メイリオ" panose="020B0604030504040204" pitchFamily="50" charset="-128"/>
                <a:ea typeface="メイリオ" panose="020B0604030504040204" pitchFamily="50" charset="-128"/>
              </a:rPr>
              <a:t>「受信料アカウントのメールアドレス確認については、専門窓口 ガイダンス</a:t>
            </a:r>
            <a:r>
              <a:rPr kumimoji="1" lang="en-US" altLang="ja-JP" sz="1600" b="1" dirty="0">
                <a:highlight>
                  <a:srgbClr val="FFFF00"/>
                </a:highlight>
                <a:latin typeface="メイリオ" panose="020B0604030504040204" pitchFamily="50" charset="-128"/>
                <a:ea typeface="メイリオ" panose="020B0604030504040204" pitchFamily="50" charset="-128"/>
              </a:rPr>
              <a:t>[2] </a:t>
            </a:r>
            <a:r>
              <a:rPr kumimoji="1" lang="ja-JP" altLang="en-US" sz="1600" b="1" dirty="0">
                <a:highlight>
                  <a:srgbClr val="FFFF00"/>
                </a:highlight>
                <a:latin typeface="メイリオ" panose="020B0604030504040204" pitchFamily="50" charset="-128"/>
                <a:ea typeface="メイリオ" panose="020B0604030504040204" pitchFamily="50" charset="-128"/>
              </a:rPr>
              <a:t>にお掛け直しください」</a:t>
            </a:r>
          </a:p>
        </p:txBody>
      </p:sp>
      <p:sp>
        <p:nvSpPr>
          <p:cNvPr id="25" name="四角形: 角を丸くする 24">
            <a:extLst>
              <a:ext uri="{FF2B5EF4-FFF2-40B4-BE49-F238E27FC236}">
                <a16:creationId xmlns:a16="http://schemas.microsoft.com/office/drawing/2014/main" id="{906D2537-2250-0F57-497D-0459DED83072}"/>
              </a:ext>
            </a:extLst>
          </p:cNvPr>
          <p:cNvSpPr/>
          <p:nvPr/>
        </p:nvSpPr>
        <p:spPr>
          <a:xfrm>
            <a:off x="1478101" y="5048211"/>
            <a:ext cx="10399267" cy="828001"/>
          </a:xfrm>
          <a:prstGeom prst="roundRect">
            <a:avLst>
              <a:gd name="adj" fmla="val 17046"/>
            </a:avLst>
          </a:prstGeom>
          <a:ln w="57150">
            <a:solidFill>
              <a:srgbClr val="3333FF"/>
            </a:solidFill>
          </a:ln>
        </p:spPr>
        <p:style>
          <a:lnRef idx="2">
            <a:schemeClr val="accent4"/>
          </a:lnRef>
          <a:fillRef idx="1">
            <a:schemeClr val="lt1"/>
          </a:fillRef>
          <a:effectRef idx="0">
            <a:schemeClr val="accent4"/>
          </a:effectRef>
          <a:fontRef idx="minor">
            <a:schemeClr val="dk1"/>
          </a:fontRef>
        </p:style>
        <p:txBody>
          <a:bodyPr wrap="none" lIns="180000" rtlCol="0" anchor="ctr" anchorCtr="0">
            <a:noAutofit/>
          </a:bodyPr>
          <a:lstStyle/>
          <a:p>
            <a:r>
              <a:rPr lang="ja-JP" altLang="en-US" b="1" dirty="0">
                <a:latin typeface="メイリオ" panose="020B0604030504040204" pitchFamily="50" charset="-128"/>
                <a:ea typeface="メイリオ" panose="020B0604030504040204" pitchFamily="50" charset="-128"/>
              </a:rPr>
              <a:t>転送可　　</a:t>
            </a:r>
            <a:r>
              <a:rPr kumimoji="1" lang="en-US" altLang="ja-JP" b="1" dirty="0">
                <a:latin typeface="メイリオ" panose="020B0604030504040204" pitchFamily="50" charset="-128"/>
                <a:ea typeface="メイリオ" panose="020B0604030504040204" pitchFamily="50" charset="-128"/>
              </a:rPr>
              <a:t>【</a:t>
            </a:r>
            <a:r>
              <a:rPr kumimoji="1" lang="ja-JP" altLang="en-US" b="1" dirty="0">
                <a:latin typeface="メイリオ" panose="020B0604030504040204" pitchFamily="50" charset="-128"/>
                <a:ea typeface="メイリオ" panose="020B0604030504040204" pitchFamily="50" charset="-128"/>
              </a:rPr>
              <a:t>転送パターンＥ</a:t>
            </a:r>
            <a:r>
              <a:rPr kumimoji="1" lang="en-US" altLang="ja-JP" b="1" dirty="0">
                <a:latin typeface="メイリオ" panose="020B0604030504040204" pitchFamily="50" charset="-128"/>
                <a:ea typeface="メイリオ" panose="020B0604030504040204" pitchFamily="50" charset="-128"/>
              </a:rPr>
              <a:t>】</a:t>
            </a:r>
          </a:p>
          <a:p>
            <a:r>
              <a:rPr kumimoji="1" lang="ja-JP" altLang="en-US" b="1" dirty="0">
                <a:highlight>
                  <a:srgbClr val="FFFF00"/>
                </a:highlight>
                <a:latin typeface="メイリオ" panose="020B0604030504040204" pitchFamily="50" charset="-128"/>
                <a:ea typeface="メイリオ" panose="020B0604030504040204" pitchFamily="50" charset="-128"/>
              </a:rPr>
              <a:t>「受信料アカウントのメールアドレス確認について、専門の窓口にお繋ぎします」</a:t>
            </a:r>
          </a:p>
        </p:txBody>
      </p:sp>
      <p:sp>
        <p:nvSpPr>
          <p:cNvPr id="2" name="タイトル 1">
            <a:extLst>
              <a:ext uri="{FF2B5EF4-FFF2-40B4-BE49-F238E27FC236}">
                <a16:creationId xmlns:a16="http://schemas.microsoft.com/office/drawing/2014/main" id="{C9B3662D-312B-429E-4580-029E883757DF}"/>
              </a:ext>
            </a:extLst>
          </p:cNvPr>
          <p:cNvSpPr>
            <a:spLocks noGrp="1"/>
          </p:cNvSpPr>
          <p:nvPr>
            <p:ph type="title"/>
          </p:nvPr>
        </p:nvSpPr>
        <p:spPr>
          <a:xfrm>
            <a:off x="540000" y="180000"/>
            <a:ext cx="10080000" cy="468000"/>
          </a:xfrm>
        </p:spPr>
        <p:txBody>
          <a:bodyPr wrap="none" anchor="b" anchorCtr="0">
            <a:noAutofit/>
          </a:bodyPr>
          <a:lstStyle/>
          <a:p>
            <a:r>
              <a:rPr kumimoji="1" lang="en-US" altLang="ja-JP" dirty="0"/>
              <a:t>S</a:t>
            </a:r>
            <a:r>
              <a:rPr kumimoji="1" lang="ja-JP" altLang="en-US" dirty="0"/>
              <a:t>→</a:t>
            </a:r>
            <a:r>
              <a:rPr kumimoji="1" lang="en-US" altLang="ja-JP" dirty="0"/>
              <a:t>J</a:t>
            </a:r>
            <a:r>
              <a:rPr kumimoji="1" lang="ja-JP" altLang="en-US" dirty="0"/>
              <a:t>転送　対象パターンＥ　</a:t>
            </a:r>
            <a:r>
              <a:rPr kumimoji="1" lang="en-US" altLang="ja-JP" dirty="0"/>
              <a:t>【</a:t>
            </a:r>
            <a:r>
              <a:rPr kumimoji="1" lang="ja-JP" altLang="en-US" dirty="0"/>
              <a:t>お客様対応</a:t>
            </a:r>
            <a:r>
              <a:rPr kumimoji="1" lang="en-US" altLang="ja-JP" dirty="0"/>
              <a:t>】</a:t>
            </a:r>
            <a:endParaRPr kumimoji="1" lang="ja-JP" altLang="en-US" b="1" dirty="0"/>
          </a:p>
        </p:txBody>
      </p:sp>
      <p:sp>
        <p:nvSpPr>
          <p:cNvPr id="6" name="四角形: 角を丸くする 5">
            <a:extLst>
              <a:ext uri="{FF2B5EF4-FFF2-40B4-BE49-F238E27FC236}">
                <a16:creationId xmlns:a16="http://schemas.microsoft.com/office/drawing/2014/main" id="{8E794C4A-3ED4-5A29-42DF-A393758FAB16}"/>
              </a:ext>
            </a:extLst>
          </p:cNvPr>
          <p:cNvSpPr/>
          <p:nvPr/>
        </p:nvSpPr>
        <p:spPr>
          <a:xfrm>
            <a:off x="150829" y="1632661"/>
            <a:ext cx="11887200" cy="1624291"/>
          </a:xfrm>
          <a:prstGeom prst="roundRect">
            <a:avLst/>
          </a:prstGeom>
          <a:solidFill>
            <a:schemeClr val="bg1">
              <a:lumMod val="85000"/>
            </a:schemeClr>
          </a:solidFill>
          <a:ln/>
        </p:spPr>
        <p:style>
          <a:lnRef idx="3">
            <a:schemeClr val="lt1"/>
          </a:lnRef>
          <a:fillRef idx="1">
            <a:schemeClr val="accent2"/>
          </a:fillRef>
          <a:effectRef idx="1">
            <a:schemeClr val="accent2"/>
          </a:effectRef>
          <a:fontRef idx="minor">
            <a:schemeClr val="lt1"/>
          </a:fontRef>
        </p:style>
        <p:txBody>
          <a:bodyPr wrap="none" rtlCol="0" anchor="ctr">
            <a:noAutofit/>
          </a:bodyPr>
          <a:lstStyle/>
          <a:p>
            <a:pPr marL="1080000" lvl="2"/>
            <a:r>
              <a:rPr kumimoji="1" lang="ja-JP" altLang="en-US" b="1" dirty="0">
                <a:solidFill>
                  <a:schemeClr val="tx1"/>
                </a:solidFill>
                <a:latin typeface="メイリオ" panose="020B0604030504040204" pitchFamily="50" charset="-128"/>
                <a:ea typeface="メイリオ" panose="020B0604030504040204" pitchFamily="50" charset="-128"/>
              </a:rPr>
              <a:t>入電時に確認する内容</a:t>
            </a:r>
            <a:endParaRPr lang="en-US" altLang="ja-JP" b="1" dirty="0">
              <a:solidFill>
                <a:schemeClr val="tx1"/>
              </a:solidFill>
              <a:latin typeface="メイリオ" panose="020B0604030504040204" pitchFamily="50" charset="-128"/>
              <a:ea typeface="メイリオ" panose="020B0604030504040204" pitchFamily="50" charset="-128"/>
            </a:endParaRPr>
          </a:p>
          <a:p>
            <a:pPr lvl="2">
              <a:lnSpc>
                <a:spcPts val="700"/>
              </a:lnSpc>
            </a:pPr>
            <a:endParaRPr kumimoji="1" lang="en-US" altLang="ja-JP" sz="900" b="1" dirty="0">
              <a:solidFill>
                <a:schemeClr val="tx1"/>
              </a:solidFill>
              <a:latin typeface="メイリオ" panose="020B0604030504040204" pitchFamily="50" charset="-128"/>
              <a:ea typeface="メイリオ" panose="020B0604030504040204" pitchFamily="50" charset="-128"/>
            </a:endParaRPr>
          </a:p>
          <a:p>
            <a:pPr marL="1422900" lvl="2" indent="-342900">
              <a:buFont typeface="+mj-ea"/>
              <a:buAutoNum type="circleNumDbPlain"/>
            </a:pPr>
            <a:r>
              <a:rPr kumimoji="1" lang="ja-JP" altLang="en-US" b="1" dirty="0">
                <a:solidFill>
                  <a:schemeClr val="tx1"/>
                </a:solidFill>
                <a:latin typeface="メイリオ" panose="020B0604030504040204" pitchFamily="50" charset="-128"/>
                <a:ea typeface="メイリオ" panose="020B0604030504040204" pitchFamily="50" charset="-128"/>
              </a:rPr>
              <a:t>新規で</a:t>
            </a:r>
            <a:r>
              <a:rPr kumimoji="1" lang="en-US" altLang="ja-JP" b="1" dirty="0">
                <a:solidFill>
                  <a:schemeClr val="tx1"/>
                </a:solidFill>
                <a:latin typeface="メイリオ" panose="020B0604030504040204" pitchFamily="50" charset="-128"/>
                <a:ea typeface="メイリオ" panose="020B0604030504040204" pitchFamily="50" charset="-128"/>
              </a:rPr>
              <a:t>NHK ONE</a:t>
            </a:r>
            <a:r>
              <a:rPr kumimoji="1" lang="ja-JP" altLang="en-US" b="1" dirty="0">
                <a:solidFill>
                  <a:schemeClr val="tx1"/>
                </a:solidFill>
                <a:latin typeface="メイリオ" panose="020B0604030504040204" pitchFamily="50" charset="-128"/>
                <a:ea typeface="メイリオ" panose="020B0604030504040204" pitchFamily="50" charset="-128"/>
              </a:rPr>
              <a:t>アカウントを登録済み（もしくは</a:t>
            </a:r>
            <a:r>
              <a:rPr kumimoji="1" lang="en-US" altLang="ja-JP" b="1" dirty="0">
                <a:solidFill>
                  <a:schemeClr val="tx1"/>
                </a:solidFill>
                <a:latin typeface="メイリオ" panose="020B0604030504040204" pitchFamily="50" charset="-128"/>
                <a:ea typeface="メイリオ" panose="020B0604030504040204" pitchFamily="50" charset="-128"/>
              </a:rPr>
              <a:t>26</a:t>
            </a:r>
            <a:r>
              <a:rPr kumimoji="1" lang="ja-JP" altLang="en-US" b="1" dirty="0">
                <a:solidFill>
                  <a:schemeClr val="tx1"/>
                </a:solidFill>
                <a:latin typeface="メイリオ" panose="020B0604030504040204" pitchFamily="50" charset="-128"/>
                <a:ea typeface="メイリオ" panose="020B0604030504040204" pitchFamily="50" charset="-128"/>
              </a:rPr>
              <a:t>年</a:t>
            </a:r>
            <a:r>
              <a:rPr kumimoji="1" lang="en-US" altLang="ja-JP" b="1" dirty="0">
                <a:solidFill>
                  <a:schemeClr val="tx1"/>
                </a:solidFill>
                <a:latin typeface="メイリオ" panose="020B0604030504040204" pitchFamily="50" charset="-128"/>
                <a:ea typeface="メイリオ" panose="020B0604030504040204" pitchFamily="50" charset="-128"/>
              </a:rPr>
              <a:t>9</a:t>
            </a:r>
            <a:r>
              <a:rPr kumimoji="1" lang="ja-JP" altLang="en-US" b="1" dirty="0">
                <a:solidFill>
                  <a:schemeClr val="tx1"/>
                </a:solidFill>
                <a:latin typeface="メイリオ" panose="020B0604030504040204" pitchFamily="50" charset="-128"/>
                <a:ea typeface="メイリオ" panose="020B0604030504040204" pitchFamily="50" charset="-128"/>
              </a:rPr>
              <a:t>月以前に移行済み）であること</a:t>
            </a:r>
          </a:p>
          <a:p>
            <a:pPr marL="1422900" lvl="2" indent="-342900">
              <a:buFont typeface="+mj-ea"/>
              <a:buAutoNum type="circleNumDbPlain"/>
            </a:pPr>
            <a:r>
              <a:rPr kumimoji="1" lang="en-US" altLang="ja-JP" b="1" dirty="0">
                <a:solidFill>
                  <a:schemeClr val="tx1"/>
                </a:solidFill>
                <a:latin typeface="メイリオ" panose="020B0604030504040204" pitchFamily="50" charset="-128"/>
                <a:ea typeface="メイリオ" panose="020B0604030504040204" pitchFamily="50" charset="-128"/>
              </a:rPr>
              <a:t>S-J</a:t>
            </a:r>
            <a:r>
              <a:rPr kumimoji="1" lang="ja-JP" altLang="en-US" b="1" dirty="0">
                <a:solidFill>
                  <a:schemeClr val="tx1"/>
                </a:solidFill>
                <a:latin typeface="メイリオ" panose="020B0604030504040204" pitchFamily="50" charset="-128"/>
                <a:ea typeface="メイリオ" panose="020B0604030504040204" pitchFamily="50" charset="-128"/>
              </a:rPr>
              <a:t>連携済みであること（お客様から口頭での申し出ベース、可能性があれば</a:t>
            </a:r>
            <a:r>
              <a:rPr kumimoji="1" lang="en-US" altLang="ja-JP" b="1" dirty="0">
                <a:solidFill>
                  <a:schemeClr val="tx1"/>
                </a:solidFill>
                <a:latin typeface="メイリオ" panose="020B0604030504040204" pitchFamily="50" charset="-128"/>
                <a:ea typeface="メイリオ" panose="020B0604030504040204" pitchFamily="50" charset="-128"/>
              </a:rPr>
              <a:t>OK</a:t>
            </a:r>
            <a:r>
              <a:rPr kumimoji="1" lang="ja-JP" altLang="en-US" b="1" dirty="0">
                <a:solidFill>
                  <a:schemeClr val="tx1"/>
                </a:solidFill>
                <a:latin typeface="メイリオ" panose="020B0604030504040204" pitchFamily="50" charset="-128"/>
                <a:ea typeface="メイリオ" panose="020B0604030504040204" pitchFamily="50" charset="-128"/>
              </a:rPr>
              <a:t>）</a:t>
            </a:r>
          </a:p>
          <a:p>
            <a:pPr marL="1422900" lvl="2" indent="-342900">
              <a:buFont typeface="+mj-ea"/>
              <a:buAutoNum type="circleNumDbPlain"/>
            </a:pPr>
            <a:r>
              <a:rPr kumimoji="1" lang="ja-JP" altLang="en-US" b="1" dirty="0">
                <a:solidFill>
                  <a:schemeClr val="tx1"/>
                </a:solidFill>
                <a:latin typeface="メイリオ" panose="020B0604030504040204" pitchFamily="50" charset="-128"/>
                <a:ea typeface="メイリオ" panose="020B0604030504040204" pitchFamily="50" charset="-128"/>
              </a:rPr>
              <a:t>利用している</a:t>
            </a:r>
            <a:r>
              <a:rPr kumimoji="1" lang="en-US" altLang="ja-JP" b="1" dirty="0">
                <a:solidFill>
                  <a:schemeClr val="tx1"/>
                </a:solidFill>
                <a:latin typeface="メイリオ" panose="020B0604030504040204" pitchFamily="50" charset="-128"/>
                <a:ea typeface="メイリオ" panose="020B0604030504040204" pitchFamily="50" charset="-128"/>
              </a:rPr>
              <a:t>S</a:t>
            </a:r>
            <a:r>
              <a:rPr kumimoji="1" lang="ja-JP" altLang="en-US" b="1" dirty="0">
                <a:solidFill>
                  <a:schemeClr val="tx1"/>
                </a:solidFill>
                <a:latin typeface="メイリオ" panose="020B0604030504040204" pitchFamily="50" charset="-128"/>
                <a:ea typeface="メイリオ" panose="020B0604030504040204" pitchFamily="50" charset="-128"/>
              </a:rPr>
              <a:t>アカと</a:t>
            </a:r>
            <a:r>
              <a:rPr kumimoji="1" lang="en-US" altLang="ja-JP" b="1" dirty="0">
                <a:solidFill>
                  <a:schemeClr val="tx1"/>
                </a:solidFill>
                <a:latin typeface="メイリオ" panose="020B0604030504040204" pitchFamily="50" charset="-128"/>
                <a:ea typeface="メイリオ" panose="020B0604030504040204" pitchFamily="50" charset="-128"/>
              </a:rPr>
              <a:t>J</a:t>
            </a:r>
            <a:r>
              <a:rPr kumimoji="1" lang="ja-JP" altLang="en-US" b="1" dirty="0">
                <a:solidFill>
                  <a:schemeClr val="tx1"/>
                </a:solidFill>
                <a:latin typeface="メイリオ" panose="020B0604030504040204" pitchFamily="50" charset="-128"/>
                <a:ea typeface="メイリオ" panose="020B0604030504040204" pitchFamily="50" charset="-128"/>
              </a:rPr>
              <a:t>アカのメアドが同一である</a:t>
            </a:r>
            <a:br>
              <a:rPr kumimoji="1" lang="en-US" altLang="ja-JP" b="1" dirty="0">
                <a:solidFill>
                  <a:schemeClr val="tx1"/>
                </a:solidFill>
                <a:latin typeface="メイリオ" panose="020B0604030504040204" pitchFamily="50" charset="-128"/>
                <a:ea typeface="メイリオ" panose="020B0604030504040204" pitchFamily="50" charset="-128"/>
              </a:rPr>
            </a:br>
            <a:r>
              <a:rPr kumimoji="1" lang="ja-JP" altLang="en-US" b="1" dirty="0">
                <a:solidFill>
                  <a:schemeClr val="tx1"/>
                </a:solidFill>
                <a:latin typeface="メイリオ" panose="020B0604030504040204" pitchFamily="50" charset="-128"/>
                <a:ea typeface="メイリオ" panose="020B0604030504040204" pitchFamily="50" charset="-128"/>
              </a:rPr>
              <a:t>可能性があるなら</a:t>
            </a:r>
            <a:r>
              <a:rPr kumimoji="1" lang="en-US" altLang="ja-JP" b="1" dirty="0">
                <a:solidFill>
                  <a:schemeClr val="tx1"/>
                </a:solidFill>
                <a:latin typeface="メイリオ" panose="020B0604030504040204" pitchFamily="50" charset="-128"/>
                <a:ea typeface="メイリオ" panose="020B0604030504040204" pitchFamily="50" charset="-128"/>
              </a:rPr>
              <a:t>J</a:t>
            </a:r>
            <a:r>
              <a:rPr kumimoji="1" lang="ja-JP" altLang="en-US" b="1" dirty="0">
                <a:solidFill>
                  <a:schemeClr val="tx1"/>
                </a:solidFill>
                <a:latin typeface="メイリオ" panose="020B0604030504040204" pitchFamily="50" charset="-128"/>
                <a:ea typeface="メイリオ" panose="020B0604030504040204" pitchFamily="50" charset="-128"/>
              </a:rPr>
              <a:t>アカ</a:t>
            </a:r>
            <a:r>
              <a:rPr kumimoji="1" lang="en-US" altLang="ja-JP" b="1" dirty="0">
                <a:solidFill>
                  <a:schemeClr val="tx1"/>
                </a:solidFill>
                <a:latin typeface="メイリオ" panose="020B0604030504040204" pitchFamily="50" charset="-128"/>
                <a:ea typeface="メイリオ" panose="020B0604030504040204" pitchFamily="50" charset="-128"/>
              </a:rPr>
              <a:t>CC</a:t>
            </a:r>
            <a:r>
              <a:rPr kumimoji="1" lang="ja-JP" altLang="en-US" b="1" dirty="0">
                <a:solidFill>
                  <a:schemeClr val="tx1"/>
                </a:solidFill>
                <a:latin typeface="メイリオ" panose="020B0604030504040204" pitchFamily="50" charset="-128"/>
                <a:ea typeface="メイリオ" panose="020B0604030504040204" pitchFamily="50" charset="-128"/>
              </a:rPr>
              <a:t>に照会を掛けられる旨を案内</a:t>
            </a:r>
            <a:r>
              <a:rPr kumimoji="1" lang="en-US" altLang="ja-JP" b="1" dirty="0">
                <a:solidFill>
                  <a:schemeClr val="tx1"/>
                </a:solidFill>
                <a:latin typeface="メイリオ" panose="020B0604030504040204" pitchFamily="50" charset="-128"/>
                <a:ea typeface="メイリオ" panose="020B0604030504040204" pitchFamily="50" charset="-128"/>
              </a:rPr>
              <a:t>(</a:t>
            </a:r>
            <a:r>
              <a:rPr kumimoji="1" lang="ja-JP" altLang="en-US" b="1" dirty="0">
                <a:solidFill>
                  <a:schemeClr val="tx1"/>
                </a:solidFill>
                <a:latin typeface="メイリオ" panose="020B0604030504040204" pitchFamily="50" charset="-128"/>
                <a:ea typeface="メイリオ" panose="020B0604030504040204" pitchFamily="50" charset="-128"/>
              </a:rPr>
              <a:t>お客様の了承をいただく</a:t>
            </a:r>
            <a:r>
              <a:rPr kumimoji="1" lang="en-US" altLang="ja-JP" b="1" dirty="0">
                <a:solidFill>
                  <a:schemeClr val="tx1"/>
                </a:solidFill>
                <a:latin typeface="メイリオ" panose="020B0604030504040204" pitchFamily="50" charset="-128"/>
                <a:ea typeface="メイリオ" panose="020B0604030504040204" pitchFamily="50" charset="-128"/>
              </a:rPr>
              <a:t>)</a:t>
            </a:r>
            <a:endParaRPr kumimoji="1" lang="ja-JP" altLang="en-US" b="1" dirty="0">
              <a:solidFill>
                <a:schemeClr val="tx1"/>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684DF56A-C993-C25D-3967-BBFFBF1EA66B}"/>
              </a:ext>
            </a:extLst>
          </p:cNvPr>
          <p:cNvSpPr/>
          <p:nvPr/>
        </p:nvSpPr>
        <p:spPr>
          <a:xfrm>
            <a:off x="5191124" y="3272637"/>
            <a:ext cx="6686244" cy="468000"/>
          </a:xfrm>
          <a:prstGeom prst="roundRect">
            <a:avLst/>
          </a:prstGeom>
          <a:solidFill>
            <a:srgbClr val="FF6600"/>
          </a:solidFill>
          <a:ln/>
        </p:spPr>
        <p:style>
          <a:lnRef idx="3">
            <a:schemeClr val="lt1"/>
          </a:lnRef>
          <a:fillRef idx="1">
            <a:schemeClr val="accent1"/>
          </a:fillRef>
          <a:effectRef idx="1">
            <a:schemeClr val="accent1"/>
          </a:effectRef>
          <a:fontRef idx="minor">
            <a:schemeClr val="lt1"/>
          </a:fontRef>
        </p:style>
        <p:txBody>
          <a:bodyPr wrap="none" rtlCol="0" anchor="ctr" anchorCtr="0">
            <a:noAutofit/>
          </a:bodyPr>
          <a:lstStyle/>
          <a:p>
            <a:pPr lvl="2"/>
            <a:r>
              <a:rPr lang="ja-JP" altLang="en-US" sz="1600" b="1" dirty="0">
                <a:latin typeface="メイリオ" panose="020B0604030504040204" pitchFamily="50" charset="-128"/>
                <a:ea typeface="メイリオ" panose="020B0604030504040204" pitchFamily="50" charset="-128"/>
              </a:rPr>
              <a:t>　①が「</a:t>
            </a:r>
            <a:r>
              <a:rPr lang="en-US" altLang="ja-JP" sz="1600" b="1" dirty="0">
                <a:latin typeface="メイリオ" panose="020B0604030504040204" pitchFamily="50" charset="-128"/>
                <a:ea typeface="メイリオ" panose="020B0604030504040204" pitchFamily="50" charset="-128"/>
              </a:rPr>
              <a:t>No</a:t>
            </a:r>
            <a:r>
              <a:rPr lang="ja-JP" altLang="en-US" sz="1600" b="1" dirty="0">
                <a:latin typeface="メイリオ" panose="020B0604030504040204" pitchFamily="50" charset="-128"/>
                <a:ea typeface="メイリオ" panose="020B0604030504040204" pitchFamily="50" charset="-128"/>
              </a:rPr>
              <a:t>」　⇒　</a:t>
            </a:r>
            <a:r>
              <a:rPr lang="en-US" altLang="ja-JP" sz="1600" b="1" dirty="0">
                <a:latin typeface="メイリオ" panose="020B0604030504040204" pitchFamily="50" charset="-128"/>
                <a:ea typeface="メイリオ" panose="020B0604030504040204" pitchFamily="50" charset="-128"/>
              </a:rPr>
              <a:t>S</a:t>
            </a:r>
            <a:r>
              <a:rPr lang="ja-JP" altLang="en-US" sz="1600" b="1" dirty="0">
                <a:latin typeface="メイリオ" panose="020B0604030504040204" pitchFamily="50" charset="-128"/>
                <a:ea typeface="メイリオ" panose="020B0604030504040204" pitchFamily="50" charset="-128"/>
              </a:rPr>
              <a:t>アカ新規登録方法案内</a:t>
            </a:r>
            <a:endParaRPr lang="en-US" altLang="ja-JP" sz="1600" b="1" dirty="0">
              <a:latin typeface="メイリオ" panose="020B0604030504040204" pitchFamily="50" charset="-128"/>
              <a:ea typeface="メイリオ" panose="020B0604030504040204" pitchFamily="50" charset="-128"/>
            </a:endParaRPr>
          </a:p>
        </p:txBody>
      </p:sp>
      <p:pic>
        <p:nvPicPr>
          <p:cNvPr id="18" name="図 17">
            <a:extLst>
              <a:ext uri="{FF2B5EF4-FFF2-40B4-BE49-F238E27FC236}">
                <a16:creationId xmlns:a16="http://schemas.microsoft.com/office/drawing/2014/main" id="{50C2F08D-B0B4-EBCB-CA4E-DD285552BE7E}"/>
              </a:ext>
            </a:extLst>
          </p:cNvPr>
          <p:cNvPicPr>
            <a:picLocks noChangeAspect="1"/>
          </p:cNvPicPr>
          <p:nvPr/>
        </p:nvPicPr>
        <p:blipFill>
          <a:blip r:embed="rId3"/>
          <a:stretch>
            <a:fillRect/>
          </a:stretch>
        </p:blipFill>
        <p:spPr>
          <a:xfrm>
            <a:off x="263848" y="1943887"/>
            <a:ext cx="860799" cy="956825"/>
          </a:xfrm>
          <a:prstGeom prst="rect">
            <a:avLst/>
          </a:prstGeom>
        </p:spPr>
      </p:pic>
      <p:pic>
        <p:nvPicPr>
          <p:cNvPr id="15" name="図 14">
            <a:extLst>
              <a:ext uri="{FF2B5EF4-FFF2-40B4-BE49-F238E27FC236}">
                <a16:creationId xmlns:a16="http://schemas.microsoft.com/office/drawing/2014/main" id="{22B13F99-CCB8-C7AA-A2EC-F1363E56C1F0}"/>
              </a:ext>
            </a:extLst>
          </p:cNvPr>
          <p:cNvPicPr>
            <a:picLocks noChangeAspect="1"/>
          </p:cNvPicPr>
          <p:nvPr/>
        </p:nvPicPr>
        <p:blipFill>
          <a:blip r:embed="rId4"/>
          <a:stretch>
            <a:fillRect/>
          </a:stretch>
        </p:blipFill>
        <p:spPr>
          <a:xfrm>
            <a:off x="11053633" y="1852978"/>
            <a:ext cx="758296" cy="1095528"/>
          </a:xfrm>
          <a:prstGeom prst="rect">
            <a:avLst/>
          </a:prstGeom>
        </p:spPr>
      </p:pic>
      <p:sp>
        <p:nvSpPr>
          <p:cNvPr id="20" name="四角形: 角を丸くする 19">
            <a:extLst>
              <a:ext uri="{FF2B5EF4-FFF2-40B4-BE49-F238E27FC236}">
                <a16:creationId xmlns:a16="http://schemas.microsoft.com/office/drawing/2014/main" id="{3FE1015B-7F9B-8BEE-448F-0C7537F38833}"/>
              </a:ext>
            </a:extLst>
          </p:cNvPr>
          <p:cNvSpPr/>
          <p:nvPr/>
        </p:nvSpPr>
        <p:spPr>
          <a:xfrm>
            <a:off x="150829" y="790789"/>
            <a:ext cx="11887200" cy="772544"/>
          </a:xfrm>
          <a:prstGeom prst="roundRect">
            <a:avLst>
              <a:gd name="adj" fmla="val 34424"/>
            </a:avLst>
          </a:prstGeom>
          <a:solidFill>
            <a:schemeClr val="bg1">
              <a:lumMod val="85000"/>
            </a:schemeClr>
          </a:solidFill>
          <a:ln/>
        </p:spPr>
        <p:style>
          <a:lnRef idx="3">
            <a:schemeClr val="lt1"/>
          </a:lnRef>
          <a:fillRef idx="1">
            <a:schemeClr val="accent2"/>
          </a:fillRef>
          <a:effectRef idx="1">
            <a:schemeClr val="accent2"/>
          </a:effectRef>
          <a:fontRef idx="minor">
            <a:schemeClr val="lt1"/>
          </a:fontRef>
        </p:style>
        <p:txBody>
          <a:bodyPr wrap="none" lIns="0" rIns="0" rtlCol="0" anchor="ctr" anchorCtr="1">
            <a:noAutofit/>
          </a:bodyPr>
          <a:lstStyle/>
          <a:p>
            <a:endParaRPr kumimoji="1"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13" name="四角形: 角を丸くする 12">
            <a:extLst>
              <a:ext uri="{FF2B5EF4-FFF2-40B4-BE49-F238E27FC236}">
                <a16:creationId xmlns:a16="http://schemas.microsoft.com/office/drawing/2014/main" id="{066A12C3-B919-4855-F2F1-658B83116F6F}"/>
              </a:ext>
            </a:extLst>
          </p:cNvPr>
          <p:cNvSpPr/>
          <p:nvPr/>
        </p:nvSpPr>
        <p:spPr>
          <a:xfrm>
            <a:off x="5191124" y="3777872"/>
            <a:ext cx="6686244" cy="468000"/>
          </a:xfrm>
          <a:prstGeom prst="roundRect">
            <a:avLst/>
          </a:prstGeom>
          <a:solidFill>
            <a:srgbClr val="FF6600"/>
          </a:solidFill>
          <a:ln/>
        </p:spPr>
        <p:style>
          <a:lnRef idx="3">
            <a:schemeClr val="lt1"/>
          </a:lnRef>
          <a:fillRef idx="1">
            <a:schemeClr val="accent1"/>
          </a:fillRef>
          <a:effectRef idx="1">
            <a:schemeClr val="accent1"/>
          </a:effectRef>
          <a:fontRef idx="minor">
            <a:schemeClr val="lt1"/>
          </a:fontRef>
        </p:style>
        <p:txBody>
          <a:bodyPr wrap="none" rtlCol="0" anchor="ctr" anchorCtr="0">
            <a:noAutofit/>
          </a:bodyPr>
          <a:lstStyle/>
          <a:p>
            <a:pPr lvl="2"/>
            <a:r>
              <a:rPr lang="ja-JP" altLang="en-US" sz="1600" b="1" dirty="0">
                <a:latin typeface="メイリオ" panose="020B0604030504040204" pitchFamily="50" charset="-128"/>
                <a:ea typeface="メイリオ" panose="020B0604030504040204" pitchFamily="50" charset="-128"/>
              </a:rPr>
              <a:t>　②が「</a:t>
            </a:r>
            <a:r>
              <a:rPr lang="en-US" altLang="ja-JP" sz="1600" b="1" dirty="0">
                <a:latin typeface="メイリオ" panose="020B0604030504040204" pitchFamily="50" charset="-128"/>
                <a:ea typeface="メイリオ" panose="020B0604030504040204" pitchFamily="50" charset="-128"/>
              </a:rPr>
              <a:t>No</a:t>
            </a:r>
            <a:r>
              <a:rPr lang="ja-JP" altLang="en-US" sz="1600" b="1" dirty="0">
                <a:latin typeface="メイリオ" panose="020B0604030504040204" pitchFamily="50" charset="-128"/>
                <a:ea typeface="メイリオ" panose="020B0604030504040204" pitchFamily="50" charset="-128"/>
              </a:rPr>
              <a:t>」　⇒　</a:t>
            </a:r>
            <a:r>
              <a:rPr lang="en-US" altLang="ja-JP" sz="1600" b="1" dirty="0">
                <a:latin typeface="メイリオ" panose="020B0604030504040204" pitchFamily="50" charset="-128"/>
                <a:ea typeface="メイリオ" panose="020B0604030504040204" pitchFamily="50" charset="-128"/>
              </a:rPr>
              <a:t>S-J</a:t>
            </a:r>
            <a:r>
              <a:rPr lang="ja-JP" altLang="en-US" sz="1600" b="1" dirty="0">
                <a:latin typeface="メイリオ" panose="020B0604030504040204" pitchFamily="50" charset="-128"/>
                <a:ea typeface="メイリオ" panose="020B0604030504040204" pitchFamily="50" charset="-128"/>
              </a:rPr>
              <a:t>連携方法案内</a:t>
            </a:r>
            <a:endParaRPr lang="en-US" altLang="ja-JP" sz="1600" b="1" dirty="0">
              <a:latin typeface="メイリオ" panose="020B0604030504040204" pitchFamily="50" charset="-128"/>
              <a:ea typeface="メイリオ" panose="020B0604030504040204" pitchFamily="50" charset="-128"/>
            </a:endParaRPr>
          </a:p>
        </p:txBody>
      </p:sp>
      <p:sp>
        <p:nvSpPr>
          <p:cNvPr id="21" name="四角形: 角を丸くする 20">
            <a:extLst>
              <a:ext uri="{FF2B5EF4-FFF2-40B4-BE49-F238E27FC236}">
                <a16:creationId xmlns:a16="http://schemas.microsoft.com/office/drawing/2014/main" id="{7E33C1A8-B3D5-C6FB-6266-D39CAF672370}"/>
              </a:ext>
            </a:extLst>
          </p:cNvPr>
          <p:cNvSpPr/>
          <p:nvPr/>
        </p:nvSpPr>
        <p:spPr>
          <a:xfrm>
            <a:off x="5191124" y="4283107"/>
            <a:ext cx="6686244" cy="730491"/>
          </a:xfrm>
          <a:prstGeom prst="roundRect">
            <a:avLst/>
          </a:prstGeom>
          <a:solidFill>
            <a:srgbClr val="FF6600"/>
          </a:solidFill>
          <a:ln/>
        </p:spPr>
        <p:style>
          <a:lnRef idx="3">
            <a:schemeClr val="lt1"/>
          </a:lnRef>
          <a:fillRef idx="1">
            <a:schemeClr val="accent1"/>
          </a:fillRef>
          <a:effectRef idx="1">
            <a:schemeClr val="accent1"/>
          </a:effectRef>
          <a:fontRef idx="minor">
            <a:schemeClr val="lt1"/>
          </a:fontRef>
        </p:style>
        <p:txBody>
          <a:bodyPr wrap="none" rtlCol="0" anchor="ctr" anchorCtr="0">
            <a:noAutofit/>
          </a:bodyPr>
          <a:lstStyle/>
          <a:p>
            <a:pPr lvl="2"/>
            <a:r>
              <a:rPr lang="ja-JP" altLang="en-US" sz="1600" b="1" dirty="0">
                <a:latin typeface="メイリオ" panose="020B0604030504040204" pitchFamily="50" charset="-128"/>
                <a:ea typeface="メイリオ" panose="020B0604030504040204" pitchFamily="50" charset="-128"/>
              </a:rPr>
              <a:t>　③が「不承」もしくは「</a:t>
            </a:r>
            <a:r>
              <a:rPr lang="en-US" altLang="ja-JP" sz="1600" b="1" dirty="0">
                <a:latin typeface="メイリオ" panose="020B0604030504040204" pitchFamily="50" charset="-128"/>
                <a:ea typeface="メイリオ" panose="020B0604030504040204" pitchFamily="50" charset="-128"/>
              </a:rPr>
              <a:t>No</a:t>
            </a:r>
            <a:r>
              <a:rPr lang="ja-JP" altLang="en-US" sz="1600" b="1" dirty="0">
                <a:latin typeface="メイリオ" panose="020B0604030504040204" pitchFamily="50" charset="-128"/>
                <a:ea typeface="メイリオ" panose="020B0604030504040204" pitchFamily="50" charset="-128"/>
              </a:rPr>
              <a:t>」</a:t>
            </a:r>
            <a:r>
              <a:rPr lang="en-US" altLang="ja-JP" sz="1600" b="1" dirty="0">
                <a:latin typeface="メイリオ" panose="020B0604030504040204" pitchFamily="50" charset="-128"/>
                <a:ea typeface="メイリオ" panose="020B0604030504040204" pitchFamily="50" charset="-128"/>
              </a:rPr>
              <a:t>(</a:t>
            </a:r>
            <a:r>
              <a:rPr lang="ja-JP" altLang="en-US" sz="1600" b="1" dirty="0">
                <a:latin typeface="メイリオ" panose="020B0604030504040204" pitchFamily="50" charset="-128"/>
                <a:ea typeface="メイリオ" panose="020B0604030504040204" pitchFamily="50" charset="-128"/>
              </a:rPr>
              <a:t>同一ではない可能性</a:t>
            </a:r>
            <a:r>
              <a:rPr lang="en-US" altLang="ja-JP" sz="1600" b="1" dirty="0">
                <a:latin typeface="メイリオ" panose="020B0604030504040204" pitchFamily="50" charset="-128"/>
                <a:ea typeface="メイリオ" panose="020B0604030504040204" pitchFamily="50" charset="-128"/>
              </a:rPr>
              <a:t>)</a:t>
            </a:r>
            <a:endParaRPr lang="ja-JP" altLang="en-US" sz="1600" b="1" dirty="0">
              <a:latin typeface="メイリオ" panose="020B0604030504040204" pitchFamily="50" charset="-128"/>
              <a:ea typeface="メイリオ" panose="020B0604030504040204" pitchFamily="50" charset="-128"/>
            </a:endParaRPr>
          </a:p>
          <a:p>
            <a:pPr lvl="2">
              <a:lnSpc>
                <a:spcPts val="500"/>
              </a:lnSpc>
            </a:pPr>
            <a:endParaRPr lang="en-US" altLang="ja-JP" sz="1600" b="1" dirty="0">
              <a:latin typeface="メイリオ" panose="020B0604030504040204" pitchFamily="50" charset="-128"/>
              <a:ea typeface="メイリオ" panose="020B0604030504040204" pitchFamily="50" charset="-128"/>
            </a:endParaRPr>
          </a:p>
          <a:p>
            <a:r>
              <a:rPr lang="ja-JP" altLang="en-US" sz="1600" b="1" dirty="0">
                <a:latin typeface="メイリオ" panose="020B0604030504040204" pitchFamily="50" charset="-128"/>
                <a:ea typeface="メイリオ" panose="020B0604030504040204" pitchFamily="50" charset="-128"/>
              </a:rPr>
              <a:t> 　　　お持ちのメールアドレス全てで</a:t>
            </a:r>
            <a:r>
              <a:rPr lang="en-US" altLang="ja-JP" sz="1600" b="1" dirty="0">
                <a:latin typeface="メイリオ" panose="020B0604030504040204" pitchFamily="50" charset="-128"/>
                <a:ea typeface="メイリオ" panose="020B0604030504040204" pitchFamily="50" charset="-128"/>
              </a:rPr>
              <a:t>PW</a:t>
            </a:r>
            <a:r>
              <a:rPr lang="ja-JP" altLang="en-US" sz="1600" b="1" dirty="0">
                <a:latin typeface="メイリオ" panose="020B0604030504040204" pitchFamily="50" charset="-128"/>
                <a:ea typeface="メイリオ" panose="020B0604030504040204" pitchFamily="50" charset="-128"/>
              </a:rPr>
              <a:t>リセットを試していただく</a:t>
            </a:r>
            <a:endParaRPr lang="en-US" altLang="ja-JP" sz="1600" b="1" dirty="0">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0690EE44-A8D4-EB02-2AEA-B22959605C9F}"/>
              </a:ext>
            </a:extLst>
          </p:cNvPr>
          <p:cNvSpPr/>
          <p:nvPr/>
        </p:nvSpPr>
        <p:spPr>
          <a:xfrm>
            <a:off x="2950589" y="878975"/>
            <a:ext cx="9055826" cy="669401"/>
          </a:xfrm>
          <a:prstGeom prst="roundRect">
            <a:avLst>
              <a:gd name="adj" fmla="val 34424"/>
            </a:avLst>
          </a:prstGeom>
          <a:noFill/>
          <a:ln>
            <a:noFill/>
          </a:ln>
        </p:spPr>
        <p:style>
          <a:lnRef idx="3">
            <a:schemeClr val="lt1"/>
          </a:lnRef>
          <a:fillRef idx="1">
            <a:schemeClr val="accent2"/>
          </a:fillRef>
          <a:effectRef idx="1">
            <a:schemeClr val="accent2"/>
          </a:effectRef>
          <a:fontRef idx="minor">
            <a:schemeClr val="lt1"/>
          </a:fontRef>
        </p:style>
        <p:txBody>
          <a:bodyPr wrap="none" lIns="0" rIns="0" rtlCol="0" anchor="ctr" anchorCtr="1">
            <a:noAutofit/>
          </a:bodyPr>
          <a:lstStyle/>
          <a:p>
            <a:r>
              <a:rPr kumimoji="1" lang="en-US" altLang="ja-JP" sz="2000" b="1" dirty="0">
                <a:solidFill>
                  <a:schemeClr val="tx1"/>
                </a:solidFill>
                <a:latin typeface="メイリオ" panose="020B0604030504040204" pitchFamily="50" charset="-128"/>
                <a:ea typeface="メイリオ" panose="020B0604030504040204" pitchFamily="50" charset="-128"/>
              </a:rPr>
              <a:t>S</a:t>
            </a:r>
            <a:r>
              <a:rPr kumimoji="1" lang="ja-JP" altLang="en-US" sz="2000" b="1" dirty="0">
                <a:solidFill>
                  <a:schemeClr val="tx1"/>
                </a:solidFill>
                <a:latin typeface="メイリオ" panose="020B0604030504040204" pitchFamily="50" charset="-128"/>
                <a:ea typeface="メイリオ" panose="020B0604030504040204" pitchFamily="50" charset="-128"/>
              </a:rPr>
              <a:t>アカで新規登録した（もしくは移行済みの）メールアドレスを覚えていない</a:t>
            </a:r>
            <a:endParaRPr kumimoji="1" lang="en-US" altLang="ja-JP" sz="2000" b="1" dirty="0">
              <a:solidFill>
                <a:schemeClr val="tx1"/>
              </a:solidFill>
              <a:latin typeface="メイリオ" panose="020B0604030504040204" pitchFamily="50" charset="-128"/>
              <a:ea typeface="メイリオ" panose="020B0604030504040204" pitchFamily="50" charset="-128"/>
            </a:endParaRPr>
          </a:p>
          <a:p>
            <a:r>
              <a:rPr kumimoji="1" lang="ja-JP" altLang="en-US" sz="2000" b="1" dirty="0">
                <a:solidFill>
                  <a:schemeClr val="tx1"/>
                </a:solidFill>
                <a:latin typeface="メイリオ" panose="020B0604030504040204" pitchFamily="50" charset="-128"/>
                <a:ea typeface="メイリオ" panose="020B0604030504040204" pitchFamily="50" charset="-128"/>
              </a:rPr>
              <a:t>（＝受信料アカウントのメールアドレスを照会したい）</a:t>
            </a:r>
          </a:p>
        </p:txBody>
      </p:sp>
      <p:sp>
        <p:nvSpPr>
          <p:cNvPr id="7" name="四角形: 角を丸くする 6">
            <a:extLst>
              <a:ext uri="{FF2B5EF4-FFF2-40B4-BE49-F238E27FC236}">
                <a16:creationId xmlns:a16="http://schemas.microsoft.com/office/drawing/2014/main" id="{0AB3BBA9-5DD9-7237-DBD6-0523D21DE004}"/>
              </a:ext>
            </a:extLst>
          </p:cNvPr>
          <p:cNvSpPr/>
          <p:nvPr/>
        </p:nvSpPr>
        <p:spPr>
          <a:xfrm>
            <a:off x="596559" y="920141"/>
            <a:ext cx="1995810" cy="555329"/>
          </a:xfrm>
          <a:prstGeom prst="roundRect">
            <a:avLst>
              <a:gd name="adj" fmla="val 34424"/>
            </a:avLst>
          </a:prstGeom>
          <a:noFill/>
          <a:ln>
            <a:noFill/>
          </a:ln>
        </p:spPr>
        <p:style>
          <a:lnRef idx="3">
            <a:schemeClr val="lt1"/>
          </a:lnRef>
          <a:fillRef idx="1">
            <a:schemeClr val="accent2"/>
          </a:fillRef>
          <a:effectRef idx="1">
            <a:schemeClr val="accent2"/>
          </a:effectRef>
          <a:fontRef idx="minor">
            <a:schemeClr val="lt1"/>
          </a:fontRef>
        </p:style>
        <p:txBody>
          <a:bodyPr wrap="none" lIns="0" rIns="0" rtlCol="0" anchor="ctr" anchorCtr="1">
            <a:noAutofit/>
          </a:bodyPr>
          <a:lstStyle/>
          <a:p>
            <a:r>
              <a:rPr kumimoji="1" lang="ja-JP" altLang="en-US" sz="2400" b="1" dirty="0">
                <a:solidFill>
                  <a:schemeClr val="tx1"/>
                </a:solidFill>
                <a:latin typeface="メイリオ" panose="020B0604030504040204" pitchFamily="50" charset="-128"/>
                <a:ea typeface="メイリオ" panose="020B0604030504040204" pitchFamily="50" charset="-128"/>
              </a:rPr>
              <a:t>転送パターン</a:t>
            </a:r>
            <a:r>
              <a:rPr kumimoji="1" lang="en-US" altLang="ja-JP" sz="2400" b="1" dirty="0">
                <a:solidFill>
                  <a:schemeClr val="tx1"/>
                </a:solidFill>
                <a:latin typeface="メイリオ" panose="020B0604030504040204" pitchFamily="50" charset="-128"/>
                <a:ea typeface="メイリオ" panose="020B0604030504040204" pitchFamily="50" charset="-128"/>
              </a:rPr>
              <a:t>E</a:t>
            </a:r>
            <a:endParaRPr kumimoji="1"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30" name="四角形: 角を丸くする 29">
            <a:extLst>
              <a:ext uri="{FF2B5EF4-FFF2-40B4-BE49-F238E27FC236}">
                <a16:creationId xmlns:a16="http://schemas.microsoft.com/office/drawing/2014/main" id="{3B22895C-4A13-9416-7D1D-0E931E8CB02C}"/>
              </a:ext>
            </a:extLst>
          </p:cNvPr>
          <p:cNvSpPr/>
          <p:nvPr/>
        </p:nvSpPr>
        <p:spPr>
          <a:xfrm>
            <a:off x="263848" y="3351037"/>
            <a:ext cx="4769245" cy="1204491"/>
          </a:xfrm>
          <a:prstGeom prst="roundRect">
            <a:avLst>
              <a:gd name="adj" fmla="val 17046"/>
            </a:avLst>
          </a:prstGeom>
          <a:solidFill>
            <a:srgbClr val="3333FF"/>
          </a:solidFill>
          <a:ln/>
        </p:spPr>
        <p:style>
          <a:lnRef idx="3">
            <a:schemeClr val="lt1"/>
          </a:lnRef>
          <a:fillRef idx="1">
            <a:schemeClr val="accent4"/>
          </a:fillRef>
          <a:effectRef idx="1">
            <a:schemeClr val="accent4"/>
          </a:effectRef>
          <a:fontRef idx="minor">
            <a:schemeClr val="lt1"/>
          </a:fontRef>
        </p:style>
        <p:txBody>
          <a:bodyPr rtlCol="0" anchor="ctr" anchorCtr="0"/>
          <a:lstStyle/>
          <a:p>
            <a:pPr lvl="2"/>
            <a:r>
              <a:rPr kumimoji="1" lang="ja-JP" altLang="en-US" b="1" dirty="0">
                <a:latin typeface="メイリオ" panose="020B0604030504040204" pitchFamily="50" charset="-128"/>
                <a:ea typeface="メイリオ" panose="020B0604030504040204" pitchFamily="50" charset="-128"/>
              </a:rPr>
              <a:t>　いずれも「</a:t>
            </a:r>
            <a:r>
              <a:rPr kumimoji="1" lang="en-US" altLang="ja-JP" b="1" dirty="0">
                <a:latin typeface="メイリオ" panose="020B0604030504040204" pitchFamily="50" charset="-128"/>
                <a:ea typeface="メイリオ" panose="020B0604030504040204" pitchFamily="50" charset="-128"/>
              </a:rPr>
              <a:t>Yes</a:t>
            </a:r>
            <a:r>
              <a:rPr kumimoji="1" lang="ja-JP" altLang="en-US" b="1" dirty="0">
                <a:latin typeface="メイリオ" panose="020B0604030504040204" pitchFamily="50" charset="-128"/>
                <a:ea typeface="メイリオ" panose="020B0604030504040204" pitchFamily="50" charset="-128"/>
              </a:rPr>
              <a:t>」</a:t>
            </a:r>
            <a:endParaRPr kumimoji="1" lang="en-US" altLang="ja-JP" b="1" dirty="0">
              <a:latin typeface="メイリオ" panose="020B0604030504040204" pitchFamily="50" charset="-128"/>
              <a:ea typeface="メイリオ" panose="020B0604030504040204" pitchFamily="50" charset="-128"/>
            </a:endParaRPr>
          </a:p>
          <a:p>
            <a:pPr lvl="2"/>
            <a:r>
              <a:rPr kumimoji="1" lang="ja-JP" altLang="en-US" b="1" dirty="0">
                <a:latin typeface="メイリオ" panose="020B0604030504040204" pitchFamily="50" charset="-128"/>
                <a:ea typeface="メイリオ" panose="020B0604030504040204" pitchFamily="50" charset="-128"/>
              </a:rPr>
              <a:t>（③は了承をいただく）</a:t>
            </a:r>
            <a:endParaRPr kumimoji="1" lang="en-US" altLang="ja-JP" b="1" dirty="0">
              <a:latin typeface="メイリオ" panose="020B0604030504040204" pitchFamily="50" charset="-128"/>
              <a:ea typeface="メイリオ" panose="020B0604030504040204" pitchFamily="50" charset="-128"/>
            </a:endParaRPr>
          </a:p>
          <a:p>
            <a:pPr lvl="2"/>
            <a:endParaRPr lang="en-US" altLang="ja-JP" sz="1000" b="1" dirty="0">
              <a:latin typeface="メイリオ" panose="020B0604030504040204" pitchFamily="50" charset="-128"/>
              <a:ea typeface="メイリオ" panose="020B0604030504040204" pitchFamily="50" charset="-128"/>
            </a:endParaRPr>
          </a:p>
          <a:p>
            <a:pPr marL="180000" lvl="1"/>
            <a:r>
              <a:rPr lang="ja-JP" altLang="en-US" b="1" dirty="0">
                <a:latin typeface="メイリオ" panose="020B0604030504040204" pitchFamily="50" charset="-128"/>
                <a:ea typeface="メイリオ" panose="020B0604030504040204" pitchFamily="50" charset="-128"/>
              </a:rPr>
              <a:t>　　モニターで</a:t>
            </a:r>
            <a:r>
              <a:rPr lang="en-US" altLang="ja-JP" b="1" dirty="0">
                <a:latin typeface="メイリオ" panose="020B0604030504040204" pitchFamily="50" charset="-128"/>
                <a:ea typeface="メイリオ" panose="020B0604030504040204" pitchFamily="50" charset="-128"/>
              </a:rPr>
              <a:t>J</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a:t>
            </a:r>
            <a:r>
              <a:rPr lang="ja-JP" altLang="en-US" b="1" dirty="0">
                <a:latin typeface="メイリオ" panose="020B0604030504040204" pitchFamily="50" charset="-128"/>
                <a:ea typeface="メイリオ" panose="020B0604030504040204" pitchFamily="50" charset="-128"/>
              </a:rPr>
              <a:t>の状況確認</a:t>
            </a:r>
            <a:endParaRPr kumimoji="1" lang="ja-JP" altLang="en-US" b="1" dirty="0">
              <a:latin typeface="メイリオ" panose="020B0604030504040204" pitchFamily="50" charset="-128"/>
              <a:ea typeface="メイリオ" panose="020B0604030504040204" pitchFamily="50" charset="-128"/>
            </a:endParaRPr>
          </a:p>
        </p:txBody>
      </p:sp>
      <p:pic>
        <p:nvPicPr>
          <p:cNvPr id="32" name="グラフィックス 31" descr="コメント: いいね! 単色塗りつぶし">
            <a:extLst>
              <a:ext uri="{FF2B5EF4-FFF2-40B4-BE49-F238E27FC236}">
                <a16:creationId xmlns:a16="http://schemas.microsoft.com/office/drawing/2014/main" id="{27CE962E-7195-0454-E384-5BC26662C4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4632" y="3403064"/>
            <a:ext cx="824106" cy="824106"/>
          </a:xfrm>
          <a:prstGeom prst="rect">
            <a:avLst/>
          </a:prstGeom>
        </p:spPr>
      </p:pic>
      <p:cxnSp>
        <p:nvCxnSpPr>
          <p:cNvPr id="33" name="コネクタ: カギ線 32">
            <a:extLst>
              <a:ext uri="{FF2B5EF4-FFF2-40B4-BE49-F238E27FC236}">
                <a16:creationId xmlns:a16="http://schemas.microsoft.com/office/drawing/2014/main" id="{4E951E0B-8D85-5050-F439-CE4C5C27170F}"/>
              </a:ext>
            </a:extLst>
          </p:cNvPr>
          <p:cNvCxnSpPr>
            <a:cxnSpLocks/>
          </p:cNvCxnSpPr>
          <p:nvPr/>
        </p:nvCxnSpPr>
        <p:spPr>
          <a:xfrm rot="16200000" flipH="1">
            <a:off x="-96790" y="4837198"/>
            <a:ext cx="2275618" cy="874163"/>
          </a:xfrm>
          <a:prstGeom prst="bentConnector2">
            <a:avLst/>
          </a:prstGeom>
          <a:ln w="38100">
            <a:solidFill>
              <a:srgbClr val="3333FF"/>
            </a:solidFill>
            <a:tailEnd type="stealth" w="lg" len="lg"/>
          </a:ln>
        </p:spPr>
        <p:style>
          <a:lnRef idx="1">
            <a:schemeClr val="accent4"/>
          </a:lnRef>
          <a:fillRef idx="0">
            <a:schemeClr val="accent4"/>
          </a:fillRef>
          <a:effectRef idx="0">
            <a:schemeClr val="accent4"/>
          </a:effectRef>
          <a:fontRef idx="minor">
            <a:schemeClr val="tx1"/>
          </a:fontRef>
        </p:style>
      </p:cxnSp>
      <p:cxnSp>
        <p:nvCxnSpPr>
          <p:cNvPr id="34" name="コネクタ: カギ線 33">
            <a:extLst>
              <a:ext uri="{FF2B5EF4-FFF2-40B4-BE49-F238E27FC236}">
                <a16:creationId xmlns:a16="http://schemas.microsoft.com/office/drawing/2014/main" id="{399EFB74-DAD0-A838-D8D0-D89875C17179}"/>
              </a:ext>
            </a:extLst>
          </p:cNvPr>
          <p:cNvCxnSpPr>
            <a:cxnSpLocks/>
          </p:cNvCxnSpPr>
          <p:nvPr/>
        </p:nvCxnSpPr>
        <p:spPr>
          <a:xfrm rot="16200000" flipH="1">
            <a:off x="627019" y="4610108"/>
            <a:ext cx="828000" cy="874164"/>
          </a:xfrm>
          <a:prstGeom prst="bentConnector2">
            <a:avLst/>
          </a:prstGeom>
          <a:ln w="38100">
            <a:solidFill>
              <a:srgbClr val="3333FF"/>
            </a:solidFill>
            <a:tailEnd type="stealth" w="lg" len="lg"/>
          </a:ln>
        </p:spPr>
        <p:style>
          <a:lnRef idx="1">
            <a:schemeClr val="accent4"/>
          </a:lnRef>
          <a:fillRef idx="0">
            <a:schemeClr val="accent4"/>
          </a:fillRef>
          <a:effectRef idx="0">
            <a:schemeClr val="accent4"/>
          </a:effectRef>
          <a:fontRef idx="minor">
            <a:schemeClr val="tx1"/>
          </a:fontRef>
        </p:style>
      </p:cxnSp>
      <p:pic>
        <p:nvPicPr>
          <p:cNvPr id="36" name="グラフィックス 35" descr="コメント: 不満 単色塗りつぶし">
            <a:extLst>
              <a:ext uri="{FF2B5EF4-FFF2-40B4-BE49-F238E27FC236}">
                <a16:creationId xmlns:a16="http://schemas.microsoft.com/office/drawing/2014/main" id="{C1878AD9-6CDC-5A56-5888-9B831E505A9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50729" y="3252242"/>
            <a:ext cx="541055" cy="562875"/>
          </a:xfrm>
          <a:prstGeom prst="rect">
            <a:avLst/>
          </a:prstGeom>
        </p:spPr>
      </p:pic>
      <p:pic>
        <p:nvPicPr>
          <p:cNvPr id="38" name="グラフィックス 37" descr="コメント: 不満 単色塗りつぶし">
            <a:extLst>
              <a:ext uri="{FF2B5EF4-FFF2-40B4-BE49-F238E27FC236}">
                <a16:creationId xmlns:a16="http://schemas.microsoft.com/office/drawing/2014/main" id="{13AF14B1-117D-055A-700C-16F470128A0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41979" y="3746117"/>
            <a:ext cx="541055" cy="562875"/>
          </a:xfrm>
          <a:prstGeom prst="rect">
            <a:avLst/>
          </a:prstGeom>
        </p:spPr>
      </p:pic>
      <p:pic>
        <p:nvPicPr>
          <p:cNvPr id="40" name="グラフィックス 39" descr="コメント: 不満 単色塗りつぶし">
            <a:extLst>
              <a:ext uri="{FF2B5EF4-FFF2-40B4-BE49-F238E27FC236}">
                <a16:creationId xmlns:a16="http://schemas.microsoft.com/office/drawing/2014/main" id="{8C4696FD-1F23-7D00-6BD6-99A0F1B724C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28827" y="4346515"/>
            <a:ext cx="541055" cy="562875"/>
          </a:xfrm>
          <a:prstGeom prst="rect">
            <a:avLst/>
          </a:prstGeom>
        </p:spPr>
      </p:pic>
    </p:spTree>
    <p:extLst>
      <p:ext uri="{BB962C8B-B14F-4D97-AF65-F5344CB8AC3E}">
        <p14:creationId xmlns:p14="http://schemas.microsoft.com/office/powerpoint/2010/main" val="3174273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1C51A-1E3F-642A-1269-C3EEE9E63A3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87791A-7ECE-CCA1-DA56-9CB1DDE03F2A}"/>
              </a:ext>
            </a:extLst>
          </p:cNvPr>
          <p:cNvSpPr>
            <a:spLocks noGrp="1"/>
          </p:cNvSpPr>
          <p:nvPr>
            <p:ph type="title"/>
          </p:nvPr>
        </p:nvSpPr>
        <p:spPr>
          <a:xfrm>
            <a:off x="540000" y="180000"/>
            <a:ext cx="10080000" cy="468000"/>
          </a:xfrm>
        </p:spPr>
        <p:txBody>
          <a:bodyPr anchor="b" anchorCtr="0"/>
          <a:lstStyle/>
          <a:p>
            <a:r>
              <a:rPr kumimoji="1" lang="en-US" altLang="ja-JP" dirty="0"/>
              <a:t>S</a:t>
            </a:r>
            <a:r>
              <a:rPr kumimoji="1" lang="ja-JP" altLang="en-US" dirty="0"/>
              <a:t>→</a:t>
            </a:r>
            <a:r>
              <a:rPr kumimoji="1" lang="en-US" altLang="ja-JP" dirty="0"/>
              <a:t>J</a:t>
            </a:r>
            <a:r>
              <a:rPr kumimoji="1" lang="ja-JP" altLang="en-US" dirty="0"/>
              <a:t>転送　対象パターンＥ　</a:t>
            </a:r>
            <a:r>
              <a:rPr kumimoji="1" lang="en-US" altLang="ja-JP" dirty="0"/>
              <a:t>【</a:t>
            </a:r>
            <a:r>
              <a:rPr lang="ja-JP" altLang="en-US" dirty="0"/>
              <a:t>転送</a:t>
            </a:r>
            <a:r>
              <a:rPr kumimoji="1" lang="ja-JP" altLang="en-US" dirty="0"/>
              <a:t>対応</a:t>
            </a:r>
            <a:r>
              <a:rPr kumimoji="1" lang="en-US" altLang="ja-JP" dirty="0"/>
              <a:t>】</a:t>
            </a:r>
            <a:endParaRPr kumimoji="1" lang="ja-JP" altLang="en-US" b="1" dirty="0"/>
          </a:p>
        </p:txBody>
      </p:sp>
      <p:sp>
        <p:nvSpPr>
          <p:cNvPr id="27" name="四角形: 角を丸くする 26">
            <a:extLst>
              <a:ext uri="{FF2B5EF4-FFF2-40B4-BE49-F238E27FC236}">
                <a16:creationId xmlns:a16="http://schemas.microsoft.com/office/drawing/2014/main" id="{D9795CFC-E8DC-3820-E0DF-F5AF72516A92}"/>
              </a:ext>
            </a:extLst>
          </p:cNvPr>
          <p:cNvSpPr/>
          <p:nvPr/>
        </p:nvSpPr>
        <p:spPr>
          <a:xfrm>
            <a:off x="538234" y="5910054"/>
            <a:ext cx="11005766" cy="747760"/>
          </a:xfrm>
          <a:prstGeom prst="roundRect">
            <a:avLst>
              <a:gd name="adj" fmla="val 6737"/>
            </a:avLst>
          </a:prstGeom>
          <a:ln w="57150">
            <a:solidFill>
              <a:schemeClr val="tx1">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nchorCtr="0"/>
          <a:lstStyle/>
          <a:p>
            <a:r>
              <a:rPr lang="ja-JP" altLang="en-US" b="1" dirty="0">
                <a:latin typeface="メイリオ" panose="020B0604030504040204" pitchFamily="50" charset="-128"/>
                <a:ea typeface="メイリオ" panose="020B0604030504040204" pitchFamily="50" charset="-128"/>
              </a:rPr>
              <a:t>●　パターンの伝達時には、聞き間違いの防止のため、パターンの内容を復唱</a:t>
            </a: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　入電者の特性など、必要な申し送り事項のみ伝達</a:t>
            </a:r>
            <a:endParaRPr lang="en-US" altLang="ja-JP" b="1" dirty="0">
              <a:solidFill>
                <a:schemeClr val="accent1">
                  <a:lumMod val="60000"/>
                  <a:lumOff val="40000"/>
                </a:schemeClr>
              </a:solidFill>
              <a:latin typeface="メイリオ" panose="020B0604030504040204" pitchFamily="50" charset="-128"/>
              <a:ea typeface="メイリオ" panose="020B0604030504040204" pitchFamily="50" charset="-128"/>
            </a:endParaRPr>
          </a:p>
        </p:txBody>
      </p:sp>
      <p:sp>
        <p:nvSpPr>
          <p:cNvPr id="17" name="四角形: 角を丸くする 16">
            <a:extLst>
              <a:ext uri="{FF2B5EF4-FFF2-40B4-BE49-F238E27FC236}">
                <a16:creationId xmlns:a16="http://schemas.microsoft.com/office/drawing/2014/main" id="{0D698005-8834-12F9-E7E4-BD63FE01E994}"/>
              </a:ext>
            </a:extLst>
          </p:cNvPr>
          <p:cNvSpPr/>
          <p:nvPr/>
        </p:nvSpPr>
        <p:spPr>
          <a:xfrm>
            <a:off x="514234" y="985926"/>
            <a:ext cx="11053766" cy="1482043"/>
          </a:xfrm>
          <a:prstGeom prst="roundRect">
            <a:avLst/>
          </a:prstGeom>
          <a:solidFill>
            <a:srgbClr val="0070C0"/>
          </a:solidFill>
          <a:ln/>
        </p:spPr>
        <p:style>
          <a:lnRef idx="3">
            <a:schemeClr val="lt1"/>
          </a:lnRef>
          <a:fillRef idx="1">
            <a:schemeClr val="accent2"/>
          </a:fillRef>
          <a:effectRef idx="1">
            <a:schemeClr val="accent2"/>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a:t>
            </a:r>
            <a:r>
              <a:rPr lang="en-US" altLang="ja-JP" b="1" dirty="0">
                <a:latin typeface="メイリオ" panose="020B0604030504040204" pitchFamily="50" charset="-128"/>
                <a:ea typeface="メイリオ" panose="020B0604030504040204" pitchFamily="50" charset="-128"/>
              </a:rPr>
              <a:t>J</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a:t>
            </a:r>
            <a:r>
              <a:rPr lang="ja-JP" altLang="en-US" b="1" dirty="0">
                <a:latin typeface="メイリオ" panose="020B0604030504040204" pitchFamily="50" charset="-128"/>
                <a:ea typeface="メイリオ" panose="020B0604030504040204" pitchFamily="50" charset="-128"/>
              </a:rPr>
              <a:t>へ転送）</a:t>
            </a:r>
            <a:endParaRPr kumimoji="1"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「お疲れ様です。 </a:t>
            </a:r>
            <a:r>
              <a:rPr lang="en-US" altLang="ja-JP" b="1" dirty="0">
                <a:latin typeface="メイリオ" panose="020B0604030504040204" pitchFamily="50" charset="-128"/>
                <a:ea typeface="メイリオ" panose="020B0604030504040204" pitchFamily="50" charset="-128"/>
              </a:rPr>
              <a:t>S</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 </a:t>
            </a:r>
            <a:r>
              <a:rPr lang="ja-JP" altLang="en-US" b="1" dirty="0">
                <a:latin typeface="メイリオ" panose="020B0604030504040204" pitchFamily="50" charset="-128"/>
                <a:ea typeface="メイリオ" panose="020B0604030504040204" pitchFamily="50" charset="-128"/>
              </a:rPr>
              <a:t>担当の●●です。  </a:t>
            </a:r>
            <a:r>
              <a:rPr lang="ja-JP" altLang="en-US" b="1" dirty="0">
                <a:solidFill>
                  <a:srgbClr val="FFFF00"/>
                </a:solidFill>
                <a:latin typeface="メイリオ" panose="020B0604030504040204" pitchFamily="50" charset="-128"/>
                <a:ea typeface="メイリオ" panose="020B0604030504040204" pitchFamily="50" charset="-128"/>
              </a:rPr>
              <a:t>転送パターンＥ</a:t>
            </a:r>
            <a:r>
              <a:rPr lang="ja-JP" altLang="en-US" b="1" dirty="0">
                <a:latin typeface="メイリオ" panose="020B0604030504040204" pitchFamily="50" charset="-128"/>
                <a:ea typeface="メイリオ" panose="020B0604030504040204" pitchFamily="50" charset="-128"/>
              </a:rPr>
              <a:t>　のお客様です。</a:t>
            </a:r>
            <a:endParaRPr lang="en-US" altLang="ja-JP" b="1" dirty="0">
              <a:latin typeface="メイリオ" panose="020B0604030504040204" pitchFamily="50" charset="-128"/>
              <a:ea typeface="メイリオ" panose="020B0604030504040204" pitchFamily="50" charset="-128"/>
            </a:endParaRPr>
          </a:p>
          <a:p>
            <a:pPr lvl="2"/>
            <a:r>
              <a:rPr lang="en-US" altLang="ja-JP"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電話番号は、</a:t>
            </a:r>
            <a:r>
              <a:rPr lang="en-US" altLang="ja-JP" b="1" dirty="0">
                <a:solidFill>
                  <a:srgbClr val="FFFF00"/>
                </a:solidFill>
                <a:latin typeface="メイリオ" panose="020B0604030504040204" pitchFamily="50" charset="-128"/>
                <a:ea typeface="メイリオ" panose="020B0604030504040204" pitchFamily="50" charset="-128"/>
              </a:rPr>
              <a:t>XXX-XXXX-XXXX</a:t>
            </a:r>
            <a:r>
              <a:rPr kumimoji="1" lang="ja-JP" altLang="en-US" sz="1800" dirty="0">
                <a:latin typeface="メイリオ" panose="020B0604030504040204" pitchFamily="50" charset="-128"/>
                <a:ea typeface="メイリオ" panose="020B0604030504040204" pitchFamily="50" charset="-128"/>
              </a:rPr>
              <a:t> （</a:t>
            </a:r>
            <a:r>
              <a:rPr lang="ja-JP" altLang="en-US" sz="1800" dirty="0">
                <a:latin typeface="メイリオ" panose="020B0604030504040204" pitchFamily="50" charset="-128"/>
                <a:ea typeface="メイリオ" panose="020B0604030504040204" pitchFamily="50" charset="-128"/>
              </a:rPr>
              <a:t>番号通知で表示された着信電話番号</a:t>
            </a:r>
            <a:r>
              <a:rPr kumimoji="1" lang="ja-JP" altLang="en-US" sz="1800"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です。</a:t>
            </a:r>
            <a:endParaRPr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契約者本人 ／ 配偶者 ／ 本人（または配偶者）同席での第三者</a:t>
            </a:r>
            <a:r>
              <a:rPr lang="ja-JP" altLang="en-US" b="1" dirty="0">
                <a:latin typeface="メイリオ" panose="020B0604030504040204" pitchFamily="50" charset="-128"/>
                <a:ea typeface="メイリオ" panose="020B0604030504040204" pitchFamily="50" charset="-128"/>
              </a:rPr>
              <a:t>　からの入電です。」</a:t>
            </a:r>
            <a:endParaRPr lang="en-US" altLang="ja-JP" b="1" dirty="0">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ADA71924-C2B8-02ED-E878-95F83D44846A}"/>
              </a:ext>
            </a:extLst>
          </p:cNvPr>
          <p:cNvSpPr/>
          <p:nvPr/>
        </p:nvSpPr>
        <p:spPr>
          <a:xfrm>
            <a:off x="514234" y="2581926"/>
            <a:ext cx="11053766" cy="1253469"/>
          </a:xfrm>
          <a:prstGeom prst="roundRect">
            <a:avLst/>
          </a:prstGeom>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a:t>
            </a:r>
            <a:r>
              <a:rPr lang="ja-JP" altLang="en-US" b="1" dirty="0">
                <a:solidFill>
                  <a:srgbClr val="FFFF00"/>
                </a:solidFill>
                <a:latin typeface="メイリオ" panose="020B0604030504040204" pitchFamily="50" charset="-128"/>
                <a:ea typeface="メイリオ" panose="020B0604030504040204" pitchFamily="50" charset="-128"/>
              </a:rPr>
              <a:t>転送パターンＥ：受信料アカウントのメールアドレス確認希望</a:t>
            </a:r>
            <a:r>
              <a:rPr lang="ja-JP" altLang="en-US" b="1" dirty="0">
                <a:latin typeface="メイリオ" panose="020B0604030504040204" pitchFamily="50" charset="-128"/>
                <a:ea typeface="メイリオ" panose="020B0604030504040204" pitchFamily="50" charset="-128"/>
              </a:rPr>
              <a:t>で、</a:t>
            </a:r>
            <a:r>
              <a:rPr lang="ja-JP" altLang="en-US" b="1" dirty="0">
                <a:solidFill>
                  <a:srgbClr val="FFFF00"/>
                </a:solidFill>
                <a:latin typeface="メイリオ" panose="020B0604030504040204" pitchFamily="50" charset="-128"/>
                <a:ea typeface="メイリオ" panose="020B0604030504040204" pitchFamily="50" charset="-128"/>
              </a:rPr>
              <a:t>電話番号</a:t>
            </a:r>
            <a:endParaRPr lang="en-US" altLang="ja-JP" b="1" dirty="0">
              <a:solidFill>
                <a:srgbClr val="FFFF00"/>
              </a:solidFill>
              <a:latin typeface="メイリオ" panose="020B0604030504040204" pitchFamily="50" charset="-128"/>
              <a:ea typeface="メイリオ" panose="020B0604030504040204" pitchFamily="50" charset="-128"/>
            </a:endParaRPr>
          </a:p>
          <a:p>
            <a:pPr lvl="2"/>
            <a:r>
              <a:rPr lang="ja-JP" altLang="en-US" b="1" dirty="0">
                <a:solidFill>
                  <a:srgbClr val="FFFF00"/>
                </a:solidFill>
                <a:latin typeface="メイリオ" panose="020B0604030504040204" pitchFamily="50" charset="-128"/>
                <a:ea typeface="メイリオ" panose="020B0604030504040204" pitchFamily="50" charset="-128"/>
              </a:rPr>
              <a:t>　</a:t>
            </a:r>
            <a:r>
              <a:rPr lang="en-US" altLang="ja-JP" b="1" dirty="0">
                <a:solidFill>
                  <a:srgbClr val="FFFF00"/>
                </a:solidFill>
                <a:latin typeface="メイリオ" panose="020B0604030504040204" pitchFamily="50" charset="-128"/>
                <a:ea typeface="メイリオ" panose="020B0604030504040204" pitchFamily="50" charset="-128"/>
              </a:rPr>
              <a:t>XXX-XXXX-XXXX</a:t>
            </a:r>
            <a:r>
              <a:rPr lang="ja-JP" altLang="en-US" b="1" dirty="0">
                <a:latin typeface="メイリオ" panose="020B0604030504040204" pitchFamily="50" charset="-128"/>
                <a:ea typeface="メイリオ" panose="020B0604030504040204" pitchFamily="50" charset="-128"/>
              </a:rPr>
              <a:t>、</a:t>
            </a:r>
            <a:r>
              <a:rPr lang="ja-JP" altLang="en-US" b="1" dirty="0">
                <a:solidFill>
                  <a:srgbClr val="FFFF00"/>
                </a:solidFill>
                <a:latin typeface="メイリオ" panose="020B0604030504040204" pitchFamily="50" charset="-128"/>
                <a:ea typeface="メイリオ" panose="020B0604030504040204" pitchFamily="50" charset="-128"/>
              </a:rPr>
              <a:t>契約者本人 ／ 配偶者 ／ 本人（または配偶者）同席での第三者</a:t>
            </a:r>
            <a:endParaRPr lang="en-US" altLang="ja-JP" b="1" dirty="0">
              <a:solidFill>
                <a:srgbClr val="FFFF00"/>
              </a:solidFill>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　からの入電ですね。　</a:t>
            </a:r>
            <a:r>
              <a:rPr lang="en-US" altLang="ja-JP" b="1" dirty="0">
                <a:latin typeface="メイリオ" panose="020B0604030504040204" pitchFamily="50" charset="-128"/>
                <a:ea typeface="メイリオ" panose="020B0604030504040204" pitchFamily="50" charset="-128"/>
              </a:rPr>
              <a:t>   </a:t>
            </a:r>
            <a:r>
              <a:rPr lang="ja-JP" altLang="en-US" b="1" dirty="0">
                <a:latin typeface="メイリオ" panose="020B0604030504040204" pitchFamily="50" charset="-128"/>
                <a:ea typeface="メイリオ" panose="020B0604030504040204" pitchFamily="50" charset="-128"/>
              </a:rPr>
              <a:t>そのほか、申し送り事項はございますか？」</a:t>
            </a:r>
            <a:endParaRPr kumimoji="1" lang="ja-JP" altLang="en-US" b="1" dirty="0">
              <a:latin typeface="メイリオ" panose="020B0604030504040204" pitchFamily="50" charset="-128"/>
              <a:ea typeface="メイリオ" panose="020B0604030504040204" pitchFamily="50" charset="-128"/>
            </a:endParaRPr>
          </a:p>
        </p:txBody>
      </p:sp>
      <p:sp>
        <p:nvSpPr>
          <p:cNvPr id="21" name="四角形: 角を丸くする 20">
            <a:extLst>
              <a:ext uri="{FF2B5EF4-FFF2-40B4-BE49-F238E27FC236}">
                <a16:creationId xmlns:a16="http://schemas.microsoft.com/office/drawing/2014/main" id="{11CB5CCA-204C-4E30-B033-EAAF3F78773F}"/>
              </a:ext>
            </a:extLst>
          </p:cNvPr>
          <p:cNvSpPr/>
          <p:nvPr/>
        </p:nvSpPr>
        <p:spPr>
          <a:xfrm>
            <a:off x="514234" y="3946338"/>
            <a:ext cx="11053766" cy="776361"/>
          </a:xfrm>
          <a:prstGeom prst="roundRect">
            <a:avLst/>
          </a:prstGeom>
          <a:solidFill>
            <a:srgbClr val="0070C0"/>
          </a:solidFill>
          <a:ln/>
        </p:spPr>
        <p:style>
          <a:lnRef idx="3">
            <a:schemeClr val="lt1"/>
          </a:lnRef>
          <a:fillRef idx="1">
            <a:schemeClr val="accent2"/>
          </a:fillRef>
          <a:effectRef idx="1">
            <a:schemeClr val="accent2"/>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「～～～～です。 よろしくお願いします。」　</a:t>
            </a:r>
            <a:r>
              <a:rPr kumimoji="1" lang="ja-JP" altLang="en-US" b="1"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連携が必要な情報のみ申し送り）</a:t>
            </a:r>
            <a:endParaRPr kumimoji="1" lang="ja-JP" altLang="en-US" b="1" dirty="0">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58741860-42CF-33BA-01D6-8525AAB796E2}"/>
              </a:ext>
            </a:extLst>
          </p:cNvPr>
          <p:cNvSpPr/>
          <p:nvPr/>
        </p:nvSpPr>
        <p:spPr>
          <a:xfrm>
            <a:off x="538234" y="4870170"/>
            <a:ext cx="11053766" cy="776361"/>
          </a:xfrm>
          <a:prstGeom prst="roundRect">
            <a:avLst/>
          </a:prstGeom>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「かしこまりました。 それではお客様へお繋ぎください。 ご対応ありがとうございました。」</a:t>
            </a:r>
            <a:endParaRPr kumimoji="1" lang="ja-JP" altLang="en-US" b="1" dirty="0">
              <a:latin typeface="メイリオ" panose="020B0604030504040204" pitchFamily="50" charset="-128"/>
              <a:ea typeface="メイリオ" panose="020B0604030504040204" pitchFamily="50" charset="-128"/>
            </a:endParaRPr>
          </a:p>
        </p:txBody>
      </p:sp>
      <p:pic>
        <p:nvPicPr>
          <p:cNvPr id="24" name="図 23">
            <a:extLst>
              <a:ext uri="{FF2B5EF4-FFF2-40B4-BE49-F238E27FC236}">
                <a16:creationId xmlns:a16="http://schemas.microsoft.com/office/drawing/2014/main" id="{1678DA5F-654D-A1C2-3233-DB51B4F3AC30}"/>
              </a:ext>
            </a:extLst>
          </p:cNvPr>
          <p:cNvPicPr>
            <a:picLocks noChangeAspect="1"/>
          </p:cNvPicPr>
          <p:nvPr/>
        </p:nvPicPr>
        <p:blipFill>
          <a:blip r:embed="rId2"/>
          <a:stretch>
            <a:fillRect/>
          </a:stretch>
        </p:blipFill>
        <p:spPr>
          <a:xfrm>
            <a:off x="777148" y="1246746"/>
            <a:ext cx="470124" cy="894522"/>
          </a:xfrm>
          <a:prstGeom prst="rect">
            <a:avLst/>
          </a:prstGeom>
        </p:spPr>
      </p:pic>
      <p:pic>
        <p:nvPicPr>
          <p:cNvPr id="26" name="図 25">
            <a:extLst>
              <a:ext uri="{FF2B5EF4-FFF2-40B4-BE49-F238E27FC236}">
                <a16:creationId xmlns:a16="http://schemas.microsoft.com/office/drawing/2014/main" id="{165D7386-BB5A-BFA2-21D0-31BB0ABA6607}"/>
              </a:ext>
            </a:extLst>
          </p:cNvPr>
          <p:cNvPicPr>
            <a:picLocks noChangeAspect="1"/>
          </p:cNvPicPr>
          <p:nvPr/>
        </p:nvPicPr>
        <p:blipFill>
          <a:blip r:embed="rId3"/>
          <a:stretch>
            <a:fillRect/>
          </a:stretch>
        </p:blipFill>
        <p:spPr>
          <a:xfrm>
            <a:off x="774290" y="2744480"/>
            <a:ext cx="472982" cy="913099"/>
          </a:xfrm>
          <a:prstGeom prst="rect">
            <a:avLst/>
          </a:prstGeom>
        </p:spPr>
      </p:pic>
      <p:pic>
        <p:nvPicPr>
          <p:cNvPr id="28" name="図 27">
            <a:extLst>
              <a:ext uri="{FF2B5EF4-FFF2-40B4-BE49-F238E27FC236}">
                <a16:creationId xmlns:a16="http://schemas.microsoft.com/office/drawing/2014/main" id="{14F0833E-C8F8-33F0-6B93-BE043EA5E306}"/>
              </a:ext>
            </a:extLst>
          </p:cNvPr>
          <p:cNvPicPr>
            <a:picLocks noChangeAspect="1"/>
          </p:cNvPicPr>
          <p:nvPr/>
        </p:nvPicPr>
        <p:blipFill>
          <a:blip r:embed="rId2"/>
          <a:stretch>
            <a:fillRect/>
          </a:stretch>
        </p:blipFill>
        <p:spPr>
          <a:xfrm>
            <a:off x="774290" y="3868027"/>
            <a:ext cx="470124" cy="894522"/>
          </a:xfrm>
          <a:prstGeom prst="rect">
            <a:avLst/>
          </a:prstGeom>
        </p:spPr>
      </p:pic>
      <p:pic>
        <p:nvPicPr>
          <p:cNvPr id="29" name="図 28">
            <a:extLst>
              <a:ext uri="{FF2B5EF4-FFF2-40B4-BE49-F238E27FC236}">
                <a16:creationId xmlns:a16="http://schemas.microsoft.com/office/drawing/2014/main" id="{CAEDE9DC-DBD4-9833-79E3-FAC2040AE805}"/>
              </a:ext>
            </a:extLst>
          </p:cNvPr>
          <p:cNvPicPr>
            <a:picLocks noChangeAspect="1"/>
          </p:cNvPicPr>
          <p:nvPr/>
        </p:nvPicPr>
        <p:blipFill>
          <a:blip r:embed="rId3"/>
          <a:stretch>
            <a:fillRect/>
          </a:stretch>
        </p:blipFill>
        <p:spPr>
          <a:xfrm>
            <a:off x="774290" y="4801800"/>
            <a:ext cx="472982" cy="913099"/>
          </a:xfrm>
          <a:prstGeom prst="rect">
            <a:avLst/>
          </a:prstGeom>
        </p:spPr>
      </p:pic>
    </p:spTree>
    <p:extLst>
      <p:ext uri="{BB962C8B-B14F-4D97-AF65-F5344CB8AC3E}">
        <p14:creationId xmlns:p14="http://schemas.microsoft.com/office/powerpoint/2010/main" val="1159869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6D5FD-0706-A235-C024-18C8AA39336C}"/>
            </a:ext>
          </a:extLst>
        </p:cNvPr>
        <p:cNvGrpSpPr/>
        <p:nvPr/>
      </p:nvGrpSpPr>
      <p:grpSpPr>
        <a:xfrm>
          <a:off x="0" y="0"/>
          <a:ext cx="0" cy="0"/>
          <a:chOff x="0" y="0"/>
          <a:chExt cx="0" cy="0"/>
        </a:xfrm>
      </p:grpSpPr>
      <p:sp>
        <p:nvSpPr>
          <p:cNvPr id="26" name="四角形: 角を丸くする 25">
            <a:extLst>
              <a:ext uri="{FF2B5EF4-FFF2-40B4-BE49-F238E27FC236}">
                <a16:creationId xmlns:a16="http://schemas.microsoft.com/office/drawing/2014/main" id="{44EF9595-695D-65C3-2632-CA295CBAD445}"/>
              </a:ext>
            </a:extLst>
          </p:cNvPr>
          <p:cNvSpPr/>
          <p:nvPr/>
        </p:nvSpPr>
        <p:spPr>
          <a:xfrm>
            <a:off x="1506378" y="5970297"/>
            <a:ext cx="10370990" cy="828000"/>
          </a:xfrm>
          <a:prstGeom prst="roundRect">
            <a:avLst>
              <a:gd name="adj" fmla="val 17046"/>
            </a:avLst>
          </a:prstGeom>
          <a:ln w="57150">
            <a:solidFill>
              <a:schemeClr val="accent6"/>
            </a:solidFill>
          </a:ln>
        </p:spPr>
        <p:style>
          <a:lnRef idx="2">
            <a:schemeClr val="accent4"/>
          </a:lnRef>
          <a:fillRef idx="1">
            <a:schemeClr val="lt1"/>
          </a:fillRef>
          <a:effectRef idx="0">
            <a:schemeClr val="accent4"/>
          </a:effectRef>
          <a:fontRef idx="minor">
            <a:schemeClr val="dk1"/>
          </a:fontRef>
        </p:style>
        <p:txBody>
          <a:bodyPr wrap="none" lIns="180000" rtlCol="0" anchor="ctr" anchorCtr="0">
            <a:noAutofit/>
          </a:bodyPr>
          <a:lstStyle/>
          <a:p>
            <a:r>
              <a:rPr lang="ja-JP" altLang="en-US" b="1" dirty="0">
                <a:latin typeface="メイリオ" panose="020B0604030504040204" pitchFamily="50" charset="-128"/>
                <a:ea typeface="メイリオ" panose="020B0604030504040204" pitchFamily="50" charset="-128"/>
              </a:rPr>
              <a:t>転送不可　　かけ直し依頼</a:t>
            </a:r>
            <a:endParaRPr lang="en-US" altLang="ja-JP" b="1" dirty="0">
              <a:latin typeface="メイリオ" panose="020B0604030504040204" pitchFamily="50" charset="-128"/>
              <a:ea typeface="メイリオ" panose="020B0604030504040204" pitchFamily="50" charset="-128"/>
            </a:endParaRPr>
          </a:p>
          <a:p>
            <a:r>
              <a:rPr kumimoji="1" lang="ja-JP" altLang="en-US" b="1" dirty="0">
                <a:highlight>
                  <a:srgbClr val="FFFF00"/>
                </a:highlight>
                <a:latin typeface="メイリオ" panose="020B0604030504040204" pitchFamily="50" charset="-128"/>
                <a:ea typeface="メイリオ" panose="020B0604030504040204" pitchFamily="50" charset="-128"/>
              </a:rPr>
              <a:t>「受信料アカウントの削除については、専門窓口 ガイダンス</a:t>
            </a:r>
            <a:r>
              <a:rPr kumimoji="1" lang="en-US" altLang="ja-JP" b="1" dirty="0">
                <a:highlight>
                  <a:srgbClr val="FFFF00"/>
                </a:highlight>
                <a:latin typeface="メイリオ" panose="020B0604030504040204" pitchFamily="50" charset="-128"/>
                <a:ea typeface="メイリオ" panose="020B0604030504040204" pitchFamily="50" charset="-128"/>
              </a:rPr>
              <a:t>[2] </a:t>
            </a:r>
            <a:r>
              <a:rPr kumimoji="1" lang="ja-JP" altLang="en-US" b="1" dirty="0">
                <a:highlight>
                  <a:srgbClr val="FFFF00"/>
                </a:highlight>
                <a:latin typeface="メイリオ" panose="020B0604030504040204" pitchFamily="50" charset="-128"/>
                <a:ea typeface="メイリオ" panose="020B0604030504040204" pitchFamily="50" charset="-128"/>
              </a:rPr>
              <a:t>にお掛け直しください」</a:t>
            </a:r>
          </a:p>
        </p:txBody>
      </p:sp>
      <p:sp>
        <p:nvSpPr>
          <p:cNvPr id="25" name="四角形: 角を丸くする 24">
            <a:extLst>
              <a:ext uri="{FF2B5EF4-FFF2-40B4-BE49-F238E27FC236}">
                <a16:creationId xmlns:a16="http://schemas.microsoft.com/office/drawing/2014/main" id="{5B286492-851F-7A20-B982-7120BC244E60}"/>
              </a:ext>
            </a:extLst>
          </p:cNvPr>
          <p:cNvSpPr/>
          <p:nvPr/>
        </p:nvSpPr>
        <p:spPr>
          <a:xfrm>
            <a:off x="1506378" y="5048211"/>
            <a:ext cx="10370990" cy="828001"/>
          </a:xfrm>
          <a:prstGeom prst="roundRect">
            <a:avLst>
              <a:gd name="adj" fmla="val 17046"/>
            </a:avLst>
          </a:prstGeom>
          <a:ln w="57150">
            <a:solidFill>
              <a:srgbClr val="3333FF"/>
            </a:solidFill>
          </a:ln>
        </p:spPr>
        <p:style>
          <a:lnRef idx="2">
            <a:schemeClr val="accent4"/>
          </a:lnRef>
          <a:fillRef idx="1">
            <a:schemeClr val="lt1"/>
          </a:fillRef>
          <a:effectRef idx="0">
            <a:schemeClr val="accent4"/>
          </a:effectRef>
          <a:fontRef idx="minor">
            <a:schemeClr val="dk1"/>
          </a:fontRef>
        </p:style>
        <p:txBody>
          <a:bodyPr wrap="none" lIns="180000" rtlCol="0" anchor="ctr" anchorCtr="0">
            <a:noAutofit/>
          </a:bodyPr>
          <a:lstStyle/>
          <a:p>
            <a:r>
              <a:rPr lang="ja-JP" altLang="en-US" b="1" dirty="0">
                <a:latin typeface="メイリオ" panose="020B0604030504040204" pitchFamily="50" charset="-128"/>
                <a:ea typeface="メイリオ" panose="020B0604030504040204" pitchFamily="50" charset="-128"/>
              </a:rPr>
              <a:t>転送可　　</a:t>
            </a:r>
            <a:r>
              <a:rPr kumimoji="1" lang="en-US" altLang="ja-JP" b="1" dirty="0">
                <a:latin typeface="メイリオ" panose="020B0604030504040204" pitchFamily="50" charset="-128"/>
                <a:ea typeface="メイリオ" panose="020B0604030504040204" pitchFamily="50" charset="-128"/>
              </a:rPr>
              <a:t>【</a:t>
            </a:r>
            <a:r>
              <a:rPr kumimoji="1" lang="ja-JP" altLang="en-US" b="1" dirty="0">
                <a:latin typeface="メイリオ" panose="020B0604030504040204" pitchFamily="50" charset="-128"/>
                <a:ea typeface="メイリオ" panose="020B0604030504040204" pitchFamily="50" charset="-128"/>
              </a:rPr>
              <a:t>転送パターンＦ</a:t>
            </a:r>
            <a:r>
              <a:rPr kumimoji="1" lang="en-US" altLang="ja-JP" b="1" dirty="0">
                <a:latin typeface="メイリオ" panose="020B0604030504040204" pitchFamily="50" charset="-128"/>
                <a:ea typeface="メイリオ" panose="020B0604030504040204" pitchFamily="50" charset="-128"/>
              </a:rPr>
              <a:t>】</a:t>
            </a:r>
          </a:p>
          <a:p>
            <a:r>
              <a:rPr kumimoji="1" lang="ja-JP" altLang="en-US" b="1" dirty="0">
                <a:highlight>
                  <a:srgbClr val="FFFF00"/>
                </a:highlight>
                <a:latin typeface="メイリオ" panose="020B0604030504040204" pitchFamily="50" charset="-128"/>
                <a:ea typeface="メイリオ" panose="020B0604030504040204" pitchFamily="50" charset="-128"/>
              </a:rPr>
              <a:t>「受信料アカウントの削除について、専門の窓口にお繋ぎします」</a:t>
            </a:r>
          </a:p>
        </p:txBody>
      </p:sp>
      <p:sp>
        <p:nvSpPr>
          <p:cNvPr id="2" name="タイトル 1">
            <a:extLst>
              <a:ext uri="{FF2B5EF4-FFF2-40B4-BE49-F238E27FC236}">
                <a16:creationId xmlns:a16="http://schemas.microsoft.com/office/drawing/2014/main" id="{76520C6D-70DD-C00A-0EBA-E168FA2126C4}"/>
              </a:ext>
            </a:extLst>
          </p:cNvPr>
          <p:cNvSpPr>
            <a:spLocks noGrp="1"/>
          </p:cNvSpPr>
          <p:nvPr>
            <p:ph type="title"/>
          </p:nvPr>
        </p:nvSpPr>
        <p:spPr>
          <a:xfrm>
            <a:off x="540000" y="180000"/>
            <a:ext cx="10080000" cy="468000"/>
          </a:xfrm>
        </p:spPr>
        <p:txBody>
          <a:bodyPr wrap="none" anchor="b" anchorCtr="0">
            <a:noAutofit/>
          </a:bodyPr>
          <a:lstStyle/>
          <a:p>
            <a:r>
              <a:rPr kumimoji="1" lang="en-US" altLang="ja-JP" dirty="0"/>
              <a:t>S</a:t>
            </a:r>
            <a:r>
              <a:rPr kumimoji="1" lang="ja-JP" altLang="en-US" dirty="0"/>
              <a:t>→</a:t>
            </a:r>
            <a:r>
              <a:rPr kumimoji="1" lang="en-US" altLang="ja-JP" dirty="0"/>
              <a:t>J</a:t>
            </a:r>
            <a:r>
              <a:rPr kumimoji="1" lang="ja-JP" altLang="en-US" dirty="0"/>
              <a:t>転送　対象パターンＦ　</a:t>
            </a:r>
            <a:r>
              <a:rPr kumimoji="1" lang="en-US" altLang="ja-JP" dirty="0"/>
              <a:t>【</a:t>
            </a:r>
            <a:r>
              <a:rPr kumimoji="1" lang="ja-JP" altLang="en-US" dirty="0"/>
              <a:t>お客様対応</a:t>
            </a:r>
            <a:r>
              <a:rPr kumimoji="1" lang="en-US" altLang="ja-JP" dirty="0"/>
              <a:t>】</a:t>
            </a:r>
            <a:endParaRPr kumimoji="1" lang="ja-JP" altLang="en-US" b="1" dirty="0"/>
          </a:p>
        </p:txBody>
      </p:sp>
      <p:sp>
        <p:nvSpPr>
          <p:cNvPr id="6" name="四角形: 角を丸くする 5">
            <a:extLst>
              <a:ext uri="{FF2B5EF4-FFF2-40B4-BE49-F238E27FC236}">
                <a16:creationId xmlns:a16="http://schemas.microsoft.com/office/drawing/2014/main" id="{01ACD8D8-BE99-AA38-D260-4FB8B408E390}"/>
              </a:ext>
            </a:extLst>
          </p:cNvPr>
          <p:cNvSpPr/>
          <p:nvPr/>
        </p:nvSpPr>
        <p:spPr>
          <a:xfrm>
            <a:off x="150829" y="1632661"/>
            <a:ext cx="11887200" cy="1624291"/>
          </a:xfrm>
          <a:prstGeom prst="roundRect">
            <a:avLst/>
          </a:prstGeom>
          <a:solidFill>
            <a:schemeClr val="bg1">
              <a:lumMod val="85000"/>
            </a:schemeClr>
          </a:solidFill>
          <a:ln/>
        </p:spPr>
        <p:style>
          <a:lnRef idx="3">
            <a:schemeClr val="lt1"/>
          </a:lnRef>
          <a:fillRef idx="1">
            <a:schemeClr val="accent2"/>
          </a:fillRef>
          <a:effectRef idx="1">
            <a:schemeClr val="accent2"/>
          </a:effectRef>
          <a:fontRef idx="minor">
            <a:schemeClr val="lt1"/>
          </a:fontRef>
        </p:style>
        <p:txBody>
          <a:bodyPr wrap="none" rtlCol="0" anchor="ctr">
            <a:noAutofit/>
          </a:bodyPr>
          <a:lstStyle/>
          <a:p>
            <a:pPr marL="1080000" lvl="2"/>
            <a:r>
              <a:rPr kumimoji="1" lang="ja-JP" altLang="en-US" b="1" dirty="0">
                <a:solidFill>
                  <a:schemeClr val="tx1"/>
                </a:solidFill>
                <a:latin typeface="メイリオ" panose="020B0604030504040204" pitchFamily="50" charset="-128"/>
                <a:ea typeface="メイリオ" panose="020B0604030504040204" pitchFamily="50" charset="-128"/>
              </a:rPr>
              <a:t>入電時に確認する内容</a:t>
            </a:r>
            <a:endParaRPr lang="en-US" altLang="ja-JP" b="1" dirty="0">
              <a:solidFill>
                <a:schemeClr val="tx1"/>
              </a:solidFill>
              <a:latin typeface="メイリオ" panose="020B0604030504040204" pitchFamily="50" charset="-128"/>
              <a:ea typeface="メイリオ" panose="020B0604030504040204" pitchFamily="50" charset="-128"/>
            </a:endParaRPr>
          </a:p>
          <a:p>
            <a:pPr lvl="2">
              <a:lnSpc>
                <a:spcPts val="700"/>
              </a:lnSpc>
            </a:pPr>
            <a:endParaRPr kumimoji="1" lang="en-US" altLang="ja-JP" sz="900" b="1" dirty="0">
              <a:solidFill>
                <a:schemeClr val="tx1"/>
              </a:solidFill>
              <a:latin typeface="メイリオ" panose="020B0604030504040204" pitchFamily="50" charset="-128"/>
              <a:ea typeface="メイリオ" panose="020B0604030504040204" pitchFamily="50" charset="-128"/>
            </a:endParaRPr>
          </a:p>
          <a:p>
            <a:pPr marL="1422900" lvl="2" indent="-342900">
              <a:buFont typeface="+mj-ea"/>
              <a:buAutoNum type="circleNumDbPlain"/>
            </a:pPr>
            <a:r>
              <a:rPr kumimoji="1" lang="ja-JP" altLang="en-US" b="1" dirty="0">
                <a:solidFill>
                  <a:schemeClr val="tx1"/>
                </a:solidFill>
                <a:latin typeface="メイリオ" panose="020B0604030504040204" pitchFamily="50" charset="-128"/>
                <a:ea typeface="メイリオ" panose="020B0604030504040204" pitchFamily="50" charset="-128"/>
              </a:rPr>
              <a:t>新規で</a:t>
            </a:r>
            <a:r>
              <a:rPr kumimoji="1" lang="en-US" altLang="ja-JP" b="1" dirty="0">
                <a:solidFill>
                  <a:schemeClr val="tx1"/>
                </a:solidFill>
                <a:latin typeface="メイリオ" panose="020B0604030504040204" pitchFamily="50" charset="-128"/>
                <a:ea typeface="メイリオ" panose="020B0604030504040204" pitchFamily="50" charset="-128"/>
              </a:rPr>
              <a:t>NHK ONE</a:t>
            </a:r>
            <a:r>
              <a:rPr kumimoji="1" lang="ja-JP" altLang="en-US" b="1" dirty="0">
                <a:solidFill>
                  <a:schemeClr val="tx1"/>
                </a:solidFill>
                <a:latin typeface="メイリオ" panose="020B0604030504040204" pitchFamily="50" charset="-128"/>
                <a:ea typeface="メイリオ" panose="020B0604030504040204" pitchFamily="50" charset="-128"/>
              </a:rPr>
              <a:t>アカウントを登録済み（もしくは</a:t>
            </a:r>
            <a:r>
              <a:rPr kumimoji="1" lang="en-US" altLang="ja-JP" b="1" dirty="0">
                <a:solidFill>
                  <a:schemeClr val="tx1"/>
                </a:solidFill>
                <a:latin typeface="メイリオ" panose="020B0604030504040204" pitchFamily="50" charset="-128"/>
                <a:ea typeface="メイリオ" panose="020B0604030504040204" pitchFamily="50" charset="-128"/>
              </a:rPr>
              <a:t>26</a:t>
            </a:r>
            <a:r>
              <a:rPr kumimoji="1" lang="ja-JP" altLang="en-US" b="1" dirty="0">
                <a:solidFill>
                  <a:schemeClr val="tx1"/>
                </a:solidFill>
                <a:latin typeface="メイリオ" panose="020B0604030504040204" pitchFamily="50" charset="-128"/>
                <a:ea typeface="メイリオ" panose="020B0604030504040204" pitchFamily="50" charset="-128"/>
              </a:rPr>
              <a:t>年</a:t>
            </a:r>
            <a:r>
              <a:rPr kumimoji="1" lang="en-US" altLang="ja-JP" b="1" dirty="0">
                <a:solidFill>
                  <a:schemeClr val="tx1"/>
                </a:solidFill>
                <a:latin typeface="メイリオ" panose="020B0604030504040204" pitchFamily="50" charset="-128"/>
                <a:ea typeface="メイリオ" panose="020B0604030504040204" pitchFamily="50" charset="-128"/>
              </a:rPr>
              <a:t>9</a:t>
            </a:r>
            <a:r>
              <a:rPr kumimoji="1" lang="ja-JP" altLang="en-US" b="1" dirty="0">
                <a:solidFill>
                  <a:schemeClr val="tx1"/>
                </a:solidFill>
                <a:latin typeface="メイリオ" panose="020B0604030504040204" pitchFamily="50" charset="-128"/>
                <a:ea typeface="メイリオ" panose="020B0604030504040204" pitchFamily="50" charset="-128"/>
              </a:rPr>
              <a:t>月以前に移行済み）であること</a:t>
            </a:r>
          </a:p>
          <a:p>
            <a:pPr marL="1422900" lvl="2" indent="-342900">
              <a:buFont typeface="+mj-ea"/>
              <a:buAutoNum type="circleNumDbPlain"/>
            </a:pPr>
            <a:r>
              <a:rPr kumimoji="1" lang="en-US" altLang="ja-JP" b="1" dirty="0">
                <a:solidFill>
                  <a:schemeClr val="tx1"/>
                </a:solidFill>
                <a:latin typeface="メイリオ" panose="020B0604030504040204" pitchFamily="50" charset="-128"/>
                <a:ea typeface="メイリオ" panose="020B0604030504040204" pitchFamily="50" charset="-128"/>
              </a:rPr>
              <a:t>S-J</a:t>
            </a:r>
            <a:r>
              <a:rPr kumimoji="1" lang="ja-JP" altLang="en-US" b="1" dirty="0">
                <a:solidFill>
                  <a:schemeClr val="tx1"/>
                </a:solidFill>
                <a:latin typeface="メイリオ" panose="020B0604030504040204" pitchFamily="50" charset="-128"/>
                <a:ea typeface="メイリオ" panose="020B0604030504040204" pitchFamily="50" charset="-128"/>
              </a:rPr>
              <a:t>連携済みであること</a:t>
            </a:r>
          </a:p>
          <a:p>
            <a:pPr marL="1422900" lvl="2" indent="-342900">
              <a:buFont typeface="+mj-ea"/>
              <a:buAutoNum type="circleNumDbPlain"/>
            </a:pPr>
            <a:r>
              <a:rPr kumimoji="1" lang="ja-JP" altLang="en-US" b="1" dirty="0">
                <a:solidFill>
                  <a:schemeClr val="tx1"/>
                </a:solidFill>
                <a:latin typeface="メイリオ" panose="020B0604030504040204" pitchFamily="50" charset="-128"/>
                <a:ea typeface="メイリオ" panose="020B0604030504040204" pitchFamily="50" charset="-128"/>
              </a:rPr>
              <a:t>登録メールアドレスが現在使用不可</a:t>
            </a:r>
          </a:p>
          <a:p>
            <a:pPr marL="1422900" lvl="2" indent="-342900">
              <a:buFont typeface="+mj-ea"/>
              <a:buAutoNum type="circleNumDbPlain"/>
            </a:pPr>
            <a:r>
              <a:rPr kumimoji="1" lang="ja-JP" altLang="en-US" b="1" dirty="0">
                <a:solidFill>
                  <a:schemeClr val="tx1"/>
                </a:solidFill>
                <a:latin typeface="メイリオ" panose="020B0604030504040204" pitchFamily="50" charset="-128"/>
                <a:ea typeface="メイリオ" panose="020B0604030504040204" pitchFamily="50" charset="-128"/>
              </a:rPr>
              <a:t>復旧用メールアドレス・電話番号による復旧導線も使用不可</a:t>
            </a:r>
          </a:p>
        </p:txBody>
      </p:sp>
      <p:pic>
        <p:nvPicPr>
          <p:cNvPr id="18" name="図 17">
            <a:extLst>
              <a:ext uri="{FF2B5EF4-FFF2-40B4-BE49-F238E27FC236}">
                <a16:creationId xmlns:a16="http://schemas.microsoft.com/office/drawing/2014/main" id="{17C31836-D7AF-2E9B-7BEF-D9188701FF01}"/>
              </a:ext>
            </a:extLst>
          </p:cNvPr>
          <p:cNvPicPr>
            <a:picLocks noChangeAspect="1"/>
          </p:cNvPicPr>
          <p:nvPr/>
        </p:nvPicPr>
        <p:blipFill>
          <a:blip r:embed="rId3"/>
          <a:stretch>
            <a:fillRect/>
          </a:stretch>
        </p:blipFill>
        <p:spPr>
          <a:xfrm>
            <a:off x="263848" y="1943887"/>
            <a:ext cx="860799" cy="956825"/>
          </a:xfrm>
          <a:prstGeom prst="rect">
            <a:avLst/>
          </a:prstGeom>
        </p:spPr>
      </p:pic>
      <p:pic>
        <p:nvPicPr>
          <p:cNvPr id="15" name="図 14">
            <a:extLst>
              <a:ext uri="{FF2B5EF4-FFF2-40B4-BE49-F238E27FC236}">
                <a16:creationId xmlns:a16="http://schemas.microsoft.com/office/drawing/2014/main" id="{67A235F8-B3F0-E830-A53B-A941164A3B1F}"/>
              </a:ext>
            </a:extLst>
          </p:cNvPr>
          <p:cNvPicPr>
            <a:picLocks noChangeAspect="1"/>
          </p:cNvPicPr>
          <p:nvPr/>
        </p:nvPicPr>
        <p:blipFill>
          <a:blip r:embed="rId4"/>
          <a:stretch>
            <a:fillRect/>
          </a:stretch>
        </p:blipFill>
        <p:spPr>
          <a:xfrm>
            <a:off x="11053633" y="1852978"/>
            <a:ext cx="758296" cy="1095528"/>
          </a:xfrm>
          <a:prstGeom prst="rect">
            <a:avLst/>
          </a:prstGeom>
        </p:spPr>
      </p:pic>
      <p:sp>
        <p:nvSpPr>
          <p:cNvPr id="20" name="四角形: 角を丸くする 19">
            <a:extLst>
              <a:ext uri="{FF2B5EF4-FFF2-40B4-BE49-F238E27FC236}">
                <a16:creationId xmlns:a16="http://schemas.microsoft.com/office/drawing/2014/main" id="{7DC04B83-78B8-282A-3029-F8554B05EFFE}"/>
              </a:ext>
            </a:extLst>
          </p:cNvPr>
          <p:cNvSpPr/>
          <p:nvPr/>
        </p:nvSpPr>
        <p:spPr>
          <a:xfrm>
            <a:off x="150829" y="790789"/>
            <a:ext cx="11887200" cy="772544"/>
          </a:xfrm>
          <a:prstGeom prst="roundRect">
            <a:avLst>
              <a:gd name="adj" fmla="val 34424"/>
            </a:avLst>
          </a:prstGeom>
          <a:solidFill>
            <a:schemeClr val="bg1">
              <a:lumMod val="85000"/>
            </a:schemeClr>
          </a:solidFill>
          <a:ln/>
        </p:spPr>
        <p:style>
          <a:lnRef idx="3">
            <a:schemeClr val="lt1"/>
          </a:lnRef>
          <a:fillRef idx="1">
            <a:schemeClr val="accent2"/>
          </a:fillRef>
          <a:effectRef idx="1">
            <a:schemeClr val="accent2"/>
          </a:effectRef>
          <a:fontRef idx="minor">
            <a:schemeClr val="lt1"/>
          </a:fontRef>
        </p:style>
        <p:txBody>
          <a:bodyPr wrap="none" lIns="0" rIns="0" rtlCol="0" anchor="ctr" anchorCtr="1">
            <a:noAutofit/>
          </a:bodyPr>
          <a:lstStyle/>
          <a:p>
            <a:endParaRPr kumimoji="1"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69E973A4-830F-859B-A004-EF2628F1CF03}"/>
              </a:ext>
            </a:extLst>
          </p:cNvPr>
          <p:cNvSpPr/>
          <p:nvPr/>
        </p:nvSpPr>
        <p:spPr>
          <a:xfrm>
            <a:off x="2922308" y="878975"/>
            <a:ext cx="9055826" cy="669401"/>
          </a:xfrm>
          <a:prstGeom prst="roundRect">
            <a:avLst>
              <a:gd name="adj" fmla="val 34424"/>
            </a:avLst>
          </a:prstGeom>
          <a:noFill/>
          <a:ln>
            <a:noFill/>
          </a:ln>
        </p:spPr>
        <p:style>
          <a:lnRef idx="3">
            <a:schemeClr val="lt1"/>
          </a:lnRef>
          <a:fillRef idx="1">
            <a:schemeClr val="accent2"/>
          </a:fillRef>
          <a:effectRef idx="1">
            <a:schemeClr val="accent2"/>
          </a:effectRef>
          <a:fontRef idx="minor">
            <a:schemeClr val="lt1"/>
          </a:fontRef>
        </p:style>
        <p:txBody>
          <a:bodyPr wrap="none" lIns="0" rIns="0" rtlCol="0" anchor="ctr" anchorCtr="1">
            <a:noAutofit/>
          </a:bodyPr>
          <a:lstStyle/>
          <a:p>
            <a:r>
              <a:rPr kumimoji="1" lang="en-US" altLang="ja-JP" sz="2000" b="1" dirty="0">
                <a:solidFill>
                  <a:schemeClr val="tx1"/>
                </a:solidFill>
                <a:latin typeface="メイリオ" panose="020B0604030504040204" pitchFamily="50" charset="-128"/>
                <a:ea typeface="メイリオ" panose="020B0604030504040204" pitchFamily="50" charset="-128"/>
              </a:rPr>
              <a:t>S</a:t>
            </a:r>
            <a:r>
              <a:rPr kumimoji="1" lang="ja-JP" altLang="en-US" sz="2000" b="1" dirty="0">
                <a:solidFill>
                  <a:schemeClr val="tx1"/>
                </a:solidFill>
                <a:latin typeface="メイリオ" panose="020B0604030504040204" pitchFamily="50" charset="-128"/>
                <a:ea typeface="メイリオ" panose="020B0604030504040204" pitchFamily="50" charset="-128"/>
              </a:rPr>
              <a:t>アカで新規登録した（もしくは移行済みの）メールアドレスが</a:t>
            </a:r>
            <a:endParaRPr kumimoji="1" lang="en-US" altLang="ja-JP" sz="2000" b="1" dirty="0">
              <a:solidFill>
                <a:schemeClr val="tx1"/>
              </a:solidFill>
              <a:latin typeface="メイリオ" panose="020B0604030504040204" pitchFamily="50" charset="-128"/>
              <a:ea typeface="メイリオ" panose="020B0604030504040204" pitchFamily="50" charset="-128"/>
            </a:endParaRPr>
          </a:p>
          <a:p>
            <a:r>
              <a:rPr kumimoji="1" lang="ja-JP" altLang="en-US" sz="2000" b="1" dirty="0">
                <a:solidFill>
                  <a:schemeClr val="tx1"/>
                </a:solidFill>
                <a:latin typeface="メイリオ" panose="020B0604030504040204" pitchFamily="50" charset="-128"/>
                <a:ea typeface="メイリオ" panose="020B0604030504040204" pitchFamily="50" charset="-128"/>
              </a:rPr>
              <a:t>使用不可になった（＝受信料アカウントを削除したい）</a:t>
            </a:r>
          </a:p>
        </p:txBody>
      </p:sp>
      <p:sp>
        <p:nvSpPr>
          <p:cNvPr id="7" name="四角形: 角を丸くする 6">
            <a:extLst>
              <a:ext uri="{FF2B5EF4-FFF2-40B4-BE49-F238E27FC236}">
                <a16:creationId xmlns:a16="http://schemas.microsoft.com/office/drawing/2014/main" id="{E1C6ECEB-B79E-3387-90C6-076195178D5C}"/>
              </a:ext>
            </a:extLst>
          </p:cNvPr>
          <p:cNvSpPr/>
          <p:nvPr/>
        </p:nvSpPr>
        <p:spPr>
          <a:xfrm>
            <a:off x="822803" y="920141"/>
            <a:ext cx="1995810" cy="555329"/>
          </a:xfrm>
          <a:prstGeom prst="roundRect">
            <a:avLst>
              <a:gd name="adj" fmla="val 34424"/>
            </a:avLst>
          </a:prstGeom>
          <a:noFill/>
          <a:ln>
            <a:noFill/>
          </a:ln>
        </p:spPr>
        <p:style>
          <a:lnRef idx="3">
            <a:schemeClr val="lt1"/>
          </a:lnRef>
          <a:fillRef idx="1">
            <a:schemeClr val="accent2"/>
          </a:fillRef>
          <a:effectRef idx="1">
            <a:schemeClr val="accent2"/>
          </a:effectRef>
          <a:fontRef idx="minor">
            <a:schemeClr val="lt1"/>
          </a:fontRef>
        </p:style>
        <p:txBody>
          <a:bodyPr wrap="none" lIns="0" rIns="0" rtlCol="0" anchor="ctr" anchorCtr="1">
            <a:noAutofit/>
          </a:bodyPr>
          <a:lstStyle/>
          <a:p>
            <a:r>
              <a:rPr kumimoji="1" lang="ja-JP" altLang="en-US" sz="2400" b="1" dirty="0">
                <a:solidFill>
                  <a:schemeClr val="tx1"/>
                </a:solidFill>
                <a:latin typeface="メイリオ" panose="020B0604030504040204" pitchFamily="50" charset="-128"/>
                <a:ea typeface="メイリオ" panose="020B0604030504040204" pitchFamily="50" charset="-128"/>
              </a:rPr>
              <a:t>転送パターンＦ</a:t>
            </a:r>
            <a:endParaRPr kumimoji="1" lang="ja-JP" altLang="en-US" sz="2000" b="1" dirty="0">
              <a:solidFill>
                <a:schemeClr val="tx1"/>
              </a:solidFill>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B94B4DE9-EB56-226F-3D97-B77C18760F28}"/>
              </a:ext>
            </a:extLst>
          </p:cNvPr>
          <p:cNvSpPr/>
          <p:nvPr/>
        </p:nvSpPr>
        <p:spPr>
          <a:xfrm>
            <a:off x="85211" y="3388619"/>
            <a:ext cx="4581642" cy="1107721"/>
          </a:xfrm>
          <a:prstGeom prst="roundRect">
            <a:avLst>
              <a:gd name="adj" fmla="val 17046"/>
            </a:avLst>
          </a:prstGeom>
          <a:solidFill>
            <a:srgbClr val="3333FF"/>
          </a:solidFill>
          <a:ln/>
        </p:spPr>
        <p:style>
          <a:lnRef idx="3">
            <a:schemeClr val="lt1"/>
          </a:lnRef>
          <a:fillRef idx="1">
            <a:schemeClr val="accent4"/>
          </a:fillRef>
          <a:effectRef idx="1">
            <a:schemeClr val="accent4"/>
          </a:effectRef>
          <a:fontRef idx="minor">
            <a:schemeClr val="lt1"/>
          </a:fontRef>
        </p:style>
        <p:txBody>
          <a:bodyPr rtlCol="0" anchor="ctr" anchorCtr="0"/>
          <a:lstStyle/>
          <a:p>
            <a:pPr lvl="2"/>
            <a:r>
              <a:rPr kumimoji="1" lang="ja-JP" altLang="en-US" b="1" dirty="0">
                <a:latin typeface="メイリオ" panose="020B0604030504040204" pitchFamily="50" charset="-128"/>
                <a:ea typeface="メイリオ" panose="020B0604030504040204" pitchFamily="50" charset="-128"/>
              </a:rPr>
              <a:t>　いずれも「</a:t>
            </a:r>
            <a:r>
              <a:rPr kumimoji="1" lang="en-US" altLang="ja-JP" b="1" dirty="0">
                <a:latin typeface="メイリオ" panose="020B0604030504040204" pitchFamily="50" charset="-128"/>
                <a:ea typeface="メイリオ" panose="020B0604030504040204" pitchFamily="50" charset="-128"/>
              </a:rPr>
              <a:t>Yes</a:t>
            </a:r>
            <a:r>
              <a:rPr kumimoji="1" lang="ja-JP" altLang="en-US" b="1" dirty="0">
                <a:latin typeface="メイリオ" panose="020B0604030504040204" pitchFamily="50" charset="-128"/>
                <a:ea typeface="メイリオ" panose="020B0604030504040204" pitchFamily="50" charset="-128"/>
              </a:rPr>
              <a:t>」</a:t>
            </a:r>
            <a:endParaRPr kumimoji="1" lang="en-US" altLang="ja-JP" b="1" dirty="0">
              <a:latin typeface="メイリオ" panose="020B0604030504040204" pitchFamily="50" charset="-128"/>
              <a:ea typeface="メイリオ" panose="020B0604030504040204" pitchFamily="50" charset="-128"/>
            </a:endParaRPr>
          </a:p>
          <a:p>
            <a:pPr lvl="2"/>
            <a:endParaRPr lang="en-US" altLang="ja-JP" sz="1000" b="1" dirty="0">
              <a:latin typeface="メイリオ" panose="020B0604030504040204" pitchFamily="50" charset="-128"/>
              <a:ea typeface="メイリオ" panose="020B0604030504040204" pitchFamily="50" charset="-128"/>
            </a:endParaRPr>
          </a:p>
          <a:p>
            <a:pPr marL="180000" lvl="1"/>
            <a:r>
              <a:rPr lang="ja-JP" altLang="en-US" b="1" dirty="0">
                <a:latin typeface="メイリオ" panose="020B0604030504040204" pitchFamily="50" charset="-128"/>
                <a:ea typeface="メイリオ" panose="020B0604030504040204" pitchFamily="50" charset="-128"/>
              </a:rPr>
              <a:t>　　モニターで</a:t>
            </a:r>
            <a:r>
              <a:rPr lang="en-US" altLang="ja-JP" b="1" dirty="0">
                <a:latin typeface="メイリオ" panose="020B0604030504040204" pitchFamily="50" charset="-128"/>
                <a:ea typeface="メイリオ" panose="020B0604030504040204" pitchFamily="50" charset="-128"/>
              </a:rPr>
              <a:t>J</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a:t>
            </a:r>
            <a:r>
              <a:rPr lang="ja-JP" altLang="en-US" b="1" dirty="0">
                <a:latin typeface="メイリオ" panose="020B0604030504040204" pitchFamily="50" charset="-128"/>
                <a:ea typeface="メイリオ" panose="020B0604030504040204" pitchFamily="50" charset="-128"/>
              </a:rPr>
              <a:t>の状況確認</a:t>
            </a:r>
            <a:endParaRPr kumimoji="1" lang="ja-JP" altLang="en-US" b="1" dirty="0">
              <a:latin typeface="メイリオ" panose="020B0604030504040204" pitchFamily="50" charset="-128"/>
              <a:ea typeface="メイリオ" panose="020B0604030504040204" pitchFamily="50" charset="-128"/>
            </a:endParaRPr>
          </a:p>
        </p:txBody>
      </p:sp>
      <p:pic>
        <p:nvPicPr>
          <p:cNvPr id="22" name="グラフィックス 21" descr="コメント: いいね! 単色塗りつぶし">
            <a:extLst>
              <a:ext uri="{FF2B5EF4-FFF2-40B4-BE49-F238E27FC236}">
                <a16:creationId xmlns:a16="http://schemas.microsoft.com/office/drawing/2014/main" id="{D8FF00EA-C6D2-95A2-42A1-84692A6820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107" y="3340188"/>
            <a:ext cx="824106" cy="824106"/>
          </a:xfrm>
          <a:prstGeom prst="rect">
            <a:avLst/>
          </a:prstGeom>
        </p:spPr>
      </p:pic>
      <p:cxnSp>
        <p:nvCxnSpPr>
          <p:cNvPr id="27" name="コネクタ: カギ線 26">
            <a:extLst>
              <a:ext uri="{FF2B5EF4-FFF2-40B4-BE49-F238E27FC236}">
                <a16:creationId xmlns:a16="http://schemas.microsoft.com/office/drawing/2014/main" id="{539159D4-97AB-F739-1AAC-77673053313F}"/>
              </a:ext>
            </a:extLst>
          </p:cNvPr>
          <p:cNvCxnSpPr>
            <a:cxnSpLocks/>
          </p:cNvCxnSpPr>
          <p:nvPr/>
        </p:nvCxnSpPr>
        <p:spPr>
          <a:xfrm rot="16200000" flipH="1">
            <a:off x="-68513" y="4827771"/>
            <a:ext cx="2275618" cy="874163"/>
          </a:xfrm>
          <a:prstGeom prst="bentConnector2">
            <a:avLst/>
          </a:prstGeom>
          <a:ln w="38100">
            <a:solidFill>
              <a:srgbClr val="3333FF"/>
            </a:solidFill>
            <a:tailEnd type="stealth" w="lg" len="lg"/>
          </a:ln>
        </p:spPr>
        <p:style>
          <a:lnRef idx="1">
            <a:schemeClr val="accent4"/>
          </a:lnRef>
          <a:fillRef idx="0">
            <a:schemeClr val="accent4"/>
          </a:fillRef>
          <a:effectRef idx="0">
            <a:schemeClr val="accent4"/>
          </a:effectRef>
          <a:fontRef idx="minor">
            <a:schemeClr val="tx1"/>
          </a:fontRef>
        </p:style>
      </p:cxnSp>
      <p:cxnSp>
        <p:nvCxnSpPr>
          <p:cNvPr id="28" name="コネクタ: カギ線 27">
            <a:extLst>
              <a:ext uri="{FF2B5EF4-FFF2-40B4-BE49-F238E27FC236}">
                <a16:creationId xmlns:a16="http://schemas.microsoft.com/office/drawing/2014/main" id="{2B59386D-A42D-4616-B32B-1C35EF966EC5}"/>
              </a:ext>
            </a:extLst>
          </p:cNvPr>
          <p:cNvCxnSpPr>
            <a:cxnSpLocks/>
          </p:cNvCxnSpPr>
          <p:nvPr/>
        </p:nvCxnSpPr>
        <p:spPr>
          <a:xfrm rot="16200000" flipH="1">
            <a:off x="655296" y="4619535"/>
            <a:ext cx="828000" cy="874164"/>
          </a:xfrm>
          <a:prstGeom prst="bentConnector2">
            <a:avLst/>
          </a:prstGeom>
          <a:ln w="38100">
            <a:solidFill>
              <a:srgbClr val="3333FF"/>
            </a:solidFill>
            <a:tailEnd type="stealth" w="lg" len="lg"/>
          </a:ln>
        </p:spPr>
        <p:style>
          <a:lnRef idx="1">
            <a:schemeClr val="accent4"/>
          </a:lnRef>
          <a:fillRef idx="0">
            <a:schemeClr val="accent4"/>
          </a:fillRef>
          <a:effectRef idx="0">
            <a:schemeClr val="accent4"/>
          </a:effectRef>
          <a:fontRef idx="minor">
            <a:schemeClr val="tx1"/>
          </a:fontRef>
        </p:style>
      </p:cxnSp>
      <p:sp>
        <p:nvSpPr>
          <p:cNvPr id="53" name="四角形: 角を丸くする 52">
            <a:extLst>
              <a:ext uri="{FF2B5EF4-FFF2-40B4-BE49-F238E27FC236}">
                <a16:creationId xmlns:a16="http://schemas.microsoft.com/office/drawing/2014/main" id="{6BBF5244-914F-472C-24F1-F79A25AC29E6}"/>
              </a:ext>
            </a:extLst>
          </p:cNvPr>
          <p:cNvSpPr/>
          <p:nvPr/>
        </p:nvSpPr>
        <p:spPr>
          <a:xfrm>
            <a:off x="4766913" y="3272637"/>
            <a:ext cx="7308000" cy="468000"/>
          </a:xfrm>
          <a:prstGeom prst="roundRect">
            <a:avLst/>
          </a:prstGeom>
          <a:solidFill>
            <a:srgbClr val="FF6600"/>
          </a:solidFill>
          <a:ln/>
        </p:spPr>
        <p:style>
          <a:lnRef idx="3">
            <a:schemeClr val="lt1"/>
          </a:lnRef>
          <a:fillRef idx="1">
            <a:schemeClr val="accent1"/>
          </a:fillRef>
          <a:effectRef idx="1">
            <a:schemeClr val="accent1"/>
          </a:effectRef>
          <a:fontRef idx="minor">
            <a:schemeClr val="lt1"/>
          </a:fontRef>
        </p:style>
        <p:txBody>
          <a:bodyPr wrap="none" rtlCol="0" anchor="ctr" anchorCtr="0">
            <a:noAutofit/>
          </a:bodyPr>
          <a:lstStyle/>
          <a:p>
            <a:pPr lvl="1"/>
            <a:r>
              <a:rPr lang="ja-JP" altLang="en-US" sz="16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①もしくは②が「</a:t>
            </a:r>
            <a:r>
              <a:rPr lang="en-US" altLang="ja-JP" sz="1400" b="1" dirty="0">
                <a:latin typeface="メイリオ" panose="020B0604030504040204" pitchFamily="50" charset="-128"/>
                <a:ea typeface="メイリオ" panose="020B0604030504040204" pitchFamily="50" charset="-128"/>
              </a:rPr>
              <a:t>No</a:t>
            </a:r>
            <a:r>
              <a:rPr lang="ja-JP" altLang="en-US" sz="1400" b="1" dirty="0">
                <a:latin typeface="メイリオ" panose="020B0604030504040204" pitchFamily="50" charset="-128"/>
                <a:ea typeface="メイリオ" panose="020B0604030504040204" pitchFamily="50" charset="-128"/>
              </a:rPr>
              <a:t>」　⇒　</a:t>
            </a:r>
            <a:r>
              <a:rPr lang="en-US" altLang="ja-JP" sz="1400" b="1" dirty="0">
                <a:latin typeface="メイリオ" panose="020B0604030504040204" pitchFamily="50" charset="-128"/>
                <a:ea typeface="メイリオ" panose="020B0604030504040204" pitchFamily="50" charset="-128"/>
              </a:rPr>
              <a:t>S</a:t>
            </a:r>
            <a:r>
              <a:rPr lang="ja-JP" altLang="en-US" sz="1400" b="1" dirty="0">
                <a:latin typeface="メイリオ" panose="020B0604030504040204" pitchFamily="50" charset="-128"/>
                <a:ea typeface="メイリオ" panose="020B0604030504040204" pitchFamily="50" charset="-128"/>
              </a:rPr>
              <a:t>アカ新規登録方法案内もしくは</a:t>
            </a:r>
            <a:r>
              <a:rPr lang="en-US" altLang="ja-JP" sz="1400" b="1" dirty="0">
                <a:latin typeface="メイリオ" panose="020B0604030504040204" pitchFamily="50" charset="-128"/>
                <a:ea typeface="メイリオ" panose="020B0604030504040204" pitchFamily="50" charset="-128"/>
              </a:rPr>
              <a:t>SJ</a:t>
            </a:r>
            <a:r>
              <a:rPr lang="ja-JP" altLang="en-US" sz="1400" b="1" dirty="0">
                <a:latin typeface="メイリオ" panose="020B0604030504040204" pitchFamily="50" charset="-128"/>
                <a:ea typeface="メイリオ" panose="020B0604030504040204" pitchFamily="50" charset="-128"/>
              </a:rPr>
              <a:t>連携方法案内</a:t>
            </a:r>
            <a:endParaRPr lang="en-US" altLang="ja-JP" sz="1600" b="1" dirty="0">
              <a:latin typeface="メイリオ" panose="020B0604030504040204" pitchFamily="50" charset="-128"/>
              <a:ea typeface="メイリオ" panose="020B0604030504040204" pitchFamily="50" charset="-128"/>
            </a:endParaRPr>
          </a:p>
        </p:txBody>
      </p:sp>
      <p:sp>
        <p:nvSpPr>
          <p:cNvPr id="57" name="四角形: 角を丸くする 56">
            <a:extLst>
              <a:ext uri="{FF2B5EF4-FFF2-40B4-BE49-F238E27FC236}">
                <a16:creationId xmlns:a16="http://schemas.microsoft.com/office/drawing/2014/main" id="{3E8131BB-F1C2-90D4-0468-C7C64B4F0BE0}"/>
              </a:ext>
            </a:extLst>
          </p:cNvPr>
          <p:cNvSpPr/>
          <p:nvPr/>
        </p:nvSpPr>
        <p:spPr>
          <a:xfrm>
            <a:off x="4766913" y="3777872"/>
            <a:ext cx="7308000" cy="468000"/>
          </a:xfrm>
          <a:prstGeom prst="roundRect">
            <a:avLst/>
          </a:prstGeom>
          <a:solidFill>
            <a:srgbClr val="FF6600"/>
          </a:solidFill>
          <a:ln/>
        </p:spPr>
        <p:style>
          <a:lnRef idx="3">
            <a:schemeClr val="lt1"/>
          </a:lnRef>
          <a:fillRef idx="1">
            <a:schemeClr val="accent1"/>
          </a:fillRef>
          <a:effectRef idx="1">
            <a:schemeClr val="accent1"/>
          </a:effectRef>
          <a:fontRef idx="minor">
            <a:schemeClr val="lt1"/>
          </a:fontRef>
        </p:style>
        <p:txBody>
          <a:bodyPr wrap="none" rtlCol="0" anchor="ctr" anchorCtr="0">
            <a:noAutofit/>
          </a:bodyPr>
          <a:lstStyle/>
          <a:p>
            <a:pPr lvl="1"/>
            <a:r>
              <a:rPr lang="ja-JP" altLang="en-US" sz="1600" b="1" dirty="0">
                <a:latin typeface="メイリオ" panose="020B0604030504040204" pitchFamily="50" charset="-128"/>
                <a:ea typeface="メイリオ" panose="020B0604030504040204" pitchFamily="50" charset="-128"/>
              </a:rPr>
              <a:t>　</a:t>
            </a:r>
            <a:r>
              <a:rPr lang="ja-JP" altLang="en-US" sz="1400" b="1" dirty="0">
                <a:latin typeface="メイリオ" panose="020B0604030504040204" pitchFamily="50" charset="-128"/>
                <a:ea typeface="メイリオ" panose="020B0604030504040204" pitchFamily="50" charset="-128"/>
              </a:rPr>
              <a:t>③が「</a:t>
            </a:r>
            <a:r>
              <a:rPr lang="en-US" altLang="ja-JP" sz="1400" b="1" dirty="0">
                <a:latin typeface="メイリオ" panose="020B0604030504040204" pitchFamily="50" charset="-128"/>
                <a:ea typeface="メイリオ" panose="020B0604030504040204" pitchFamily="50" charset="-128"/>
              </a:rPr>
              <a:t>No</a:t>
            </a:r>
            <a:r>
              <a:rPr lang="ja-JP" altLang="en-US" sz="1400" b="1" dirty="0">
                <a:latin typeface="メイリオ" panose="020B0604030504040204" pitchFamily="50" charset="-128"/>
                <a:ea typeface="メイリオ" panose="020B0604030504040204" pitchFamily="50" charset="-128"/>
              </a:rPr>
              <a:t>」　⇒　ログイン操作 </a:t>
            </a:r>
            <a:r>
              <a:rPr lang="en-US" altLang="ja-JP" sz="1400" b="1" dirty="0">
                <a:latin typeface="メイリオ" panose="020B0604030504040204" pitchFamily="50" charset="-128"/>
                <a:ea typeface="メイリオ" panose="020B0604030504040204" pitchFamily="50" charset="-128"/>
              </a:rPr>
              <a:t>or PW</a:t>
            </a:r>
            <a:r>
              <a:rPr lang="ja-JP" altLang="en-US" sz="1400" b="1" dirty="0">
                <a:latin typeface="メイリオ" panose="020B0604030504040204" pitchFamily="50" charset="-128"/>
                <a:ea typeface="メイリオ" panose="020B0604030504040204" pitchFamily="50" charset="-128"/>
              </a:rPr>
              <a:t>リセットを行っていただく</a:t>
            </a:r>
            <a:endParaRPr lang="ja-JP" altLang="en-US" sz="1600" b="1" dirty="0">
              <a:latin typeface="メイリオ" panose="020B0604030504040204" pitchFamily="50" charset="-128"/>
              <a:ea typeface="メイリオ" panose="020B0604030504040204" pitchFamily="50" charset="-128"/>
            </a:endParaRPr>
          </a:p>
        </p:txBody>
      </p:sp>
      <p:sp>
        <p:nvSpPr>
          <p:cNvPr id="61" name="四角形: 角を丸くする 60">
            <a:extLst>
              <a:ext uri="{FF2B5EF4-FFF2-40B4-BE49-F238E27FC236}">
                <a16:creationId xmlns:a16="http://schemas.microsoft.com/office/drawing/2014/main" id="{D99DB047-2C1C-7F5E-AD71-90D52B8E9B08}"/>
              </a:ext>
            </a:extLst>
          </p:cNvPr>
          <p:cNvSpPr/>
          <p:nvPr/>
        </p:nvSpPr>
        <p:spPr>
          <a:xfrm>
            <a:off x="4766913" y="4283107"/>
            <a:ext cx="7308000" cy="730491"/>
          </a:xfrm>
          <a:prstGeom prst="roundRect">
            <a:avLst/>
          </a:prstGeom>
          <a:solidFill>
            <a:srgbClr val="FF6600"/>
          </a:solidFill>
          <a:ln/>
        </p:spPr>
        <p:style>
          <a:lnRef idx="3">
            <a:schemeClr val="lt1"/>
          </a:lnRef>
          <a:fillRef idx="1">
            <a:schemeClr val="accent1"/>
          </a:fillRef>
          <a:effectRef idx="1">
            <a:schemeClr val="accent1"/>
          </a:effectRef>
          <a:fontRef idx="minor">
            <a:schemeClr val="lt1"/>
          </a:fontRef>
        </p:style>
        <p:txBody>
          <a:bodyPr wrap="none" rtlCol="0" anchor="ctr" anchorCtr="0">
            <a:noAutofit/>
          </a:bodyPr>
          <a:lstStyle/>
          <a:p>
            <a:pPr lvl="1"/>
            <a:r>
              <a:rPr lang="ja-JP" altLang="en-US" sz="1400" b="1" dirty="0">
                <a:latin typeface="メイリオ" panose="020B0604030504040204" pitchFamily="50" charset="-128"/>
                <a:ea typeface="メイリオ" panose="020B0604030504040204" pitchFamily="50" charset="-128"/>
              </a:rPr>
              <a:t>　④が「</a:t>
            </a:r>
            <a:r>
              <a:rPr lang="en-US" altLang="ja-JP" sz="1400" b="1" dirty="0">
                <a:latin typeface="メイリオ" panose="020B0604030504040204" pitchFamily="50" charset="-128"/>
                <a:ea typeface="メイリオ" panose="020B0604030504040204" pitchFamily="50" charset="-128"/>
              </a:rPr>
              <a:t>No</a:t>
            </a:r>
            <a:r>
              <a:rPr lang="ja-JP" altLang="en-US" sz="1400" b="1" dirty="0">
                <a:latin typeface="メイリオ" panose="020B0604030504040204" pitchFamily="50" charset="-128"/>
                <a:ea typeface="メイリオ" panose="020B0604030504040204" pitchFamily="50" charset="-128"/>
              </a:rPr>
              <a:t>」</a:t>
            </a:r>
            <a:endParaRPr lang="en-US" altLang="ja-JP" sz="1400" b="1" dirty="0">
              <a:latin typeface="メイリオ" panose="020B0604030504040204" pitchFamily="50" charset="-128"/>
              <a:ea typeface="メイリオ" panose="020B0604030504040204" pitchFamily="50" charset="-128"/>
            </a:endParaRPr>
          </a:p>
          <a:p>
            <a:pPr lvl="1">
              <a:lnSpc>
                <a:spcPts val="500"/>
              </a:lnSpc>
            </a:pPr>
            <a:endParaRPr lang="ja-JP" altLang="en-US"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 　　　復旧用メールアドレス</a:t>
            </a:r>
            <a:r>
              <a:rPr lang="en-US" altLang="ja-JP" sz="1400" b="1" dirty="0">
                <a:latin typeface="メイリオ" panose="020B0604030504040204" pitchFamily="50" charset="-128"/>
                <a:ea typeface="メイリオ" panose="020B0604030504040204" pitchFamily="50" charset="-128"/>
              </a:rPr>
              <a:t>or</a:t>
            </a:r>
            <a:r>
              <a:rPr lang="ja-JP" altLang="en-US" sz="1400" b="1" dirty="0">
                <a:latin typeface="メイリオ" panose="020B0604030504040204" pitchFamily="50" charset="-128"/>
                <a:ea typeface="メイリオ" panose="020B0604030504040204" pitchFamily="50" charset="-128"/>
              </a:rPr>
              <a:t>電話番号でメールアドレス再設定</a:t>
            </a:r>
            <a:r>
              <a:rPr lang="en-US" altLang="ja-JP" sz="1400" b="1" dirty="0" err="1">
                <a:latin typeface="メイリオ" panose="020B0604030504040204" pitchFamily="50" charset="-128"/>
                <a:ea typeface="メイリオ" panose="020B0604030504040204" pitchFamily="50" charset="-128"/>
              </a:rPr>
              <a:t>orPW</a:t>
            </a:r>
            <a:r>
              <a:rPr lang="ja-JP" altLang="en-US" sz="1400" b="1" dirty="0">
                <a:latin typeface="メイリオ" panose="020B0604030504040204" pitchFamily="50" charset="-128"/>
                <a:ea typeface="メイリオ" panose="020B0604030504040204" pitchFamily="50" charset="-128"/>
              </a:rPr>
              <a:t>リセット</a:t>
            </a:r>
          </a:p>
        </p:txBody>
      </p:sp>
      <p:pic>
        <p:nvPicPr>
          <p:cNvPr id="65" name="グラフィックス 64" descr="コメント: 不満 単色塗りつぶし">
            <a:extLst>
              <a:ext uri="{FF2B5EF4-FFF2-40B4-BE49-F238E27FC236}">
                <a16:creationId xmlns:a16="http://schemas.microsoft.com/office/drawing/2014/main" id="{02981A27-AFC2-BF0D-DDB8-691C9CA14D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88815" y="3280523"/>
            <a:ext cx="541055" cy="562875"/>
          </a:xfrm>
          <a:prstGeom prst="rect">
            <a:avLst/>
          </a:prstGeom>
        </p:spPr>
      </p:pic>
      <p:pic>
        <p:nvPicPr>
          <p:cNvPr id="67" name="グラフィックス 66" descr="コメント: 不満 単色塗りつぶし">
            <a:extLst>
              <a:ext uri="{FF2B5EF4-FFF2-40B4-BE49-F238E27FC236}">
                <a16:creationId xmlns:a16="http://schemas.microsoft.com/office/drawing/2014/main" id="{3CC05E06-B2C7-8DAA-1698-84D7AED6F8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80065" y="3746117"/>
            <a:ext cx="541055" cy="562875"/>
          </a:xfrm>
          <a:prstGeom prst="rect">
            <a:avLst/>
          </a:prstGeom>
        </p:spPr>
      </p:pic>
      <p:pic>
        <p:nvPicPr>
          <p:cNvPr id="69" name="グラフィックス 68" descr="コメント: 不満 単色塗りつぶし">
            <a:extLst>
              <a:ext uri="{FF2B5EF4-FFF2-40B4-BE49-F238E27FC236}">
                <a16:creationId xmlns:a16="http://schemas.microsoft.com/office/drawing/2014/main" id="{82C49CC5-7415-8323-7EF3-C910B19F4A9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66913" y="4403077"/>
            <a:ext cx="541055" cy="562875"/>
          </a:xfrm>
          <a:prstGeom prst="rect">
            <a:avLst/>
          </a:prstGeom>
        </p:spPr>
      </p:pic>
    </p:spTree>
    <p:extLst>
      <p:ext uri="{BB962C8B-B14F-4D97-AF65-F5344CB8AC3E}">
        <p14:creationId xmlns:p14="http://schemas.microsoft.com/office/powerpoint/2010/main" val="3513488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2D2D4-5843-2C2B-9C6B-93B19DE0A8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C0B5C3-6AD4-1AAA-045F-493909B568F2}"/>
              </a:ext>
            </a:extLst>
          </p:cNvPr>
          <p:cNvSpPr>
            <a:spLocks noGrp="1"/>
          </p:cNvSpPr>
          <p:nvPr>
            <p:ph type="title"/>
          </p:nvPr>
        </p:nvSpPr>
        <p:spPr>
          <a:xfrm>
            <a:off x="540000" y="180000"/>
            <a:ext cx="10080000" cy="468000"/>
          </a:xfrm>
        </p:spPr>
        <p:txBody>
          <a:bodyPr anchor="b" anchorCtr="0"/>
          <a:lstStyle/>
          <a:p>
            <a:r>
              <a:rPr kumimoji="1" lang="en-US" altLang="ja-JP" dirty="0"/>
              <a:t>S</a:t>
            </a:r>
            <a:r>
              <a:rPr kumimoji="1" lang="ja-JP" altLang="en-US" dirty="0"/>
              <a:t>→</a:t>
            </a:r>
            <a:r>
              <a:rPr kumimoji="1" lang="en-US" altLang="ja-JP" dirty="0"/>
              <a:t>J</a:t>
            </a:r>
            <a:r>
              <a:rPr kumimoji="1" lang="ja-JP" altLang="en-US" dirty="0"/>
              <a:t>転送　対象パターンＦ　</a:t>
            </a:r>
            <a:r>
              <a:rPr kumimoji="1" lang="en-US" altLang="ja-JP" dirty="0"/>
              <a:t>【</a:t>
            </a:r>
            <a:r>
              <a:rPr lang="ja-JP" altLang="en-US" dirty="0"/>
              <a:t>転送</a:t>
            </a:r>
            <a:r>
              <a:rPr kumimoji="1" lang="ja-JP" altLang="en-US" dirty="0"/>
              <a:t>対応</a:t>
            </a:r>
            <a:r>
              <a:rPr kumimoji="1" lang="en-US" altLang="ja-JP" dirty="0"/>
              <a:t>】</a:t>
            </a:r>
            <a:endParaRPr kumimoji="1" lang="ja-JP" altLang="en-US" b="1" dirty="0"/>
          </a:p>
        </p:txBody>
      </p:sp>
      <p:sp>
        <p:nvSpPr>
          <p:cNvPr id="27" name="四角形: 角を丸くする 26">
            <a:extLst>
              <a:ext uri="{FF2B5EF4-FFF2-40B4-BE49-F238E27FC236}">
                <a16:creationId xmlns:a16="http://schemas.microsoft.com/office/drawing/2014/main" id="{927C85C1-78BB-060B-B7AA-8BB2C5461B35}"/>
              </a:ext>
            </a:extLst>
          </p:cNvPr>
          <p:cNvSpPr/>
          <p:nvPr/>
        </p:nvSpPr>
        <p:spPr>
          <a:xfrm>
            <a:off x="538234" y="5910054"/>
            <a:ext cx="11005766" cy="747760"/>
          </a:xfrm>
          <a:prstGeom prst="roundRect">
            <a:avLst>
              <a:gd name="adj" fmla="val 6737"/>
            </a:avLst>
          </a:prstGeom>
          <a:ln w="57150">
            <a:solidFill>
              <a:schemeClr val="tx1">
                <a:lumMod val="60000"/>
                <a:lumOff val="40000"/>
              </a:schemeClr>
            </a:solidFill>
          </a:ln>
        </p:spPr>
        <p:style>
          <a:lnRef idx="2">
            <a:schemeClr val="accent4"/>
          </a:lnRef>
          <a:fillRef idx="1">
            <a:schemeClr val="lt1"/>
          </a:fillRef>
          <a:effectRef idx="0">
            <a:schemeClr val="accent4"/>
          </a:effectRef>
          <a:fontRef idx="minor">
            <a:schemeClr val="dk1"/>
          </a:fontRef>
        </p:style>
        <p:txBody>
          <a:bodyPr rtlCol="0" anchor="ctr" anchorCtr="0"/>
          <a:lstStyle/>
          <a:p>
            <a:r>
              <a:rPr lang="ja-JP" altLang="en-US" b="1" dirty="0">
                <a:latin typeface="メイリオ" panose="020B0604030504040204" pitchFamily="50" charset="-128"/>
                <a:ea typeface="メイリオ" panose="020B0604030504040204" pitchFamily="50" charset="-128"/>
              </a:rPr>
              <a:t>●　パターンの伝達時には、聞き間違いの防止のため、パターンの内容を復唱</a:t>
            </a:r>
            <a:endParaRPr lang="en-US" altLang="ja-JP" b="1" dirty="0">
              <a:latin typeface="メイリオ" panose="020B0604030504040204" pitchFamily="50" charset="-128"/>
              <a:ea typeface="メイリオ" panose="020B0604030504040204" pitchFamily="50" charset="-128"/>
            </a:endParaRPr>
          </a:p>
          <a:p>
            <a:r>
              <a:rPr lang="ja-JP" altLang="en-US" b="1" dirty="0">
                <a:latin typeface="メイリオ" panose="020B0604030504040204" pitchFamily="50" charset="-128"/>
                <a:ea typeface="メイリオ" panose="020B0604030504040204" pitchFamily="50" charset="-128"/>
              </a:rPr>
              <a:t>●　入電者の特性など、必要な申し送り事項のみ伝達</a:t>
            </a:r>
            <a:endParaRPr lang="en-US" altLang="ja-JP" b="1" dirty="0">
              <a:solidFill>
                <a:schemeClr val="accent1">
                  <a:lumMod val="60000"/>
                  <a:lumOff val="40000"/>
                </a:schemeClr>
              </a:solidFill>
              <a:latin typeface="メイリオ" panose="020B0604030504040204" pitchFamily="50" charset="-128"/>
              <a:ea typeface="メイリオ" panose="020B0604030504040204" pitchFamily="50" charset="-128"/>
            </a:endParaRPr>
          </a:p>
        </p:txBody>
      </p:sp>
      <p:sp>
        <p:nvSpPr>
          <p:cNvPr id="17" name="四角形: 角を丸くする 16">
            <a:extLst>
              <a:ext uri="{FF2B5EF4-FFF2-40B4-BE49-F238E27FC236}">
                <a16:creationId xmlns:a16="http://schemas.microsoft.com/office/drawing/2014/main" id="{C44CE965-B623-3F6E-7ECA-38877C11CC0F}"/>
              </a:ext>
            </a:extLst>
          </p:cNvPr>
          <p:cNvSpPr/>
          <p:nvPr/>
        </p:nvSpPr>
        <p:spPr>
          <a:xfrm>
            <a:off x="514234" y="985926"/>
            <a:ext cx="11053766" cy="1482043"/>
          </a:xfrm>
          <a:prstGeom prst="roundRect">
            <a:avLst/>
          </a:prstGeom>
          <a:solidFill>
            <a:srgbClr val="0070C0"/>
          </a:solidFill>
          <a:ln/>
        </p:spPr>
        <p:style>
          <a:lnRef idx="3">
            <a:schemeClr val="lt1"/>
          </a:lnRef>
          <a:fillRef idx="1">
            <a:schemeClr val="accent2"/>
          </a:fillRef>
          <a:effectRef idx="1">
            <a:schemeClr val="accent2"/>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a:t>
            </a:r>
            <a:r>
              <a:rPr lang="en-US" altLang="ja-JP" b="1" dirty="0">
                <a:latin typeface="メイリオ" panose="020B0604030504040204" pitchFamily="50" charset="-128"/>
                <a:ea typeface="メイリオ" panose="020B0604030504040204" pitchFamily="50" charset="-128"/>
              </a:rPr>
              <a:t>J</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a:t>
            </a:r>
            <a:r>
              <a:rPr lang="ja-JP" altLang="en-US" b="1" dirty="0">
                <a:latin typeface="メイリオ" panose="020B0604030504040204" pitchFamily="50" charset="-128"/>
                <a:ea typeface="メイリオ" panose="020B0604030504040204" pitchFamily="50" charset="-128"/>
              </a:rPr>
              <a:t>へ転送）</a:t>
            </a:r>
            <a:endParaRPr kumimoji="1"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「お疲れ様です。 </a:t>
            </a:r>
            <a:r>
              <a:rPr lang="en-US" altLang="ja-JP" b="1" dirty="0">
                <a:latin typeface="メイリオ" panose="020B0604030504040204" pitchFamily="50" charset="-128"/>
                <a:ea typeface="メイリオ" panose="020B0604030504040204" pitchFamily="50" charset="-128"/>
              </a:rPr>
              <a:t>S</a:t>
            </a:r>
            <a:r>
              <a:rPr lang="ja-JP" altLang="en-US" b="1" dirty="0">
                <a:latin typeface="メイリオ" panose="020B0604030504040204" pitchFamily="50" charset="-128"/>
                <a:ea typeface="メイリオ" panose="020B0604030504040204" pitchFamily="50" charset="-128"/>
              </a:rPr>
              <a:t>アカ</a:t>
            </a:r>
            <a:r>
              <a:rPr lang="en-US" altLang="ja-JP" b="1" dirty="0">
                <a:latin typeface="メイリオ" panose="020B0604030504040204" pitchFamily="50" charset="-128"/>
                <a:ea typeface="メイリオ" panose="020B0604030504040204" pitchFamily="50" charset="-128"/>
              </a:rPr>
              <a:t>CC </a:t>
            </a:r>
            <a:r>
              <a:rPr lang="ja-JP" altLang="en-US" b="1" dirty="0">
                <a:latin typeface="メイリオ" panose="020B0604030504040204" pitchFamily="50" charset="-128"/>
                <a:ea typeface="メイリオ" panose="020B0604030504040204" pitchFamily="50" charset="-128"/>
              </a:rPr>
              <a:t>担当の●●です。  </a:t>
            </a:r>
            <a:r>
              <a:rPr lang="ja-JP" altLang="en-US" b="1" dirty="0">
                <a:solidFill>
                  <a:srgbClr val="FFFF00"/>
                </a:solidFill>
                <a:latin typeface="メイリオ" panose="020B0604030504040204" pitchFamily="50" charset="-128"/>
                <a:ea typeface="メイリオ" panose="020B0604030504040204" pitchFamily="50" charset="-128"/>
              </a:rPr>
              <a:t>転送パターンＦ</a:t>
            </a:r>
            <a:r>
              <a:rPr lang="ja-JP" altLang="en-US" b="1" dirty="0">
                <a:latin typeface="メイリオ" panose="020B0604030504040204" pitchFamily="50" charset="-128"/>
                <a:ea typeface="メイリオ" panose="020B0604030504040204" pitchFamily="50" charset="-128"/>
              </a:rPr>
              <a:t>　のお客様です。</a:t>
            </a:r>
            <a:endParaRPr lang="en-US" altLang="ja-JP" b="1" dirty="0">
              <a:latin typeface="メイリオ" panose="020B0604030504040204" pitchFamily="50" charset="-128"/>
              <a:ea typeface="メイリオ" panose="020B0604030504040204" pitchFamily="50" charset="-128"/>
            </a:endParaRPr>
          </a:p>
          <a:p>
            <a:pPr lvl="2"/>
            <a:r>
              <a:rPr lang="en-US" altLang="ja-JP"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電話番号は、</a:t>
            </a:r>
            <a:r>
              <a:rPr lang="en-US" altLang="ja-JP" b="1" dirty="0">
                <a:solidFill>
                  <a:srgbClr val="FFFF00"/>
                </a:solidFill>
                <a:latin typeface="メイリオ" panose="020B0604030504040204" pitchFamily="50" charset="-128"/>
                <a:ea typeface="メイリオ" panose="020B0604030504040204" pitchFamily="50" charset="-128"/>
              </a:rPr>
              <a:t>XXX-XXXX-XXXX</a:t>
            </a:r>
            <a:r>
              <a:rPr kumimoji="1" lang="ja-JP" altLang="en-US" sz="1800" dirty="0">
                <a:latin typeface="メイリオ" panose="020B0604030504040204" pitchFamily="50" charset="-128"/>
                <a:ea typeface="メイリオ" panose="020B0604030504040204" pitchFamily="50" charset="-128"/>
              </a:rPr>
              <a:t> （</a:t>
            </a:r>
            <a:r>
              <a:rPr lang="ja-JP" altLang="en-US" sz="1800" dirty="0">
                <a:latin typeface="メイリオ" panose="020B0604030504040204" pitchFamily="50" charset="-128"/>
                <a:ea typeface="メイリオ" panose="020B0604030504040204" pitchFamily="50" charset="-128"/>
              </a:rPr>
              <a:t>番号通知で表示された着信電話番号</a:t>
            </a:r>
            <a:r>
              <a:rPr kumimoji="1" lang="ja-JP" altLang="en-US" sz="1800"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です。</a:t>
            </a:r>
            <a:endParaRPr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契約者本人 ／ 配偶者 ／ 本人（または配偶者）同席での第三者</a:t>
            </a:r>
            <a:r>
              <a:rPr lang="ja-JP" altLang="en-US" b="1" dirty="0">
                <a:latin typeface="メイリオ" panose="020B0604030504040204" pitchFamily="50" charset="-128"/>
                <a:ea typeface="メイリオ" panose="020B0604030504040204" pitchFamily="50" charset="-128"/>
              </a:rPr>
              <a:t>　からの入電です。」</a:t>
            </a:r>
            <a:endParaRPr lang="en-US" altLang="ja-JP" b="1" dirty="0">
              <a:latin typeface="メイリオ" panose="020B0604030504040204" pitchFamily="50" charset="-128"/>
              <a:ea typeface="メイリオ" panose="020B0604030504040204" pitchFamily="50" charset="-128"/>
            </a:endParaRPr>
          </a:p>
        </p:txBody>
      </p:sp>
      <p:sp>
        <p:nvSpPr>
          <p:cNvPr id="19" name="四角形: 角を丸くする 18">
            <a:extLst>
              <a:ext uri="{FF2B5EF4-FFF2-40B4-BE49-F238E27FC236}">
                <a16:creationId xmlns:a16="http://schemas.microsoft.com/office/drawing/2014/main" id="{07031FEB-3145-ED4E-2838-1D1FE3891E4A}"/>
              </a:ext>
            </a:extLst>
          </p:cNvPr>
          <p:cNvSpPr/>
          <p:nvPr/>
        </p:nvSpPr>
        <p:spPr>
          <a:xfrm>
            <a:off x="514234" y="2581926"/>
            <a:ext cx="11053766" cy="1253469"/>
          </a:xfrm>
          <a:prstGeom prst="roundRect">
            <a:avLst/>
          </a:prstGeom>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a:t>
            </a:r>
            <a:r>
              <a:rPr lang="ja-JP" altLang="en-US" b="1" dirty="0">
                <a:solidFill>
                  <a:srgbClr val="FFFF00"/>
                </a:solidFill>
                <a:latin typeface="メイリオ" panose="020B0604030504040204" pitchFamily="50" charset="-128"/>
                <a:ea typeface="メイリオ" panose="020B0604030504040204" pitchFamily="50" charset="-128"/>
              </a:rPr>
              <a:t>転送パターンＦ：受信料アカウント削除</a:t>
            </a:r>
            <a:r>
              <a:rPr lang="ja-JP" altLang="en-US" b="1" dirty="0">
                <a:latin typeface="メイリオ" panose="020B0604030504040204" pitchFamily="50" charset="-128"/>
                <a:ea typeface="メイリオ" panose="020B0604030504040204" pitchFamily="50" charset="-128"/>
              </a:rPr>
              <a:t>で、</a:t>
            </a:r>
            <a:r>
              <a:rPr lang="ja-JP" altLang="en-US" b="1" dirty="0">
                <a:solidFill>
                  <a:srgbClr val="FFFF00"/>
                </a:solidFill>
                <a:latin typeface="メイリオ" panose="020B0604030504040204" pitchFamily="50" charset="-128"/>
                <a:ea typeface="メイリオ" panose="020B0604030504040204" pitchFamily="50" charset="-128"/>
              </a:rPr>
              <a:t>電話番号</a:t>
            </a:r>
            <a:r>
              <a:rPr lang="en-US" altLang="ja-JP" b="1" dirty="0">
                <a:solidFill>
                  <a:srgbClr val="FFFF00"/>
                </a:solidFill>
                <a:latin typeface="メイリオ" panose="020B0604030504040204" pitchFamily="50" charset="-128"/>
                <a:ea typeface="メイリオ" panose="020B0604030504040204" pitchFamily="50" charset="-128"/>
              </a:rPr>
              <a:t>XXX-XXXX-XXXX</a:t>
            </a:r>
            <a:r>
              <a:rPr lang="ja-JP" altLang="en-US" b="1" dirty="0">
                <a:latin typeface="メイリオ" panose="020B0604030504040204" pitchFamily="50" charset="-128"/>
                <a:ea typeface="メイリオ" panose="020B0604030504040204" pitchFamily="50" charset="-128"/>
              </a:rPr>
              <a:t>、</a:t>
            </a:r>
            <a:endParaRPr lang="en-US" altLang="ja-JP" b="1" dirty="0">
              <a:latin typeface="メイリオ" panose="020B0604030504040204" pitchFamily="50" charset="-128"/>
              <a:ea typeface="メイリオ" panose="020B0604030504040204" pitchFamily="50" charset="-128"/>
            </a:endParaRPr>
          </a:p>
          <a:p>
            <a:pPr lvl="2"/>
            <a:r>
              <a:rPr lang="ja-JP" altLang="en-US" b="1" dirty="0">
                <a:latin typeface="メイリオ" panose="020B0604030504040204" pitchFamily="50" charset="-128"/>
                <a:ea typeface="メイリオ" panose="020B0604030504040204" pitchFamily="50" charset="-128"/>
              </a:rPr>
              <a:t>　</a:t>
            </a:r>
            <a:r>
              <a:rPr lang="ja-JP" altLang="en-US" b="1" dirty="0">
                <a:solidFill>
                  <a:srgbClr val="FFFF00"/>
                </a:solidFill>
                <a:latin typeface="メイリオ" panose="020B0604030504040204" pitchFamily="50" charset="-128"/>
                <a:ea typeface="メイリオ" panose="020B0604030504040204" pitchFamily="50" charset="-128"/>
              </a:rPr>
              <a:t>契約者本人 ／ 配偶者 ／ 本人（または配偶者）同席での第三者</a:t>
            </a:r>
            <a:r>
              <a:rPr lang="ja-JP" altLang="en-US" b="1" dirty="0">
                <a:latin typeface="メイリオ" panose="020B0604030504040204" pitchFamily="50" charset="-128"/>
                <a:ea typeface="メイリオ" panose="020B0604030504040204" pitchFamily="50" charset="-128"/>
              </a:rPr>
              <a:t>　からの入電ですね。</a:t>
            </a:r>
          </a:p>
          <a:p>
            <a:pPr lvl="2"/>
            <a:r>
              <a:rPr lang="en-US" altLang="ja-JP" b="1" dirty="0">
                <a:latin typeface="メイリオ" panose="020B0604030504040204" pitchFamily="50" charset="-128"/>
                <a:ea typeface="メイリオ" panose="020B0604030504040204" pitchFamily="50" charset="-128"/>
              </a:rPr>
              <a:t>   </a:t>
            </a:r>
            <a:r>
              <a:rPr lang="ja-JP" altLang="en-US" b="1" dirty="0">
                <a:latin typeface="メイリオ" panose="020B0604030504040204" pitchFamily="50" charset="-128"/>
                <a:ea typeface="メイリオ" panose="020B0604030504040204" pitchFamily="50" charset="-128"/>
              </a:rPr>
              <a:t>そのほか、申し送り事項はございますか？」</a:t>
            </a:r>
            <a:endParaRPr kumimoji="1" lang="ja-JP" altLang="en-US" b="1" dirty="0">
              <a:latin typeface="メイリオ" panose="020B0604030504040204" pitchFamily="50" charset="-128"/>
              <a:ea typeface="メイリオ" panose="020B0604030504040204" pitchFamily="50" charset="-128"/>
            </a:endParaRPr>
          </a:p>
        </p:txBody>
      </p:sp>
      <p:sp>
        <p:nvSpPr>
          <p:cNvPr id="21" name="四角形: 角を丸くする 20">
            <a:extLst>
              <a:ext uri="{FF2B5EF4-FFF2-40B4-BE49-F238E27FC236}">
                <a16:creationId xmlns:a16="http://schemas.microsoft.com/office/drawing/2014/main" id="{5E694EE3-0987-E92B-4E73-D07E73C4CB84}"/>
              </a:ext>
            </a:extLst>
          </p:cNvPr>
          <p:cNvSpPr/>
          <p:nvPr/>
        </p:nvSpPr>
        <p:spPr>
          <a:xfrm>
            <a:off x="514234" y="3946338"/>
            <a:ext cx="11053766" cy="776361"/>
          </a:xfrm>
          <a:prstGeom prst="roundRect">
            <a:avLst/>
          </a:prstGeom>
          <a:solidFill>
            <a:srgbClr val="0070C0"/>
          </a:solidFill>
          <a:ln/>
        </p:spPr>
        <p:style>
          <a:lnRef idx="3">
            <a:schemeClr val="lt1"/>
          </a:lnRef>
          <a:fillRef idx="1">
            <a:schemeClr val="accent2"/>
          </a:fillRef>
          <a:effectRef idx="1">
            <a:schemeClr val="accent2"/>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「～～～～です。 よろしくお願いします。」　</a:t>
            </a:r>
            <a:r>
              <a:rPr kumimoji="1" lang="ja-JP" altLang="en-US" b="1" dirty="0">
                <a:latin typeface="メイリオ" panose="020B0604030504040204" pitchFamily="50" charset="-128"/>
                <a:ea typeface="メイリオ" panose="020B0604030504040204" pitchFamily="50" charset="-128"/>
              </a:rPr>
              <a:t>（</a:t>
            </a:r>
            <a:r>
              <a:rPr lang="ja-JP" altLang="en-US" b="1" dirty="0">
                <a:latin typeface="メイリオ" panose="020B0604030504040204" pitchFamily="50" charset="-128"/>
                <a:ea typeface="メイリオ" panose="020B0604030504040204" pitchFamily="50" charset="-128"/>
              </a:rPr>
              <a:t>連携が必要な情報のみ申し送り）</a:t>
            </a:r>
            <a:endParaRPr kumimoji="1" lang="ja-JP" altLang="en-US" b="1" dirty="0">
              <a:latin typeface="メイリオ" panose="020B0604030504040204" pitchFamily="50" charset="-128"/>
              <a:ea typeface="メイリオ" panose="020B0604030504040204" pitchFamily="50" charset="-128"/>
            </a:endParaRPr>
          </a:p>
        </p:txBody>
      </p:sp>
      <p:sp>
        <p:nvSpPr>
          <p:cNvPr id="23" name="四角形: 角を丸くする 22">
            <a:extLst>
              <a:ext uri="{FF2B5EF4-FFF2-40B4-BE49-F238E27FC236}">
                <a16:creationId xmlns:a16="http://schemas.microsoft.com/office/drawing/2014/main" id="{B4A9F05E-2E32-C396-D2FC-3D0ECE7DB066}"/>
              </a:ext>
            </a:extLst>
          </p:cNvPr>
          <p:cNvSpPr/>
          <p:nvPr/>
        </p:nvSpPr>
        <p:spPr>
          <a:xfrm>
            <a:off x="538234" y="4870170"/>
            <a:ext cx="11053766" cy="776361"/>
          </a:xfrm>
          <a:prstGeom prst="roundRect">
            <a:avLst/>
          </a:prstGeom>
          <a:solidFill>
            <a:schemeClr val="accent3"/>
          </a:solidFill>
          <a:ln/>
        </p:spPr>
        <p:style>
          <a:lnRef idx="3">
            <a:schemeClr val="lt1"/>
          </a:lnRef>
          <a:fillRef idx="1">
            <a:schemeClr val="accent3"/>
          </a:fillRef>
          <a:effectRef idx="1">
            <a:schemeClr val="accent3"/>
          </a:effectRef>
          <a:fontRef idx="minor">
            <a:schemeClr val="lt1"/>
          </a:fontRef>
        </p:style>
        <p:txBody>
          <a:bodyPr rtlCol="0" anchor="ctr"/>
          <a:lstStyle/>
          <a:p>
            <a:pPr lvl="2"/>
            <a:r>
              <a:rPr lang="ja-JP" altLang="en-US" b="1" dirty="0">
                <a:latin typeface="メイリオ" panose="020B0604030504040204" pitchFamily="50" charset="-128"/>
                <a:ea typeface="メイリオ" panose="020B0604030504040204" pitchFamily="50" charset="-128"/>
              </a:rPr>
              <a:t>「かしこまりました。 それではお客様へお繋ぎください。 ご対応ありがとうございました。」</a:t>
            </a:r>
            <a:endParaRPr kumimoji="1" lang="ja-JP" altLang="en-US" b="1" dirty="0">
              <a:latin typeface="メイリオ" panose="020B0604030504040204" pitchFamily="50" charset="-128"/>
              <a:ea typeface="メイリオ" panose="020B0604030504040204" pitchFamily="50" charset="-128"/>
            </a:endParaRPr>
          </a:p>
        </p:txBody>
      </p:sp>
      <p:pic>
        <p:nvPicPr>
          <p:cNvPr id="24" name="図 23">
            <a:extLst>
              <a:ext uri="{FF2B5EF4-FFF2-40B4-BE49-F238E27FC236}">
                <a16:creationId xmlns:a16="http://schemas.microsoft.com/office/drawing/2014/main" id="{D93E95AA-CAF3-6C0B-EFD8-2354A566588E}"/>
              </a:ext>
            </a:extLst>
          </p:cNvPr>
          <p:cNvPicPr>
            <a:picLocks noChangeAspect="1"/>
          </p:cNvPicPr>
          <p:nvPr/>
        </p:nvPicPr>
        <p:blipFill>
          <a:blip r:embed="rId2"/>
          <a:stretch>
            <a:fillRect/>
          </a:stretch>
        </p:blipFill>
        <p:spPr>
          <a:xfrm>
            <a:off x="777148" y="1246746"/>
            <a:ext cx="470124" cy="894522"/>
          </a:xfrm>
          <a:prstGeom prst="rect">
            <a:avLst/>
          </a:prstGeom>
        </p:spPr>
      </p:pic>
      <p:pic>
        <p:nvPicPr>
          <p:cNvPr id="26" name="図 25">
            <a:extLst>
              <a:ext uri="{FF2B5EF4-FFF2-40B4-BE49-F238E27FC236}">
                <a16:creationId xmlns:a16="http://schemas.microsoft.com/office/drawing/2014/main" id="{0B818F27-8EA5-9659-B4A1-9F6833108C0B}"/>
              </a:ext>
            </a:extLst>
          </p:cNvPr>
          <p:cNvPicPr>
            <a:picLocks noChangeAspect="1"/>
          </p:cNvPicPr>
          <p:nvPr/>
        </p:nvPicPr>
        <p:blipFill>
          <a:blip r:embed="rId3"/>
          <a:stretch>
            <a:fillRect/>
          </a:stretch>
        </p:blipFill>
        <p:spPr>
          <a:xfrm>
            <a:off x="774290" y="2744480"/>
            <a:ext cx="472982" cy="913099"/>
          </a:xfrm>
          <a:prstGeom prst="rect">
            <a:avLst/>
          </a:prstGeom>
        </p:spPr>
      </p:pic>
      <p:pic>
        <p:nvPicPr>
          <p:cNvPr id="28" name="図 27">
            <a:extLst>
              <a:ext uri="{FF2B5EF4-FFF2-40B4-BE49-F238E27FC236}">
                <a16:creationId xmlns:a16="http://schemas.microsoft.com/office/drawing/2014/main" id="{2C8A9CA5-A112-8FC0-DE26-32CF87371494}"/>
              </a:ext>
            </a:extLst>
          </p:cNvPr>
          <p:cNvPicPr>
            <a:picLocks noChangeAspect="1"/>
          </p:cNvPicPr>
          <p:nvPr/>
        </p:nvPicPr>
        <p:blipFill>
          <a:blip r:embed="rId2"/>
          <a:stretch>
            <a:fillRect/>
          </a:stretch>
        </p:blipFill>
        <p:spPr>
          <a:xfrm>
            <a:off x="774290" y="3868027"/>
            <a:ext cx="470124" cy="894522"/>
          </a:xfrm>
          <a:prstGeom prst="rect">
            <a:avLst/>
          </a:prstGeom>
        </p:spPr>
      </p:pic>
      <p:pic>
        <p:nvPicPr>
          <p:cNvPr id="29" name="図 28">
            <a:extLst>
              <a:ext uri="{FF2B5EF4-FFF2-40B4-BE49-F238E27FC236}">
                <a16:creationId xmlns:a16="http://schemas.microsoft.com/office/drawing/2014/main" id="{DBCD15CD-E4E1-57AF-6677-E71A7FB716CE}"/>
              </a:ext>
            </a:extLst>
          </p:cNvPr>
          <p:cNvPicPr>
            <a:picLocks noChangeAspect="1"/>
          </p:cNvPicPr>
          <p:nvPr/>
        </p:nvPicPr>
        <p:blipFill>
          <a:blip r:embed="rId3"/>
          <a:stretch>
            <a:fillRect/>
          </a:stretch>
        </p:blipFill>
        <p:spPr>
          <a:xfrm>
            <a:off x="774290" y="4801800"/>
            <a:ext cx="472982" cy="913099"/>
          </a:xfrm>
          <a:prstGeom prst="rect">
            <a:avLst/>
          </a:prstGeom>
        </p:spPr>
      </p:pic>
    </p:spTree>
    <p:extLst>
      <p:ext uri="{BB962C8B-B14F-4D97-AF65-F5344CB8AC3E}">
        <p14:creationId xmlns:p14="http://schemas.microsoft.com/office/powerpoint/2010/main" val="4229541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AD17F4A8-305F-4C3B-859D-31A66D87481B}"/>
              </a:ext>
            </a:extLst>
          </p:cNvPr>
          <p:cNvSpPr>
            <a:spLocks noGrp="1"/>
          </p:cNvSpPr>
          <p:nvPr>
            <p:ph type="title"/>
          </p:nvPr>
        </p:nvSpPr>
        <p:spPr/>
        <p:txBody>
          <a:bodyPr/>
          <a:lstStyle/>
          <a:p>
            <a:r>
              <a:rPr kumimoji="1" lang="ja-JP" altLang="en-US" dirty="0"/>
              <a:t>更新履歴</a:t>
            </a:r>
          </a:p>
        </p:txBody>
      </p:sp>
      <p:graphicFrame>
        <p:nvGraphicFramePr>
          <p:cNvPr id="7" name="コンテンツ プレースホルダー 5">
            <a:extLst>
              <a:ext uri="{FF2B5EF4-FFF2-40B4-BE49-F238E27FC236}">
                <a16:creationId xmlns:a16="http://schemas.microsoft.com/office/drawing/2014/main" id="{A8C62E53-66F3-41AE-A036-ECAAEF2DBB24}"/>
              </a:ext>
            </a:extLst>
          </p:cNvPr>
          <p:cNvGraphicFramePr>
            <a:graphicFrameLocks noGrp="1"/>
          </p:cNvGraphicFramePr>
          <p:nvPr>
            <p:ph idx="1"/>
            <p:extLst>
              <p:ext uri="{D42A27DB-BD31-4B8C-83A1-F6EECF244321}">
                <p14:modId xmlns:p14="http://schemas.microsoft.com/office/powerpoint/2010/main" val="2131761183"/>
              </p:ext>
            </p:extLst>
          </p:nvPr>
        </p:nvGraphicFramePr>
        <p:xfrm>
          <a:off x="329514" y="974725"/>
          <a:ext cx="11483544" cy="5557580"/>
        </p:xfrm>
        <a:graphic>
          <a:graphicData uri="http://schemas.openxmlformats.org/drawingml/2006/table">
            <a:tbl>
              <a:tblPr firstRow="1" bandRow="1">
                <a:tableStyleId>{5C22544A-7EE6-4342-B048-85BDC9FD1C3A}</a:tableStyleId>
              </a:tblPr>
              <a:tblGrid>
                <a:gridCol w="1901249">
                  <a:extLst>
                    <a:ext uri="{9D8B030D-6E8A-4147-A177-3AD203B41FA5}">
                      <a16:colId xmlns:a16="http://schemas.microsoft.com/office/drawing/2014/main" val="3959543935"/>
                    </a:ext>
                  </a:extLst>
                </a:gridCol>
                <a:gridCol w="6844497">
                  <a:extLst>
                    <a:ext uri="{9D8B030D-6E8A-4147-A177-3AD203B41FA5}">
                      <a16:colId xmlns:a16="http://schemas.microsoft.com/office/drawing/2014/main" val="2840154703"/>
                    </a:ext>
                  </a:extLst>
                </a:gridCol>
                <a:gridCol w="1368899">
                  <a:extLst>
                    <a:ext uri="{9D8B030D-6E8A-4147-A177-3AD203B41FA5}">
                      <a16:colId xmlns:a16="http://schemas.microsoft.com/office/drawing/2014/main" val="225614169"/>
                    </a:ext>
                  </a:extLst>
                </a:gridCol>
                <a:gridCol w="1368899">
                  <a:extLst>
                    <a:ext uri="{9D8B030D-6E8A-4147-A177-3AD203B41FA5}">
                      <a16:colId xmlns:a16="http://schemas.microsoft.com/office/drawing/2014/main" val="2069673481"/>
                    </a:ext>
                  </a:extLst>
                </a:gridCol>
              </a:tblGrid>
              <a:tr h="396970">
                <a:tc>
                  <a:txBody>
                    <a:bodyPr/>
                    <a:lstStyle/>
                    <a:p>
                      <a:pPr algn="ctr"/>
                      <a:r>
                        <a:rPr kumimoji="1" lang="ja-JP" altLang="en-US" dirty="0">
                          <a:latin typeface="メイリオ" panose="020B0604030504040204" pitchFamily="50" charset="-128"/>
                          <a:ea typeface="メイリオ" panose="020B0604030504040204" pitchFamily="50" charset="-128"/>
                        </a:rPr>
                        <a:t>更新日</a:t>
                      </a:r>
                    </a:p>
                  </a:txBody>
                  <a:tcPr marL="121883" marR="121883" anchor="ctr"/>
                </a:tc>
                <a:tc>
                  <a:txBody>
                    <a:bodyPr/>
                    <a:lstStyle/>
                    <a:p>
                      <a:pPr algn="ctr"/>
                      <a:r>
                        <a:rPr kumimoji="1" lang="ja-JP" altLang="en-US" dirty="0">
                          <a:latin typeface="メイリオ" panose="020B0604030504040204" pitchFamily="50" charset="-128"/>
                          <a:ea typeface="メイリオ" panose="020B0604030504040204" pitchFamily="50" charset="-128"/>
                        </a:rPr>
                        <a:t>更新内容</a:t>
                      </a:r>
                    </a:p>
                  </a:txBody>
                  <a:tcPr marL="121883" marR="121883" anchor="ctr"/>
                </a:tc>
                <a:tc>
                  <a:txBody>
                    <a:bodyPr/>
                    <a:lstStyle/>
                    <a:p>
                      <a:pPr algn="ctr"/>
                      <a:r>
                        <a:rPr kumimoji="1" lang="ja-JP" altLang="en-US" dirty="0">
                          <a:latin typeface="メイリオ" panose="020B0604030504040204" pitchFamily="50" charset="-128"/>
                          <a:ea typeface="メイリオ" panose="020B0604030504040204" pitchFamily="50" charset="-128"/>
                        </a:rPr>
                        <a:t>更新者</a:t>
                      </a:r>
                    </a:p>
                  </a:txBody>
                  <a:tcPr marL="121883" marR="121883" anchor="ctr"/>
                </a:tc>
                <a:tc>
                  <a:txBody>
                    <a:bodyPr/>
                    <a:lstStyle/>
                    <a:p>
                      <a:pPr algn="ctr"/>
                      <a:r>
                        <a:rPr kumimoji="1" lang="ja-JP" altLang="en-US" dirty="0">
                          <a:latin typeface="メイリオ" panose="020B0604030504040204" pitchFamily="50" charset="-128"/>
                          <a:ea typeface="メイリオ" panose="020B0604030504040204" pitchFamily="50" charset="-128"/>
                        </a:rPr>
                        <a:t>承認者</a:t>
                      </a:r>
                    </a:p>
                  </a:txBody>
                  <a:tcPr marL="121883" marR="121883" anchor="ctr"/>
                </a:tc>
                <a:extLst>
                  <a:ext uri="{0D108BD9-81ED-4DB2-BD59-A6C34878D82A}">
                    <a16:rowId xmlns:a16="http://schemas.microsoft.com/office/drawing/2014/main" val="1957423275"/>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2026/4/10</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新規作成</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a:latin typeface="メイリオ" panose="020B0604030504040204" pitchFamily="50" charset="-128"/>
                          <a:ea typeface="メイリオ" panose="020B0604030504040204" pitchFamily="50" charset="-128"/>
                        </a:rPr>
                        <a:t>石川</a:t>
                      </a:r>
                      <a:endParaRPr kumimoji="1" lang="ja-JP" altLang="en-US"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322017425"/>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2026/4/13</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en-US" altLang="ja-JP" dirty="0">
                          <a:latin typeface="メイリオ" panose="020B0604030504040204" pitchFamily="50" charset="-128"/>
                          <a:ea typeface="メイリオ" panose="020B0604030504040204" pitchFamily="50" charset="-128"/>
                        </a:rPr>
                        <a:t>P.2</a:t>
                      </a:r>
                      <a:r>
                        <a:rPr kumimoji="1" lang="ja-JP" altLang="en-US" dirty="0">
                          <a:latin typeface="メイリオ" panose="020B0604030504040204" pitchFamily="50" charset="-128"/>
                          <a:ea typeface="メイリオ" panose="020B0604030504040204" pitchFamily="50" charset="-128"/>
                        </a:rPr>
                        <a:t>を追加</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石川</a:t>
                      </a:r>
                    </a:p>
                  </a:txBody>
                  <a:tcPr anchor="ctr"/>
                </a:tc>
                <a:extLst>
                  <a:ext uri="{0D108BD9-81ED-4DB2-BD59-A6C34878D82A}">
                    <a16:rowId xmlns:a16="http://schemas.microsoft.com/office/drawing/2014/main" val="1116695913"/>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2026/4/15</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課題共有</a:t>
                      </a:r>
                      <a:r>
                        <a:rPr kumimoji="1" lang="en-US" altLang="ja-JP" dirty="0">
                          <a:latin typeface="メイリオ" panose="020B0604030504040204" pitchFamily="50" charset="-128"/>
                          <a:ea typeface="メイリオ" panose="020B0604030504040204" pitchFamily="50" charset="-128"/>
                        </a:rPr>
                        <a:t>MTG</a:t>
                      </a:r>
                      <a:r>
                        <a:rPr kumimoji="1" lang="ja-JP" altLang="en-US" dirty="0">
                          <a:latin typeface="メイリオ" panose="020B0604030504040204" pitchFamily="50" charset="-128"/>
                          <a:ea typeface="メイリオ" panose="020B0604030504040204" pitchFamily="50" charset="-128"/>
                        </a:rPr>
                        <a:t>の内容に則って全体を修正</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a:latin typeface="メイリオ" panose="020B0604030504040204" pitchFamily="50" charset="-128"/>
                          <a:ea typeface="メイリオ" panose="020B0604030504040204" pitchFamily="50" charset="-128"/>
                        </a:rPr>
                        <a:t>石川</a:t>
                      </a:r>
                      <a:endParaRPr kumimoji="1" lang="ja-JP" altLang="en-US"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806013030"/>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2026/4/16</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パターン名称をＡ･Ｂ･Ｃ･Ｄに変更</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石川</a:t>
                      </a:r>
                    </a:p>
                  </a:txBody>
                  <a:tcPr anchor="ctr"/>
                </a:tc>
                <a:extLst>
                  <a:ext uri="{0D108BD9-81ED-4DB2-BD59-A6C34878D82A}">
                    <a16:rowId xmlns:a16="http://schemas.microsoft.com/office/drawing/2014/main" val="3585272522"/>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2026/4/20</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en-US" altLang="ja-JP" dirty="0" err="1">
                          <a:latin typeface="メイリオ" panose="020B0604030504040204" pitchFamily="50" charset="-128"/>
                          <a:ea typeface="メイリオ" panose="020B0604030504040204" pitchFamily="50" charset="-128"/>
                        </a:rPr>
                        <a:t>Genesys</a:t>
                      </a:r>
                      <a:r>
                        <a:rPr kumimoji="1" lang="ja-JP" altLang="en-US" dirty="0">
                          <a:latin typeface="メイリオ" panose="020B0604030504040204" pitchFamily="50" charset="-128"/>
                          <a:ea typeface="メイリオ" panose="020B0604030504040204" pitchFamily="50" charset="-128"/>
                        </a:rPr>
                        <a:t>、</a:t>
                      </a:r>
                      <a:r>
                        <a:rPr kumimoji="1" lang="en-US" altLang="ja-JP" dirty="0" err="1">
                          <a:latin typeface="メイリオ" panose="020B0604030504040204" pitchFamily="50" charset="-128"/>
                          <a:ea typeface="メイリオ" panose="020B0604030504040204" pitchFamily="50" charset="-128"/>
                        </a:rPr>
                        <a:t>TransCRM</a:t>
                      </a:r>
                      <a:r>
                        <a:rPr kumimoji="1" lang="ja-JP" altLang="en-US" dirty="0">
                          <a:latin typeface="メイリオ" panose="020B0604030504040204" pitchFamily="50" charset="-128"/>
                          <a:ea typeface="メイリオ" panose="020B0604030504040204" pitchFamily="50" charset="-128"/>
                        </a:rPr>
                        <a:t>、</a:t>
                      </a:r>
                      <a:r>
                        <a:rPr kumimoji="1" lang="en-US" altLang="ja-JP" dirty="0">
                          <a:latin typeface="メイリオ" panose="020B0604030504040204" pitchFamily="50" charset="-128"/>
                          <a:ea typeface="メイリオ" panose="020B0604030504040204" pitchFamily="50" charset="-128"/>
                        </a:rPr>
                        <a:t>TV</a:t>
                      </a:r>
                      <a:r>
                        <a:rPr kumimoji="1" lang="ja-JP" altLang="en-US" dirty="0">
                          <a:latin typeface="メイリオ" panose="020B0604030504040204" pitchFamily="50" charset="-128"/>
                          <a:ea typeface="メイリオ" panose="020B0604030504040204" pitchFamily="50" charset="-128"/>
                        </a:rPr>
                        <a:t>モニターの設定を追加</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石川</a:t>
                      </a:r>
                    </a:p>
                  </a:txBody>
                  <a:tcPr anchor="ctr"/>
                </a:tc>
                <a:extLst>
                  <a:ext uri="{0D108BD9-81ED-4DB2-BD59-A6C34878D82A}">
                    <a16:rowId xmlns:a16="http://schemas.microsoft.com/office/drawing/2014/main" val="139680119"/>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2026/4/27</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パターンＢ「入電時に確認する内容」を修正</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石川</a:t>
                      </a:r>
                    </a:p>
                  </a:txBody>
                  <a:tcPr anchor="ctr"/>
                </a:tc>
                <a:extLst>
                  <a:ext uri="{0D108BD9-81ED-4DB2-BD59-A6C34878D82A}">
                    <a16:rowId xmlns:a16="http://schemas.microsoft.com/office/drawing/2014/main" val="2773597471"/>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2026/4/28</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en-US" altLang="ja-JP" dirty="0" err="1">
                          <a:latin typeface="メイリオ" panose="020B0604030504040204" pitchFamily="50" charset="-128"/>
                          <a:ea typeface="メイリオ" panose="020B0604030504040204" pitchFamily="50" charset="-128"/>
                        </a:rPr>
                        <a:t>TransCRM</a:t>
                      </a:r>
                      <a:r>
                        <a:rPr kumimoji="1" lang="ja-JP" altLang="en-US" dirty="0">
                          <a:latin typeface="メイリオ" panose="020B0604030504040204" pitchFamily="50" charset="-128"/>
                          <a:ea typeface="メイリオ" panose="020B0604030504040204" pitchFamily="50" charset="-128"/>
                        </a:rPr>
                        <a:t>を修正</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石川</a:t>
                      </a:r>
                    </a:p>
                  </a:txBody>
                  <a:tcPr anchor="ctr"/>
                </a:tc>
                <a:extLst>
                  <a:ext uri="{0D108BD9-81ED-4DB2-BD59-A6C34878D82A}">
                    <a16:rowId xmlns:a16="http://schemas.microsoft.com/office/drawing/2014/main" val="2028641939"/>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2026/5/20</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パターンＡ　</a:t>
                      </a:r>
                      <a:r>
                        <a:rPr kumimoji="1" lang="en-US" altLang="ja-JP" dirty="0">
                          <a:latin typeface="メイリオ" panose="020B0604030504040204" pitchFamily="50" charset="-128"/>
                          <a:ea typeface="メイリオ" panose="020B0604030504040204" pitchFamily="50" charset="-128"/>
                        </a:rPr>
                        <a:t>2</a:t>
                      </a:r>
                      <a:r>
                        <a:rPr kumimoji="1" lang="ja-JP" altLang="en-US" dirty="0">
                          <a:latin typeface="メイリオ" panose="020B0604030504040204" pitchFamily="50" charset="-128"/>
                          <a:ea typeface="メイリオ" panose="020B0604030504040204" pitchFamily="50" charset="-128"/>
                        </a:rPr>
                        <a:t>件目の要件を変更</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石川</a:t>
                      </a:r>
                    </a:p>
                  </a:txBody>
                  <a:tcPr anchor="ctr"/>
                </a:tc>
                <a:extLst>
                  <a:ext uri="{0D108BD9-81ED-4DB2-BD59-A6C34878D82A}">
                    <a16:rowId xmlns:a16="http://schemas.microsoft.com/office/drawing/2014/main" val="3839823523"/>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2026/6/10</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申し送り内容に入電者情報を追加</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石川</a:t>
                      </a:r>
                    </a:p>
                  </a:txBody>
                  <a:tcPr anchor="ctr"/>
                </a:tc>
                <a:extLst>
                  <a:ext uri="{0D108BD9-81ED-4DB2-BD59-A6C34878D82A}">
                    <a16:rowId xmlns:a16="http://schemas.microsoft.com/office/drawing/2014/main" val="2687846661"/>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2026/6/24</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課題共有</a:t>
                      </a:r>
                      <a:r>
                        <a:rPr kumimoji="1" lang="en-US" altLang="ja-JP" dirty="0">
                          <a:latin typeface="メイリオ" panose="020B0604030504040204" pitchFamily="50" charset="-128"/>
                          <a:ea typeface="メイリオ" panose="020B0604030504040204" pitchFamily="50" charset="-128"/>
                        </a:rPr>
                        <a:t>MTG</a:t>
                      </a:r>
                      <a:r>
                        <a:rPr kumimoji="1" lang="ja-JP" altLang="en-US" dirty="0">
                          <a:latin typeface="メイリオ" panose="020B0604030504040204" pitchFamily="50" charset="-128"/>
                          <a:ea typeface="メイリオ" panose="020B0604030504040204" pitchFamily="50" charset="-128"/>
                        </a:rPr>
                        <a:t>の内容に</a:t>
                      </a:r>
                      <a:r>
                        <a:rPr kumimoji="1" lang="ja-JP" altLang="en-US">
                          <a:latin typeface="メイリオ" panose="020B0604030504040204" pitchFamily="50" charset="-128"/>
                          <a:ea typeface="メイリオ" panose="020B0604030504040204" pitchFamily="50" charset="-128"/>
                        </a:rPr>
                        <a:t>則ってパターンＡ･Ｂ･Ｃを</a:t>
                      </a:r>
                      <a:r>
                        <a:rPr kumimoji="1" lang="ja-JP" altLang="en-US" dirty="0">
                          <a:latin typeface="メイリオ" panose="020B0604030504040204" pitchFamily="50" charset="-128"/>
                          <a:ea typeface="メイリオ" panose="020B0604030504040204" pitchFamily="50" charset="-128"/>
                        </a:rPr>
                        <a:t>修正</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a:latin typeface="メイリオ" panose="020B0604030504040204" pitchFamily="50" charset="-128"/>
                          <a:ea typeface="メイリオ" panose="020B0604030504040204" pitchFamily="50" charset="-128"/>
                        </a:rPr>
                        <a:t>石川</a:t>
                      </a:r>
                      <a:endParaRPr kumimoji="1" lang="ja-JP" altLang="en-US"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4035182557"/>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2026/6/29</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パターンＡ･Ｂ･Ｃの「いずれも</a:t>
                      </a:r>
                      <a:r>
                        <a:rPr kumimoji="1" lang="en-US" altLang="ja-JP" dirty="0">
                          <a:latin typeface="メイリオ" panose="020B0604030504040204" pitchFamily="50" charset="-128"/>
                          <a:ea typeface="メイリオ" panose="020B0604030504040204" pitchFamily="50" charset="-128"/>
                        </a:rPr>
                        <a:t>Yes</a:t>
                      </a:r>
                      <a:r>
                        <a:rPr kumimoji="1" lang="ja-JP" altLang="en-US" dirty="0">
                          <a:latin typeface="メイリオ" panose="020B0604030504040204" pitchFamily="50" charset="-128"/>
                          <a:ea typeface="メイリオ" panose="020B0604030504040204" pitchFamily="50" charset="-128"/>
                        </a:rPr>
                        <a:t>」を「すべて確認済」に変更</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村越</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石川</a:t>
                      </a:r>
                    </a:p>
                  </a:txBody>
                  <a:tcPr anchor="ctr"/>
                </a:tc>
                <a:extLst>
                  <a:ext uri="{0D108BD9-81ED-4DB2-BD59-A6C34878D82A}">
                    <a16:rowId xmlns:a16="http://schemas.microsoft.com/office/drawing/2014/main" val="4051621060"/>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2026/7/14</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パターン</a:t>
                      </a:r>
                      <a:r>
                        <a:rPr kumimoji="1" lang="en-US" altLang="ja-JP" dirty="0">
                          <a:latin typeface="メイリオ" panose="020B0604030504040204" pitchFamily="50" charset="-128"/>
                          <a:ea typeface="メイリオ" panose="020B0604030504040204" pitchFamily="50" charset="-128"/>
                        </a:rPr>
                        <a:t>D</a:t>
                      </a:r>
                      <a:r>
                        <a:rPr kumimoji="1" lang="ja-JP" altLang="en-US" dirty="0">
                          <a:latin typeface="メイリオ" panose="020B0604030504040204" pitchFamily="50" charset="-128"/>
                          <a:ea typeface="メイリオ" panose="020B0604030504040204" pitchFamily="50" charset="-128"/>
                        </a:rPr>
                        <a:t>の確認事項に③を追加</a:t>
                      </a:r>
                    </a:p>
                  </a:txBody>
                  <a:tcPr anchor="ctr"/>
                </a:tc>
                <a:tc>
                  <a:txBody>
                    <a:bodyPr/>
                    <a:lstStyle/>
                    <a:p>
                      <a:pPr algn="ctr"/>
                      <a:r>
                        <a:rPr kumimoji="1" lang="ja-JP" altLang="en-US">
                          <a:latin typeface="メイリオ" panose="020B0604030504040204" pitchFamily="50" charset="-128"/>
                          <a:ea typeface="メイリオ" panose="020B0604030504040204" pitchFamily="50" charset="-128"/>
                        </a:rPr>
                        <a:t>村越</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石川</a:t>
                      </a:r>
                    </a:p>
                  </a:txBody>
                  <a:tcPr anchor="ctr"/>
                </a:tc>
                <a:extLst>
                  <a:ext uri="{0D108BD9-81ED-4DB2-BD59-A6C34878D82A}">
                    <a16:rowId xmlns:a16="http://schemas.microsoft.com/office/drawing/2014/main" val="580249197"/>
                  </a:ext>
                </a:extLst>
              </a:tr>
              <a:tr h="396970">
                <a:tc>
                  <a:txBody>
                    <a:bodyPr/>
                    <a:lstStyle/>
                    <a:p>
                      <a:pPr algn="ctr"/>
                      <a:r>
                        <a:rPr kumimoji="1" lang="en-US" altLang="ja-JP" dirty="0">
                          <a:latin typeface="メイリオ" panose="020B0604030504040204" pitchFamily="50" charset="-128"/>
                          <a:ea typeface="メイリオ" panose="020B0604030504040204" pitchFamily="50" charset="-128"/>
                        </a:rPr>
                        <a:t>2026/9/30</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パターン</a:t>
                      </a:r>
                      <a:r>
                        <a:rPr kumimoji="1" lang="en-US" altLang="ja-JP" dirty="0">
                          <a:latin typeface="メイリオ" panose="020B0604030504040204" pitchFamily="50" charset="-128"/>
                          <a:ea typeface="メイリオ" panose="020B0604030504040204" pitchFamily="50" charset="-128"/>
                        </a:rPr>
                        <a:t>A</a:t>
                      </a:r>
                      <a:r>
                        <a:rPr kumimoji="1" lang="ja-JP" altLang="en-US" dirty="0">
                          <a:latin typeface="メイリオ" panose="020B0604030504040204" pitchFamily="50" charset="-128"/>
                          <a:ea typeface="メイリオ" panose="020B0604030504040204" pitchFamily="50" charset="-128"/>
                        </a:rPr>
                        <a:t>・</a:t>
                      </a:r>
                      <a:r>
                        <a:rPr kumimoji="1" lang="en-US" altLang="ja-JP" dirty="0">
                          <a:latin typeface="メイリオ" panose="020B0604030504040204" pitchFamily="50" charset="-128"/>
                          <a:ea typeface="メイリオ" panose="020B0604030504040204" pitchFamily="50" charset="-128"/>
                        </a:rPr>
                        <a:t>B</a:t>
                      </a:r>
                      <a:r>
                        <a:rPr kumimoji="1" lang="ja-JP" altLang="en-US" dirty="0">
                          <a:latin typeface="メイリオ" panose="020B0604030504040204" pitchFamily="50" charset="-128"/>
                          <a:ea typeface="メイリオ" panose="020B0604030504040204" pitchFamily="50" charset="-128"/>
                        </a:rPr>
                        <a:t>を削除、パターン</a:t>
                      </a:r>
                      <a:r>
                        <a:rPr kumimoji="1" lang="en-US" altLang="ja-JP" dirty="0">
                          <a:latin typeface="メイリオ" panose="020B0604030504040204" pitchFamily="50" charset="-128"/>
                          <a:ea typeface="メイリオ" panose="020B0604030504040204" pitchFamily="50" charset="-128"/>
                        </a:rPr>
                        <a:t>E</a:t>
                      </a:r>
                      <a:r>
                        <a:rPr kumimoji="1" lang="ja-JP" altLang="en-US" dirty="0">
                          <a:latin typeface="メイリオ" panose="020B0604030504040204" pitchFamily="50" charset="-128"/>
                          <a:ea typeface="メイリオ" panose="020B0604030504040204" pitchFamily="50" charset="-128"/>
                        </a:rPr>
                        <a:t>・</a:t>
                      </a:r>
                      <a:r>
                        <a:rPr kumimoji="1" lang="en-US" altLang="ja-JP" dirty="0">
                          <a:latin typeface="メイリオ" panose="020B0604030504040204" pitchFamily="50" charset="-128"/>
                          <a:ea typeface="メイリオ" panose="020B0604030504040204" pitchFamily="50" charset="-128"/>
                        </a:rPr>
                        <a:t>F</a:t>
                      </a:r>
                      <a:r>
                        <a:rPr kumimoji="1" lang="ja-JP" altLang="en-US" dirty="0">
                          <a:latin typeface="メイリオ" panose="020B0604030504040204" pitchFamily="50" charset="-128"/>
                          <a:ea typeface="メイリオ" panose="020B0604030504040204" pitchFamily="50" charset="-128"/>
                        </a:rPr>
                        <a:t>を追加</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小林</a:t>
                      </a:r>
                    </a:p>
                  </a:txBody>
                  <a:tcPr anchor="ctr"/>
                </a:tc>
                <a:tc>
                  <a:txBody>
                    <a:bodyPr/>
                    <a:lstStyle/>
                    <a:p>
                      <a:pPr algn="ctr"/>
                      <a:r>
                        <a:rPr kumimoji="1" lang="ja-JP" altLang="en-US">
                          <a:latin typeface="メイリオ" panose="020B0604030504040204" pitchFamily="50" charset="-128"/>
                          <a:ea typeface="メイリオ" panose="020B0604030504040204" pitchFamily="50" charset="-128"/>
                        </a:rPr>
                        <a:t>石川</a:t>
                      </a:r>
                      <a:endParaRPr kumimoji="1" lang="ja-JP" altLang="en-US"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4035881514"/>
                  </a:ext>
                </a:extLst>
              </a:tr>
            </a:tbl>
          </a:graphicData>
        </a:graphic>
      </p:graphicFrame>
    </p:spTree>
    <p:extLst>
      <p:ext uri="{BB962C8B-B14F-4D97-AF65-F5344CB8AC3E}">
        <p14:creationId xmlns:p14="http://schemas.microsoft.com/office/powerpoint/2010/main" val="3977536585"/>
      </p:ext>
    </p:extLst>
  </p:cSld>
  <p:clrMapOvr>
    <a:masterClrMapping/>
  </p:clrMapOvr>
</p:sld>
</file>

<file path=ppt/theme/theme1.xml><?xml version="1.0" encoding="utf-8"?>
<a:theme xmlns:a="http://schemas.openxmlformats.org/drawingml/2006/main" name="フレーム">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テーマ1</Template>
  <TotalTime>2308</TotalTime>
  <Words>2440</Words>
  <Application>Microsoft Office PowerPoint</Application>
  <PresentationFormat>ワイド画面</PresentationFormat>
  <Paragraphs>255</Paragraphs>
  <Slides>12</Slides>
  <Notes>5</Notes>
  <HiddenSlides>0</HiddenSlides>
  <MMClips>0</MMClips>
  <ScaleCrop>false</ScaleCrop>
  <HeadingPairs>
    <vt:vector size="6" baseType="variant">
      <vt:variant>
        <vt:lpstr>使用されているフォント</vt:lpstr>
      </vt:variant>
      <vt:variant>
        <vt:i4>9</vt:i4>
      </vt:variant>
      <vt:variant>
        <vt:lpstr>テーマ</vt:lpstr>
      </vt:variant>
      <vt:variant>
        <vt:i4>2</vt:i4>
      </vt:variant>
      <vt:variant>
        <vt:lpstr>スライド タイトル</vt:lpstr>
      </vt:variant>
      <vt:variant>
        <vt:i4>12</vt:i4>
      </vt:variant>
    </vt:vector>
  </HeadingPairs>
  <TitlesOfParts>
    <vt:vector size="23" baseType="lpstr">
      <vt:lpstr>BIZ UDPゴシック</vt:lpstr>
      <vt:lpstr>Meiryo UI</vt:lpstr>
      <vt:lpstr>メイリオ</vt:lpstr>
      <vt:lpstr>游ゴシック</vt:lpstr>
      <vt:lpstr>游ゴシック Light</vt:lpstr>
      <vt:lpstr>Arial</vt:lpstr>
      <vt:lpstr>Corbel</vt:lpstr>
      <vt:lpstr>Wingdings</vt:lpstr>
      <vt:lpstr>Wingdings 2</vt:lpstr>
      <vt:lpstr>フレーム</vt:lpstr>
      <vt:lpstr>デザインの設定</vt:lpstr>
      <vt:lpstr>PowerPoint プレゼンテーション</vt:lpstr>
      <vt:lpstr>入電者の確認</vt:lpstr>
      <vt:lpstr>【10月以降】SアカCC→JアカCCへのオペレーター転送パターン　修正版</vt:lpstr>
      <vt:lpstr>S→J転送　対象パターンＣ　【お客様対応】</vt:lpstr>
      <vt:lpstr>S→J転送　対象パターンＣ　【転送対応】</vt:lpstr>
      <vt:lpstr>S→J転送　対象パターンＤ　【お客様対応】</vt:lpstr>
      <vt:lpstr>S→J転送　対象パターンＤ　【転送対応】</vt:lpstr>
      <vt:lpstr>S→J転送　対象パターンＥ　【お客様対応】</vt:lpstr>
      <vt:lpstr>S→J転送　対象パターンＥ　【転送対応】</vt:lpstr>
      <vt:lpstr>S→J転送　対象パターンＦ　【お客様対応】</vt:lpstr>
      <vt:lpstr>S→J転送　対象パターンＦ　【転送対応】</vt:lpstr>
      <vt:lpstr>更新履歴</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【NGH用】S→J転送対応フロー</dc:title>
  <dc:creator>Yumiko</dc:creator>
  <cp:lastModifiedBy>Murakoshi Yumiko</cp:lastModifiedBy>
  <cp:revision>282</cp:revision>
  <dcterms:created xsi:type="dcterms:W3CDTF">2025-07-23T04:40:08Z</dcterms:created>
  <dcterms:modified xsi:type="dcterms:W3CDTF">2026-09-30T08:57:49Z</dcterms:modified>
</cp:coreProperties>
</file>